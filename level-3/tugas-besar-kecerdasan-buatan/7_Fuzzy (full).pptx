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  <p:sldMasterId id="2147483747" r:id="rId2"/>
  </p:sldMasterIdLst>
  <p:notesMasterIdLst>
    <p:notesMasterId r:id="rId65"/>
  </p:notesMasterIdLst>
  <p:sldIdLst>
    <p:sldId id="441" r:id="rId3"/>
    <p:sldId id="442" r:id="rId4"/>
    <p:sldId id="443" r:id="rId5"/>
    <p:sldId id="444" r:id="rId6"/>
    <p:sldId id="446" r:id="rId7"/>
    <p:sldId id="292" r:id="rId8"/>
    <p:sldId id="259" r:id="rId9"/>
    <p:sldId id="449" r:id="rId10"/>
    <p:sldId id="260" r:id="rId11"/>
    <p:sldId id="450" r:id="rId12"/>
    <p:sldId id="310" r:id="rId13"/>
    <p:sldId id="447" r:id="rId14"/>
    <p:sldId id="263" r:id="rId15"/>
    <p:sldId id="264" r:id="rId16"/>
    <p:sldId id="452" r:id="rId17"/>
    <p:sldId id="451" r:id="rId18"/>
    <p:sldId id="453" r:id="rId19"/>
    <p:sldId id="454" r:id="rId20"/>
    <p:sldId id="455" r:id="rId21"/>
    <p:sldId id="456" r:id="rId22"/>
    <p:sldId id="457" r:id="rId23"/>
    <p:sldId id="458" r:id="rId24"/>
    <p:sldId id="459" r:id="rId25"/>
    <p:sldId id="363" r:id="rId26"/>
    <p:sldId id="448" r:id="rId27"/>
    <p:sldId id="268" r:id="rId28"/>
    <p:sldId id="460" r:id="rId29"/>
    <p:sldId id="324" r:id="rId30"/>
    <p:sldId id="340" r:id="rId31"/>
    <p:sldId id="276" r:id="rId32"/>
    <p:sldId id="278" r:id="rId33"/>
    <p:sldId id="464" r:id="rId34"/>
    <p:sldId id="465" r:id="rId35"/>
    <p:sldId id="461" r:id="rId36"/>
    <p:sldId id="279" r:id="rId37"/>
    <p:sldId id="462" r:id="rId38"/>
    <p:sldId id="323" r:id="rId39"/>
    <p:sldId id="281" r:id="rId40"/>
    <p:sldId id="282" r:id="rId41"/>
    <p:sldId id="328" r:id="rId42"/>
    <p:sldId id="333" r:id="rId43"/>
    <p:sldId id="283" r:id="rId44"/>
    <p:sldId id="466" r:id="rId45"/>
    <p:sldId id="346" r:id="rId46"/>
    <p:sldId id="467" r:id="rId47"/>
    <p:sldId id="351" r:id="rId48"/>
    <p:sldId id="468" r:id="rId49"/>
    <p:sldId id="469" r:id="rId50"/>
    <p:sldId id="286" r:id="rId51"/>
    <p:sldId id="470" r:id="rId52"/>
    <p:sldId id="471" r:id="rId53"/>
    <p:sldId id="472" r:id="rId54"/>
    <p:sldId id="290" r:id="rId55"/>
    <p:sldId id="341" r:id="rId56"/>
    <p:sldId id="342" r:id="rId57"/>
    <p:sldId id="358" r:id="rId58"/>
    <p:sldId id="473" r:id="rId59"/>
    <p:sldId id="362" r:id="rId60"/>
    <p:sldId id="424" r:id="rId61"/>
    <p:sldId id="477" r:id="rId62"/>
    <p:sldId id="474" r:id="rId63"/>
    <p:sldId id="476" r:id="rId64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adugi" panose="020B0502040204020203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adugi" panose="020B0502040204020203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adugi" panose="020B0502040204020203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adugi" panose="020B0502040204020203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adugi" panose="020B0502040204020203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Gadugi" panose="020B0502040204020203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Gadugi" panose="020B0502040204020203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Gadugi" panose="020B0502040204020203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Gadugi" panose="020B0502040204020203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00"/>
    <a:srgbClr val="C1A6F8"/>
    <a:srgbClr val="FFFF66"/>
    <a:srgbClr val="FF3300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912" y="78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presProps" Target="presProp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viewProps" Target="view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9E57DFA-EFA1-4FEA-8577-D22512819D0A}" type="doc">
      <dgm:prSet loTypeId="urn:microsoft.com/office/officeart/2005/8/layout/default" loCatId="list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70644929-532B-4599-80B1-BAC0D1089578}">
      <dgm:prSet phldrT="[Text]" custT="1"/>
      <dgm:spPr>
        <a:solidFill>
          <a:schemeClr val="bg1">
            <a:lumMod val="75000"/>
          </a:schemeClr>
        </a:solidFill>
      </dgm:spPr>
      <dgm:t>
        <a:bodyPr/>
        <a:lstStyle/>
        <a:p>
          <a:r>
            <a:rPr lang="en-US" sz="2400" b="0">
              <a:latin typeface="+mj-lt"/>
            </a:rPr>
            <a:t>Pengenalan</a:t>
          </a:r>
          <a:endParaRPr lang="en-US" sz="2400" b="0" dirty="0">
            <a:latin typeface="+mj-lt"/>
          </a:endParaRPr>
        </a:p>
      </dgm:t>
    </dgm:pt>
    <dgm:pt modelId="{C05CB12E-BECB-4A7D-A311-290FBB09767A}" type="parTrans" cxnId="{5E0CA4E3-42F7-4AFC-9F08-73F71A91BBA4}">
      <dgm:prSet/>
      <dgm:spPr/>
      <dgm:t>
        <a:bodyPr/>
        <a:lstStyle/>
        <a:p>
          <a:endParaRPr lang="en-US" sz="2400" b="0">
            <a:solidFill>
              <a:schemeClr val="tx1"/>
            </a:solidFill>
            <a:latin typeface="+mj-lt"/>
          </a:endParaRPr>
        </a:p>
      </dgm:t>
    </dgm:pt>
    <dgm:pt modelId="{D21FBAD6-12F3-4187-AFDC-7C5002BE27FE}" type="sibTrans" cxnId="{5E0CA4E3-42F7-4AFC-9F08-73F71A91BBA4}">
      <dgm:prSet/>
      <dgm:spPr/>
      <dgm:t>
        <a:bodyPr/>
        <a:lstStyle/>
        <a:p>
          <a:endParaRPr lang="en-US" sz="2400" b="0">
            <a:solidFill>
              <a:schemeClr val="tx1"/>
            </a:solidFill>
            <a:latin typeface="+mj-lt"/>
          </a:endParaRPr>
        </a:p>
      </dgm:t>
    </dgm:pt>
    <dgm:pt modelId="{E0AA6BE3-060E-4B48-9688-875A906E14EC}">
      <dgm:prSet custT="1"/>
      <dgm:spPr>
        <a:solidFill>
          <a:schemeClr val="bg1">
            <a:lumMod val="75000"/>
          </a:schemeClr>
        </a:solidFill>
      </dgm:spPr>
      <dgm:t>
        <a:bodyPr/>
        <a:lstStyle/>
        <a:p>
          <a:r>
            <a:rPr lang="en-US" sz="2400" b="0" dirty="0" err="1">
              <a:solidFill>
                <a:schemeClr val="bg1"/>
              </a:solidFill>
              <a:latin typeface="+mj-lt"/>
            </a:rPr>
            <a:t>Pencarian</a:t>
          </a:r>
          <a:endParaRPr lang="en-US" sz="2400" b="0" dirty="0">
            <a:solidFill>
              <a:schemeClr val="bg1"/>
            </a:solidFill>
            <a:latin typeface="+mj-lt"/>
          </a:endParaRPr>
        </a:p>
      </dgm:t>
    </dgm:pt>
    <dgm:pt modelId="{A99B7640-BB3A-453E-9D87-AC6FCF71D00F}" type="parTrans" cxnId="{92913B39-56E4-48BB-8954-36E7CEEE4493}">
      <dgm:prSet/>
      <dgm:spPr/>
      <dgm:t>
        <a:bodyPr/>
        <a:lstStyle/>
        <a:p>
          <a:endParaRPr lang="en-US" sz="2400" b="0">
            <a:solidFill>
              <a:schemeClr val="tx1"/>
            </a:solidFill>
            <a:latin typeface="+mj-lt"/>
          </a:endParaRPr>
        </a:p>
      </dgm:t>
    </dgm:pt>
    <dgm:pt modelId="{196A483D-09F1-4B9D-97B7-29AE6181906D}" type="sibTrans" cxnId="{92913B39-56E4-48BB-8954-36E7CEEE4493}">
      <dgm:prSet/>
      <dgm:spPr/>
      <dgm:t>
        <a:bodyPr/>
        <a:lstStyle/>
        <a:p>
          <a:endParaRPr lang="en-US" sz="2400" b="0">
            <a:solidFill>
              <a:schemeClr val="tx1"/>
            </a:solidFill>
            <a:latin typeface="+mj-lt"/>
          </a:endParaRPr>
        </a:p>
      </dgm:t>
    </dgm:pt>
    <dgm:pt modelId="{4F675246-A539-4487-8AD7-54E0B257F5A0}">
      <dgm:prSet custT="1"/>
      <dgm:spPr>
        <a:solidFill>
          <a:schemeClr val="bg1">
            <a:lumMod val="75000"/>
          </a:schemeClr>
        </a:solidFill>
      </dgm:spPr>
      <dgm:t>
        <a:bodyPr/>
        <a:lstStyle/>
        <a:p>
          <a:r>
            <a:rPr lang="en-US" sz="2400" b="0" dirty="0" err="1">
              <a:solidFill>
                <a:schemeClr val="bg1"/>
              </a:solidFill>
              <a:latin typeface="+mj-lt"/>
            </a:rPr>
            <a:t>Representasi</a:t>
          </a:r>
          <a:r>
            <a:rPr lang="en-US" sz="2400" b="0" dirty="0">
              <a:solidFill>
                <a:schemeClr val="bg1"/>
              </a:solidFill>
              <a:latin typeface="+mj-lt"/>
            </a:rPr>
            <a:t> </a:t>
          </a:r>
          <a:r>
            <a:rPr lang="en-US" sz="2400" b="0" dirty="0" err="1">
              <a:solidFill>
                <a:schemeClr val="bg1"/>
              </a:solidFill>
              <a:latin typeface="+mj-lt"/>
            </a:rPr>
            <a:t>Pengetahuan</a:t>
          </a:r>
          <a:endParaRPr lang="en-US" sz="2400" b="0" dirty="0">
            <a:solidFill>
              <a:schemeClr val="bg1"/>
            </a:solidFill>
            <a:latin typeface="+mj-lt"/>
          </a:endParaRPr>
        </a:p>
      </dgm:t>
    </dgm:pt>
    <dgm:pt modelId="{A27E2B3A-595F-4CAF-8E32-3118983988E9}" type="parTrans" cxnId="{822F7A69-93AA-47E6-B9F0-BC1C641D7FD5}">
      <dgm:prSet/>
      <dgm:spPr/>
      <dgm:t>
        <a:bodyPr/>
        <a:lstStyle/>
        <a:p>
          <a:endParaRPr lang="en-US" sz="2400" b="0">
            <a:solidFill>
              <a:schemeClr val="tx1"/>
            </a:solidFill>
            <a:latin typeface="+mj-lt"/>
          </a:endParaRPr>
        </a:p>
      </dgm:t>
    </dgm:pt>
    <dgm:pt modelId="{2A4FEBF4-22CE-4311-8FC1-5D68985AE7D6}" type="sibTrans" cxnId="{822F7A69-93AA-47E6-B9F0-BC1C641D7FD5}">
      <dgm:prSet/>
      <dgm:spPr/>
      <dgm:t>
        <a:bodyPr/>
        <a:lstStyle/>
        <a:p>
          <a:endParaRPr lang="en-US" sz="2400" b="0">
            <a:solidFill>
              <a:schemeClr val="tx1"/>
            </a:solidFill>
            <a:latin typeface="+mj-lt"/>
          </a:endParaRPr>
        </a:p>
      </dgm:t>
    </dgm:pt>
    <dgm:pt modelId="{7121CAA8-2ECF-460D-8B1B-6336958B0243}">
      <dgm:prSet custT="1"/>
      <dgm:spPr>
        <a:solidFill>
          <a:schemeClr val="bg1">
            <a:lumMod val="75000"/>
          </a:schemeClr>
        </a:solidFill>
      </dgm:spPr>
      <dgm:t>
        <a:bodyPr/>
        <a:lstStyle/>
        <a:p>
          <a:r>
            <a:rPr lang="es-ES" sz="2400" b="0">
              <a:solidFill>
                <a:schemeClr val="bg1"/>
              </a:solidFill>
              <a:latin typeface="+mj-lt"/>
            </a:rPr>
            <a:t>Perencanaan</a:t>
          </a:r>
          <a:endParaRPr lang="en-US" sz="2400" b="0" dirty="0">
            <a:solidFill>
              <a:schemeClr val="bg1"/>
            </a:solidFill>
            <a:latin typeface="+mj-lt"/>
          </a:endParaRPr>
        </a:p>
      </dgm:t>
    </dgm:pt>
    <dgm:pt modelId="{BCD8FC0F-4256-4E51-B690-ADAB119AB820}" type="parTrans" cxnId="{AF2F0630-A3F5-4D12-8BEE-AE4B77B92483}">
      <dgm:prSet/>
      <dgm:spPr/>
      <dgm:t>
        <a:bodyPr/>
        <a:lstStyle/>
        <a:p>
          <a:endParaRPr lang="en-US" sz="2400" b="0">
            <a:solidFill>
              <a:schemeClr val="tx1"/>
            </a:solidFill>
            <a:latin typeface="+mj-lt"/>
          </a:endParaRPr>
        </a:p>
      </dgm:t>
    </dgm:pt>
    <dgm:pt modelId="{972C6128-7A65-4B66-9343-ADB18368111A}" type="sibTrans" cxnId="{AF2F0630-A3F5-4D12-8BEE-AE4B77B92483}">
      <dgm:prSet/>
      <dgm:spPr/>
      <dgm:t>
        <a:bodyPr/>
        <a:lstStyle/>
        <a:p>
          <a:endParaRPr lang="en-US" sz="2400" b="0">
            <a:solidFill>
              <a:schemeClr val="tx1"/>
            </a:solidFill>
            <a:latin typeface="+mj-lt"/>
          </a:endParaRPr>
        </a:p>
      </dgm:t>
    </dgm:pt>
    <dgm:pt modelId="{21248A0D-2972-4678-AB23-DAD33397DAC3}">
      <dgm:prSet custT="1"/>
      <dgm:spPr>
        <a:solidFill>
          <a:srgbClr val="C00000"/>
        </a:solidFill>
      </dgm:spPr>
      <dgm:t>
        <a:bodyPr/>
        <a:lstStyle/>
        <a:p>
          <a:r>
            <a:rPr lang="en-US" sz="2400" b="0" dirty="0" err="1">
              <a:solidFill>
                <a:schemeClr val="bg1"/>
              </a:solidFill>
              <a:latin typeface="+mj-lt"/>
            </a:rPr>
            <a:t>Logika</a:t>
          </a:r>
          <a:r>
            <a:rPr lang="en-US" sz="2400" b="0" dirty="0">
              <a:solidFill>
                <a:schemeClr val="bg1"/>
              </a:solidFill>
              <a:latin typeface="+mj-lt"/>
            </a:rPr>
            <a:t> dan </a:t>
          </a:r>
          <a:r>
            <a:rPr lang="en-US" sz="2400" b="0" err="1">
              <a:solidFill>
                <a:schemeClr val="bg1"/>
              </a:solidFill>
              <a:latin typeface="+mj-lt"/>
            </a:rPr>
            <a:t>Sistem</a:t>
          </a:r>
          <a:r>
            <a:rPr lang="en-US" sz="2400" b="0">
              <a:solidFill>
                <a:schemeClr val="bg1"/>
              </a:solidFill>
              <a:latin typeface="+mj-lt"/>
            </a:rPr>
            <a:t> Fuzzy</a:t>
          </a:r>
          <a:endParaRPr lang="en-US" sz="2400" b="0" dirty="0">
            <a:solidFill>
              <a:schemeClr val="bg1"/>
            </a:solidFill>
            <a:latin typeface="+mj-lt"/>
          </a:endParaRPr>
        </a:p>
      </dgm:t>
    </dgm:pt>
    <dgm:pt modelId="{C3248639-8BAA-4C39-9E28-D2A760A77419}" type="parTrans" cxnId="{8E1180B4-1DE9-4225-AE02-216036F6DCA2}">
      <dgm:prSet/>
      <dgm:spPr/>
      <dgm:t>
        <a:bodyPr/>
        <a:lstStyle/>
        <a:p>
          <a:endParaRPr lang="en-US" sz="2400" b="0">
            <a:solidFill>
              <a:schemeClr val="tx1"/>
            </a:solidFill>
            <a:latin typeface="+mj-lt"/>
          </a:endParaRPr>
        </a:p>
      </dgm:t>
    </dgm:pt>
    <dgm:pt modelId="{59827F4C-B515-4D8D-BFCF-EC0EFDE0D46B}" type="sibTrans" cxnId="{8E1180B4-1DE9-4225-AE02-216036F6DCA2}">
      <dgm:prSet/>
      <dgm:spPr/>
      <dgm:t>
        <a:bodyPr/>
        <a:lstStyle/>
        <a:p>
          <a:endParaRPr lang="en-US" sz="2400" b="0">
            <a:solidFill>
              <a:schemeClr val="tx1"/>
            </a:solidFill>
            <a:latin typeface="+mj-lt"/>
          </a:endParaRPr>
        </a:p>
      </dgm:t>
    </dgm:pt>
    <dgm:pt modelId="{67CB31E1-5AD9-4A04-A208-C6ECFA977FAF}">
      <dgm:prSet custT="1"/>
      <dgm:spPr>
        <a:solidFill>
          <a:schemeClr val="bg1">
            <a:lumMod val="75000"/>
          </a:schemeClr>
        </a:solidFill>
      </dgm:spPr>
      <dgm:t>
        <a:bodyPr/>
        <a:lstStyle/>
        <a:p>
          <a:r>
            <a:rPr lang="en-US" sz="2400" b="0">
              <a:latin typeface="+mj-lt"/>
            </a:rPr>
            <a:t>Jaringan Saraf Tiruan</a:t>
          </a:r>
          <a:endParaRPr lang="en-US" sz="2400" b="0" dirty="0">
            <a:latin typeface="+mj-lt"/>
          </a:endParaRPr>
        </a:p>
      </dgm:t>
    </dgm:pt>
    <dgm:pt modelId="{248E8C1F-7FF2-45E6-9BB5-29937C96633F}" type="parTrans" cxnId="{E4679B01-C1C8-4433-BCE7-76D25D6EC1B1}">
      <dgm:prSet/>
      <dgm:spPr/>
      <dgm:t>
        <a:bodyPr/>
        <a:lstStyle/>
        <a:p>
          <a:endParaRPr lang="en-US" sz="2400" b="0">
            <a:solidFill>
              <a:schemeClr val="tx1"/>
            </a:solidFill>
            <a:latin typeface="+mj-lt"/>
          </a:endParaRPr>
        </a:p>
      </dgm:t>
    </dgm:pt>
    <dgm:pt modelId="{C983D6BD-319A-492A-824A-22C83E657250}" type="sibTrans" cxnId="{E4679B01-C1C8-4433-BCE7-76D25D6EC1B1}">
      <dgm:prSet/>
      <dgm:spPr/>
      <dgm:t>
        <a:bodyPr/>
        <a:lstStyle/>
        <a:p>
          <a:endParaRPr lang="en-US" sz="2400" b="0">
            <a:solidFill>
              <a:schemeClr val="tx1"/>
            </a:solidFill>
            <a:latin typeface="+mj-lt"/>
          </a:endParaRPr>
        </a:p>
      </dgm:t>
    </dgm:pt>
    <dgm:pt modelId="{750D6AFE-0C97-493A-BD42-FC8E76ADE1C0}">
      <dgm:prSet custT="1"/>
      <dgm:spPr>
        <a:solidFill>
          <a:schemeClr val="bg1">
            <a:lumMod val="75000"/>
          </a:schemeClr>
        </a:solidFill>
      </dgm:spPr>
      <dgm:t>
        <a:bodyPr/>
        <a:lstStyle/>
        <a:p>
          <a:r>
            <a:rPr lang="en-US" sz="2400" b="0" dirty="0" err="1">
              <a:solidFill>
                <a:schemeClr val="bg1"/>
              </a:solidFill>
              <a:latin typeface="+mj-lt"/>
            </a:rPr>
            <a:t>Sistem</a:t>
          </a:r>
          <a:r>
            <a:rPr lang="en-US" sz="2400" b="0" dirty="0">
              <a:solidFill>
                <a:schemeClr val="bg1"/>
              </a:solidFill>
              <a:latin typeface="+mj-lt"/>
            </a:rPr>
            <a:t> </a:t>
          </a:r>
          <a:r>
            <a:rPr lang="en-US" sz="2400" b="0" dirty="0" err="1">
              <a:solidFill>
                <a:schemeClr val="bg1"/>
              </a:solidFill>
              <a:latin typeface="+mj-lt"/>
            </a:rPr>
            <a:t>Pakar</a:t>
          </a:r>
          <a:endParaRPr lang="en-US" sz="2400" b="0" dirty="0">
            <a:solidFill>
              <a:schemeClr val="bg1"/>
            </a:solidFill>
            <a:latin typeface="+mj-lt"/>
          </a:endParaRPr>
        </a:p>
      </dgm:t>
    </dgm:pt>
    <dgm:pt modelId="{8080B4B2-96DD-48B3-A487-3779229E5478}" type="parTrans" cxnId="{D467D746-BCCB-4FE2-9A97-E96F1E5A982C}">
      <dgm:prSet/>
      <dgm:spPr/>
      <dgm:t>
        <a:bodyPr/>
        <a:lstStyle/>
        <a:p>
          <a:endParaRPr lang="en-US" sz="2400" b="0">
            <a:solidFill>
              <a:schemeClr val="tx1"/>
            </a:solidFill>
            <a:latin typeface="+mj-lt"/>
          </a:endParaRPr>
        </a:p>
      </dgm:t>
    </dgm:pt>
    <dgm:pt modelId="{C3A8D3BC-0346-4617-A9C2-376D48C5B592}" type="sibTrans" cxnId="{D467D746-BCCB-4FE2-9A97-E96F1E5A982C}">
      <dgm:prSet/>
      <dgm:spPr/>
      <dgm:t>
        <a:bodyPr/>
        <a:lstStyle/>
        <a:p>
          <a:endParaRPr lang="en-US" sz="2400" b="0">
            <a:solidFill>
              <a:schemeClr val="tx1"/>
            </a:solidFill>
            <a:latin typeface="+mj-lt"/>
          </a:endParaRPr>
        </a:p>
      </dgm:t>
    </dgm:pt>
    <dgm:pt modelId="{C0CEC0AE-447C-4BF1-BF64-6757A2A19DB7}">
      <dgm:prSet custT="1"/>
      <dgm:spPr>
        <a:solidFill>
          <a:schemeClr val="bg1">
            <a:lumMod val="75000"/>
          </a:scheme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106680" tIns="106680" rIns="106680" bIns="106680" numCol="1" spcCol="1270" anchor="ctr" anchorCtr="0"/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kern="1200" dirty="0" err="1">
              <a:solidFill>
                <a:prstClr val="white"/>
              </a:solidFill>
              <a:latin typeface="Franklin Gothic Demi Cond"/>
              <a:ea typeface="+mn-ea"/>
              <a:cs typeface="+mn-cs"/>
            </a:rPr>
            <a:t>Algoritma</a:t>
          </a:r>
          <a:r>
            <a:rPr lang="en-US" sz="2400" b="0" kern="1200" dirty="0">
              <a:solidFill>
                <a:prstClr val="white"/>
              </a:solidFill>
              <a:latin typeface="Franklin Gothic Demi Cond"/>
              <a:ea typeface="+mn-ea"/>
              <a:cs typeface="+mn-cs"/>
            </a:rPr>
            <a:t> </a:t>
          </a:r>
          <a:r>
            <a:rPr lang="en-US" sz="2400" b="0" kern="1200" dirty="0" err="1">
              <a:solidFill>
                <a:prstClr val="white"/>
              </a:solidFill>
              <a:latin typeface="Franklin Gothic Demi Cond"/>
              <a:ea typeface="+mn-ea"/>
              <a:cs typeface="+mn-cs"/>
            </a:rPr>
            <a:t>Genetika</a:t>
          </a:r>
          <a:endParaRPr lang="en-US" sz="2400" b="0" kern="1200" dirty="0">
            <a:solidFill>
              <a:prstClr val="white"/>
            </a:solidFill>
            <a:latin typeface="Franklin Gothic Demi Cond"/>
            <a:ea typeface="+mn-ea"/>
            <a:cs typeface="+mn-cs"/>
          </a:endParaRPr>
        </a:p>
      </dgm:t>
    </dgm:pt>
    <dgm:pt modelId="{BE17D812-DD1E-4650-AF8B-0CEA91EEBC12}" type="parTrans" cxnId="{F02B2F50-8F4F-471C-A557-472286E01D9E}">
      <dgm:prSet/>
      <dgm:spPr/>
      <dgm:t>
        <a:bodyPr/>
        <a:lstStyle/>
        <a:p>
          <a:endParaRPr lang="en-US" sz="2400"/>
        </a:p>
      </dgm:t>
    </dgm:pt>
    <dgm:pt modelId="{84F8D1EB-561E-4F32-AA0E-6DBB9AAE1ACA}" type="sibTrans" cxnId="{F02B2F50-8F4F-471C-A557-472286E01D9E}">
      <dgm:prSet/>
      <dgm:spPr/>
      <dgm:t>
        <a:bodyPr/>
        <a:lstStyle/>
        <a:p>
          <a:endParaRPr lang="en-US" sz="2400"/>
        </a:p>
      </dgm:t>
    </dgm:pt>
    <dgm:pt modelId="{855423D7-405E-4F7E-BF07-B52486A07C79}" type="pres">
      <dgm:prSet presAssocID="{59E57DFA-EFA1-4FEA-8577-D22512819D0A}" presName="diagram" presStyleCnt="0">
        <dgm:presLayoutVars>
          <dgm:dir/>
          <dgm:resizeHandles val="exact"/>
        </dgm:presLayoutVars>
      </dgm:prSet>
      <dgm:spPr/>
    </dgm:pt>
    <dgm:pt modelId="{5C825BA9-5ADC-42A9-A709-E25062DF1BDB}" type="pres">
      <dgm:prSet presAssocID="{70644929-532B-4599-80B1-BAC0D1089578}" presName="node" presStyleLbl="node1" presStyleIdx="0" presStyleCnt="8">
        <dgm:presLayoutVars>
          <dgm:bulletEnabled val="1"/>
        </dgm:presLayoutVars>
      </dgm:prSet>
      <dgm:spPr/>
    </dgm:pt>
    <dgm:pt modelId="{71EFDE41-4EA5-410B-B091-B492E9DBB5FD}" type="pres">
      <dgm:prSet presAssocID="{D21FBAD6-12F3-4187-AFDC-7C5002BE27FE}" presName="sibTrans" presStyleCnt="0"/>
      <dgm:spPr/>
    </dgm:pt>
    <dgm:pt modelId="{B251FA1D-86F0-4B3C-851F-D35E46B37A8C}" type="pres">
      <dgm:prSet presAssocID="{E0AA6BE3-060E-4B48-9688-875A906E14EC}" presName="node" presStyleLbl="node1" presStyleIdx="1" presStyleCnt="8">
        <dgm:presLayoutVars>
          <dgm:bulletEnabled val="1"/>
        </dgm:presLayoutVars>
      </dgm:prSet>
      <dgm:spPr/>
    </dgm:pt>
    <dgm:pt modelId="{E1EED598-8167-4079-B1F1-0C4935CA0653}" type="pres">
      <dgm:prSet presAssocID="{196A483D-09F1-4B9D-97B7-29AE6181906D}" presName="sibTrans" presStyleCnt="0"/>
      <dgm:spPr/>
    </dgm:pt>
    <dgm:pt modelId="{923FFBA6-B247-41A7-96C0-C3B8AAA992DE}" type="pres">
      <dgm:prSet presAssocID="{4F675246-A539-4487-8AD7-54E0B257F5A0}" presName="node" presStyleLbl="node1" presStyleIdx="2" presStyleCnt="8">
        <dgm:presLayoutVars>
          <dgm:bulletEnabled val="1"/>
        </dgm:presLayoutVars>
      </dgm:prSet>
      <dgm:spPr/>
    </dgm:pt>
    <dgm:pt modelId="{010812D8-2D6B-4396-9535-8A26E143E892}" type="pres">
      <dgm:prSet presAssocID="{2A4FEBF4-22CE-4311-8FC1-5D68985AE7D6}" presName="sibTrans" presStyleCnt="0"/>
      <dgm:spPr/>
    </dgm:pt>
    <dgm:pt modelId="{AE6FC315-28AE-4C4C-96CC-B9CB6268CCEF}" type="pres">
      <dgm:prSet presAssocID="{7121CAA8-2ECF-460D-8B1B-6336958B0243}" presName="node" presStyleLbl="node1" presStyleIdx="3" presStyleCnt="8">
        <dgm:presLayoutVars>
          <dgm:bulletEnabled val="1"/>
        </dgm:presLayoutVars>
      </dgm:prSet>
      <dgm:spPr/>
    </dgm:pt>
    <dgm:pt modelId="{5BABCE26-C7C4-406A-ADE0-DC8A07D0446C}" type="pres">
      <dgm:prSet presAssocID="{972C6128-7A65-4B66-9343-ADB18368111A}" presName="sibTrans" presStyleCnt="0"/>
      <dgm:spPr/>
    </dgm:pt>
    <dgm:pt modelId="{8644CCDC-2E0E-48EE-81C4-C334BB1D539D}" type="pres">
      <dgm:prSet presAssocID="{750D6AFE-0C97-493A-BD42-FC8E76ADE1C0}" presName="node" presStyleLbl="node1" presStyleIdx="4" presStyleCnt="8">
        <dgm:presLayoutVars>
          <dgm:bulletEnabled val="1"/>
        </dgm:presLayoutVars>
      </dgm:prSet>
      <dgm:spPr/>
    </dgm:pt>
    <dgm:pt modelId="{CE542473-A80C-4ADF-9670-2B7B40C38A0E}" type="pres">
      <dgm:prSet presAssocID="{C3A8D3BC-0346-4617-A9C2-376D48C5B592}" presName="sibTrans" presStyleCnt="0"/>
      <dgm:spPr/>
    </dgm:pt>
    <dgm:pt modelId="{B1CFA658-C34B-4E09-8AA7-9E2AE3EC15A5}" type="pres">
      <dgm:prSet presAssocID="{21248A0D-2972-4678-AB23-DAD33397DAC3}" presName="node" presStyleLbl="node1" presStyleIdx="5" presStyleCnt="8">
        <dgm:presLayoutVars>
          <dgm:bulletEnabled val="1"/>
        </dgm:presLayoutVars>
      </dgm:prSet>
      <dgm:spPr/>
    </dgm:pt>
    <dgm:pt modelId="{5DBD825B-3E20-4DA1-AB17-FC825F769804}" type="pres">
      <dgm:prSet presAssocID="{59827F4C-B515-4D8D-BFCF-EC0EFDE0D46B}" presName="sibTrans" presStyleCnt="0"/>
      <dgm:spPr/>
    </dgm:pt>
    <dgm:pt modelId="{4335631D-BF32-45E1-A2B4-4416CE6ADB3E}" type="pres">
      <dgm:prSet presAssocID="{67CB31E1-5AD9-4A04-A208-C6ECFA977FAF}" presName="node" presStyleLbl="node1" presStyleIdx="6" presStyleCnt="8">
        <dgm:presLayoutVars>
          <dgm:bulletEnabled val="1"/>
        </dgm:presLayoutVars>
      </dgm:prSet>
      <dgm:spPr/>
    </dgm:pt>
    <dgm:pt modelId="{053A1645-9162-40D0-B966-7A805973BD82}" type="pres">
      <dgm:prSet presAssocID="{C983D6BD-319A-492A-824A-22C83E657250}" presName="sibTrans" presStyleCnt="0"/>
      <dgm:spPr/>
    </dgm:pt>
    <dgm:pt modelId="{101A7CE7-F4C6-42BE-BB14-D6F21D32754D}" type="pres">
      <dgm:prSet presAssocID="{C0CEC0AE-447C-4BF1-BF64-6757A2A19DB7}" presName="node" presStyleLbl="node1" presStyleIdx="7" presStyleCnt="8">
        <dgm:presLayoutVars>
          <dgm:bulletEnabled val="1"/>
        </dgm:presLayoutVars>
      </dgm:prSet>
      <dgm:spPr>
        <a:xfrm>
          <a:off x="8068463" y="2297871"/>
          <a:ext cx="2444055" cy="1466433"/>
        </a:xfrm>
        <a:prstGeom prst="rect">
          <a:avLst/>
        </a:prstGeom>
      </dgm:spPr>
    </dgm:pt>
  </dgm:ptLst>
  <dgm:cxnLst>
    <dgm:cxn modelId="{E4679B01-C1C8-4433-BCE7-76D25D6EC1B1}" srcId="{59E57DFA-EFA1-4FEA-8577-D22512819D0A}" destId="{67CB31E1-5AD9-4A04-A208-C6ECFA977FAF}" srcOrd="6" destOrd="0" parTransId="{248E8C1F-7FF2-45E6-9BB5-29937C96633F}" sibTransId="{C983D6BD-319A-492A-824A-22C83E657250}"/>
    <dgm:cxn modelId="{2DDD1B0F-D5F7-417E-9E15-A6AE104C9545}" type="presOf" srcId="{E0AA6BE3-060E-4B48-9688-875A906E14EC}" destId="{B251FA1D-86F0-4B3C-851F-D35E46B37A8C}" srcOrd="0" destOrd="0" presId="urn:microsoft.com/office/officeart/2005/8/layout/default"/>
    <dgm:cxn modelId="{6D1BDF1C-9C86-4DBC-8983-80084403FD45}" type="presOf" srcId="{67CB31E1-5AD9-4A04-A208-C6ECFA977FAF}" destId="{4335631D-BF32-45E1-A2B4-4416CE6ADB3E}" srcOrd="0" destOrd="0" presId="urn:microsoft.com/office/officeart/2005/8/layout/default"/>
    <dgm:cxn modelId="{AF2F0630-A3F5-4D12-8BEE-AE4B77B92483}" srcId="{59E57DFA-EFA1-4FEA-8577-D22512819D0A}" destId="{7121CAA8-2ECF-460D-8B1B-6336958B0243}" srcOrd="3" destOrd="0" parTransId="{BCD8FC0F-4256-4E51-B690-ADAB119AB820}" sibTransId="{972C6128-7A65-4B66-9343-ADB18368111A}"/>
    <dgm:cxn modelId="{92913B39-56E4-48BB-8954-36E7CEEE4493}" srcId="{59E57DFA-EFA1-4FEA-8577-D22512819D0A}" destId="{E0AA6BE3-060E-4B48-9688-875A906E14EC}" srcOrd="1" destOrd="0" parTransId="{A99B7640-BB3A-453E-9D87-AC6FCF71D00F}" sibTransId="{196A483D-09F1-4B9D-97B7-29AE6181906D}"/>
    <dgm:cxn modelId="{2B8AEA61-9F34-475E-813A-046FB9DD5AF3}" type="presOf" srcId="{4F675246-A539-4487-8AD7-54E0B257F5A0}" destId="{923FFBA6-B247-41A7-96C0-C3B8AAA992DE}" srcOrd="0" destOrd="0" presId="urn:microsoft.com/office/officeart/2005/8/layout/default"/>
    <dgm:cxn modelId="{D467D746-BCCB-4FE2-9A97-E96F1E5A982C}" srcId="{59E57DFA-EFA1-4FEA-8577-D22512819D0A}" destId="{750D6AFE-0C97-493A-BD42-FC8E76ADE1C0}" srcOrd="4" destOrd="0" parTransId="{8080B4B2-96DD-48B3-A487-3779229E5478}" sibTransId="{C3A8D3BC-0346-4617-A9C2-376D48C5B592}"/>
    <dgm:cxn modelId="{822F7A69-93AA-47E6-B9F0-BC1C641D7FD5}" srcId="{59E57DFA-EFA1-4FEA-8577-D22512819D0A}" destId="{4F675246-A539-4487-8AD7-54E0B257F5A0}" srcOrd="2" destOrd="0" parTransId="{A27E2B3A-595F-4CAF-8E32-3118983988E9}" sibTransId="{2A4FEBF4-22CE-4311-8FC1-5D68985AE7D6}"/>
    <dgm:cxn modelId="{6F41816D-433E-480E-AF0F-8069AFAA7969}" type="presOf" srcId="{21248A0D-2972-4678-AB23-DAD33397DAC3}" destId="{B1CFA658-C34B-4E09-8AA7-9E2AE3EC15A5}" srcOrd="0" destOrd="0" presId="urn:microsoft.com/office/officeart/2005/8/layout/default"/>
    <dgm:cxn modelId="{F02B2F50-8F4F-471C-A557-472286E01D9E}" srcId="{59E57DFA-EFA1-4FEA-8577-D22512819D0A}" destId="{C0CEC0AE-447C-4BF1-BF64-6757A2A19DB7}" srcOrd="7" destOrd="0" parTransId="{BE17D812-DD1E-4650-AF8B-0CEA91EEBC12}" sibTransId="{84F8D1EB-561E-4F32-AA0E-6DBB9AAE1ACA}"/>
    <dgm:cxn modelId="{E3F18659-6199-441C-87B5-6AEE0FC04EEE}" type="presOf" srcId="{70644929-532B-4599-80B1-BAC0D1089578}" destId="{5C825BA9-5ADC-42A9-A709-E25062DF1BDB}" srcOrd="0" destOrd="0" presId="urn:microsoft.com/office/officeart/2005/8/layout/default"/>
    <dgm:cxn modelId="{8C60FDAB-E601-4713-9764-2A778E2CB118}" type="presOf" srcId="{750D6AFE-0C97-493A-BD42-FC8E76ADE1C0}" destId="{8644CCDC-2E0E-48EE-81C4-C334BB1D539D}" srcOrd="0" destOrd="0" presId="urn:microsoft.com/office/officeart/2005/8/layout/default"/>
    <dgm:cxn modelId="{E08AC3B2-71D4-4E7E-B338-547587481B43}" type="presOf" srcId="{C0CEC0AE-447C-4BF1-BF64-6757A2A19DB7}" destId="{101A7CE7-F4C6-42BE-BB14-D6F21D32754D}" srcOrd="0" destOrd="0" presId="urn:microsoft.com/office/officeart/2005/8/layout/default"/>
    <dgm:cxn modelId="{8E1180B4-1DE9-4225-AE02-216036F6DCA2}" srcId="{59E57DFA-EFA1-4FEA-8577-D22512819D0A}" destId="{21248A0D-2972-4678-AB23-DAD33397DAC3}" srcOrd="5" destOrd="0" parTransId="{C3248639-8BAA-4C39-9E28-D2A760A77419}" sibTransId="{59827F4C-B515-4D8D-BFCF-EC0EFDE0D46B}"/>
    <dgm:cxn modelId="{820CD8BE-E051-4B05-9450-8F87766E2E99}" type="presOf" srcId="{7121CAA8-2ECF-460D-8B1B-6336958B0243}" destId="{AE6FC315-28AE-4C4C-96CC-B9CB6268CCEF}" srcOrd="0" destOrd="0" presId="urn:microsoft.com/office/officeart/2005/8/layout/default"/>
    <dgm:cxn modelId="{0357A3C3-D325-4806-8702-451FE064BE75}" type="presOf" srcId="{59E57DFA-EFA1-4FEA-8577-D22512819D0A}" destId="{855423D7-405E-4F7E-BF07-B52486A07C79}" srcOrd="0" destOrd="0" presId="urn:microsoft.com/office/officeart/2005/8/layout/default"/>
    <dgm:cxn modelId="{5E0CA4E3-42F7-4AFC-9F08-73F71A91BBA4}" srcId="{59E57DFA-EFA1-4FEA-8577-D22512819D0A}" destId="{70644929-532B-4599-80B1-BAC0D1089578}" srcOrd="0" destOrd="0" parTransId="{C05CB12E-BECB-4A7D-A311-290FBB09767A}" sibTransId="{D21FBAD6-12F3-4187-AFDC-7C5002BE27FE}"/>
    <dgm:cxn modelId="{44C6D830-1596-4D27-B728-F2BF13A01CCE}" type="presParOf" srcId="{855423D7-405E-4F7E-BF07-B52486A07C79}" destId="{5C825BA9-5ADC-42A9-A709-E25062DF1BDB}" srcOrd="0" destOrd="0" presId="urn:microsoft.com/office/officeart/2005/8/layout/default"/>
    <dgm:cxn modelId="{738ECE63-EB0C-4316-8A9E-A60AFDBE8164}" type="presParOf" srcId="{855423D7-405E-4F7E-BF07-B52486A07C79}" destId="{71EFDE41-4EA5-410B-B091-B492E9DBB5FD}" srcOrd="1" destOrd="0" presId="urn:microsoft.com/office/officeart/2005/8/layout/default"/>
    <dgm:cxn modelId="{7DD9B514-2C71-46B4-9C0B-DC3483EB5231}" type="presParOf" srcId="{855423D7-405E-4F7E-BF07-B52486A07C79}" destId="{B251FA1D-86F0-4B3C-851F-D35E46B37A8C}" srcOrd="2" destOrd="0" presId="urn:microsoft.com/office/officeart/2005/8/layout/default"/>
    <dgm:cxn modelId="{90CBF84C-B83A-4971-8CE2-C2EB0782AF11}" type="presParOf" srcId="{855423D7-405E-4F7E-BF07-B52486A07C79}" destId="{E1EED598-8167-4079-B1F1-0C4935CA0653}" srcOrd="3" destOrd="0" presId="urn:microsoft.com/office/officeart/2005/8/layout/default"/>
    <dgm:cxn modelId="{811B6782-1304-48DF-A697-042260EB0E7F}" type="presParOf" srcId="{855423D7-405E-4F7E-BF07-B52486A07C79}" destId="{923FFBA6-B247-41A7-96C0-C3B8AAA992DE}" srcOrd="4" destOrd="0" presId="urn:microsoft.com/office/officeart/2005/8/layout/default"/>
    <dgm:cxn modelId="{B9401F49-B44A-494F-83B7-C64095A241FB}" type="presParOf" srcId="{855423D7-405E-4F7E-BF07-B52486A07C79}" destId="{010812D8-2D6B-4396-9535-8A26E143E892}" srcOrd="5" destOrd="0" presId="urn:microsoft.com/office/officeart/2005/8/layout/default"/>
    <dgm:cxn modelId="{6935B90B-40F2-4719-B307-871A52DFE337}" type="presParOf" srcId="{855423D7-405E-4F7E-BF07-B52486A07C79}" destId="{AE6FC315-28AE-4C4C-96CC-B9CB6268CCEF}" srcOrd="6" destOrd="0" presId="urn:microsoft.com/office/officeart/2005/8/layout/default"/>
    <dgm:cxn modelId="{4A118B1E-9924-4FEB-AA8F-4141EFDEDFF3}" type="presParOf" srcId="{855423D7-405E-4F7E-BF07-B52486A07C79}" destId="{5BABCE26-C7C4-406A-ADE0-DC8A07D0446C}" srcOrd="7" destOrd="0" presId="urn:microsoft.com/office/officeart/2005/8/layout/default"/>
    <dgm:cxn modelId="{3D9CAD17-18E7-4E3D-8CA6-94B98C30E276}" type="presParOf" srcId="{855423D7-405E-4F7E-BF07-B52486A07C79}" destId="{8644CCDC-2E0E-48EE-81C4-C334BB1D539D}" srcOrd="8" destOrd="0" presId="urn:microsoft.com/office/officeart/2005/8/layout/default"/>
    <dgm:cxn modelId="{D45A8160-EC90-4E87-A6F1-29847B87C61E}" type="presParOf" srcId="{855423D7-405E-4F7E-BF07-B52486A07C79}" destId="{CE542473-A80C-4ADF-9670-2B7B40C38A0E}" srcOrd="9" destOrd="0" presId="urn:microsoft.com/office/officeart/2005/8/layout/default"/>
    <dgm:cxn modelId="{9CBBAF1F-9433-49DD-88CB-B0AF08910A30}" type="presParOf" srcId="{855423D7-405E-4F7E-BF07-B52486A07C79}" destId="{B1CFA658-C34B-4E09-8AA7-9E2AE3EC15A5}" srcOrd="10" destOrd="0" presId="urn:microsoft.com/office/officeart/2005/8/layout/default"/>
    <dgm:cxn modelId="{B36AE910-2485-4FAE-89F2-793AA75E2DD1}" type="presParOf" srcId="{855423D7-405E-4F7E-BF07-B52486A07C79}" destId="{5DBD825B-3E20-4DA1-AB17-FC825F769804}" srcOrd="11" destOrd="0" presId="urn:microsoft.com/office/officeart/2005/8/layout/default"/>
    <dgm:cxn modelId="{C2B4D989-94E9-4205-ACA1-15B2DEDABBFD}" type="presParOf" srcId="{855423D7-405E-4F7E-BF07-B52486A07C79}" destId="{4335631D-BF32-45E1-A2B4-4416CE6ADB3E}" srcOrd="12" destOrd="0" presId="urn:microsoft.com/office/officeart/2005/8/layout/default"/>
    <dgm:cxn modelId="{0312DB65-D959-4942-B421-205AAD5CD6FD}" type="presParOf" srcId="{855423D7-405E-4F7E-BF07-B52486A07C79}" destId="{053A1645-9162-40D0-B966-7A805973BD82}" srcOrd="13" destOrd="0" presId="urn:microsoft.com/office/officeart/2005/8/layout/default"/>
    <dgm:cxn modelId="{898B5B15-2996-4069-9D5E-08579E16F044}" type="presParOf" srcId="{855423D7-405E-4F7E-BF07-B52486A07C79}" destId="{101A7CE7-F4C6-42BE-BB14-D6F21D32754D}" srcOrd="1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1139595-EEA3-438A-9434-0271A70495E9}" type="doc">
      <dgm:prSet loTypeId="urn:microsoft.com/office/officeart/2008/layout/AlternatingPictureBlocks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7ACCFD18-6FA1-4EEE-9850-02ADC45DF603}">
      <dgm:prSet phldrT="[Text]"/>
      <dgm:spPr/>
      <dgm:t>
        <a:bodyPr/>
        <a:lstStyle/>
        <a:p>
          <a:r>
            <a:rPr lang="en-US" dirty="0"/>
            <a:t>Tsukamoto</a:t>
          </a:r>
        </a:p>
      </dgm:t>
    </dgm:pt>
    <dgm:pt modelId="{A58C8024-0287-4B7D-A229-83223B7421AB}" type="parTrans" cxnId="{33E17631-A69E-4B2F-BF4D-BC868EB91952}">
      <dgm:prSet/>
      <dgm:spPr/>
      <dgm:t>
        <a:bodyPr/>
        <a:lstStyle/>
        <a:p>
          <a:endParaRPr lang="en-US"/>
        </a:p>
      </dgm:t>
    </dgm:pt>
    <dgm:pt modelId="{ADD074D2-5ECA-49CB-B15F-1237E23028B6}" type="sibTrans" cxnId="{33E17631-A69E-4B2F-BF4D-BC868EB91952}">
      <dgm:prSet/>
      <dgm:spPr/>
      <dgm:t>
        <a:bodyPr/>
        <a:lstStyle/>
        <a:p>
          <a:endParaRPr lang="en-US"/>
        </a:p>
      </dgm:t>
    </dgm:pt>
    <dgm:pt modelId="{28F853BD-789A-4818-BBE8-F1C28B0D272C}">
      <dgm:prSet phldrT="[Text]"/>
      <dgm:spPr/>
      <dgm:t>
        <a:bodyPr/>
        <a:lstStyle/>
        <a:p>
          <a:r>
            <a:rPr lang="en-US" dirty="0"/>
            <a:t>Mamdani</a:t>
          </a:r>
        </a:p>
      </dgm:t>
    </dgm:pt>
    <dgm:pt modelId="{6374C38B-1E19-468E-BF12-744DAEB1A894}" type="parTrans" cxnId="{B8C17395-1758-43A3-99DB-1DDD681D7C5F}">
      <dgm:prSet/>
      <dgm:spPr/>
      <dgm:t>
        <a:bodyPr/>
        <a:lstStyle/>
        <a:p>
          <a:endParaRPr lang="en-US"/>
        </a:p>
      </dgm:t>
    </dgm:pt>
    <dgm:pt modelId="{E19CECF7-4B14-4489-BEDA-31023BAABF56}" type="sibTrans" cxnId="{B8C17395-1758-43A3-99DB-1DDD681D7C5F}">
      <dgm:prSet/>
      <dgm:spPr/>
      <dgm:t>
        <a:bodyPr/>
        <a:lstStyle/>
        <a:p>
          <a:endParaRPr lang="en-US"/>
        </a:p>
      </dgm:t>
    </dgm:pt>
    <dgm:pt modelId="{88A27513-2E8E-4EBA-8FFF-E85BA5DC2E2D}">
      <dgm:prSet phldrT="[Text]"/>
      <dgm:spPr/>
      <dgm:t>
        <a:bodyPr/>
        <a:lstStyle/>
        <a:p>
          <a:r>
            <a:rPr lang="en-US" dirty="0" err="1"/>
            <a:t>Sugeno</a:t>
          </a:r>
          <a:endParaRPr lang="en-US" dirty="0"/>
        </a:p>
      </dgm:t>
    </dgm:pt>
    <dgm:pt modelId="{58B8D76F-17C6-48B1-A90E-BA4D2AAE106E}" type="parTrans" cxnId="{6296942C-BE66-4793-9E9B-2E2672B2889D}">
      <dgm:prSet/>
      <dgm:spPr/>
      <dgm:t>
        <a:bodyPr/>
        <a:lstStyle/>
        <a:p>
          <a:endParaRPr lang="en-US"/>
        </a:p>
      </dgm:t>
    </dgm:pt>
    <dgm:pt modelId="{33F87164-55F0-4A69-A5BE-999626FFBB4B}" type="sibTrans" cxnId="{6296942C-BE66-4793-9E9B-2E2672B2889D}">
      <dgm:prSet/>
      <dgm:spPr/>
      <dgm:t>
        <a:bodyPr/>
        <a:lstStyle/>
        <a:p>
          <a:endParaRPr lang="en-US"/>
        </a:p>
      </dgm:t>
    </dgm:pt>
    <dgm:pt modelId="{181C9E76-6369-4604-AFD2-0181B962DADB}" type="pres">
      <dgm:prSet presAssocID="{71139595-EEA3-438A-9434-0271A70495E9}" presName="linearFlow" presStyleCnt="0">
        <dgm:presLayoutVars>
          <dgm:dir/>
          <dgm:resizeHandles val="exact"/>
        </dgm:presLayoutVars>
      </dgm:prSet>
      <dgm:spPr/>
    </dgm:pt>
    <dgm:pt modelId="{0B937F22-31C7-46DA-97B0-91EE5DABBCCD}" type="pres">
      <dgm:prSet presAssocID="{7ACCFD18-6FA1-4EEE-9850-02ADC45DF603}" presName="comp" presStyleCnt="0"/>
      <dgm:spPr/>
    </dgm:pt>
    <dgm:pt modelId="{867947E4-766C-450F-9AAE-29104AB3AFEF}" type="pres">
      <dgm:prSet presAssocID="{7ACCFD18-6FA1-4EEE-9850-02ADC45DF603}" presName="rect2" presStyleLbl="node1" presStyleIdx="0" presStyleCnt="3">
        <dgm:presLayoutVars>
          <dgm:bulletEnabled val="1"/>
        </dgm:presLayoutVars>
      </dgm:prSet>
      <dgm:spPr/>
    </dgm:pt>
    <dgm:pt modelId="{6CC7AF13-8F43-4B08-99EF-2D561987B548}" type="pres">
      <dgm:prSet presAssocID="{7ACCFD18-6FA1-4EEE-9850-02ADC45DF603}" presName="rect1" presStyleLbl="lnNode1" presStyleIdx="0" presStyleCnt="3"/>
      <dgm:spPr/>
    </dgm:pt>
    <dgm:pt modelId="{8B91F92C-2578-46CF-971E-8D2ACE844BFA}" type="pres">
      <dgm:prSet presAssocID="{ADD074D2-5ECA-49CB-B15F-1237E23028B6}" presName="sibTrans" presStyleCnt="0"/>
      <dgm:spPr/>
    </dgm:pt>
    <dgm:pt modelId="{695E486D-78BF-4AD1-810E-11D051593C67}" type="pres">
      <dgm:prSet presAssocID="{28F853BD-789A-4818-BBE8-F1C28B0D272C}" presName="comp" presStyleCnt="0"/>
      <dgm:spPr/>
    </dgm:pt>
    <dgm:pt modelId="{8A7A8B85-B474-4D5F-837C-E2CE37E17A38}" type="pres">
      <dgm:prSet presAssocID="{28F853BD-789A-4818-BBE8-F1C28B0D272C}" presName="rect2" presStyleLbl="node1" presStyleIdx="1" presStyleCnt="3">
        <dgm:presLayoutVars>
          <dgm:bulletEnabled val="1"/>
        </dgm:presLayoutVars>
      </dgm:prSet>
      <dgm:spPr/>
    </dgm:pt>
    <dgm:pt modelId="{1BFEDD3C-6E20-456A-87F9-C3E7A66289EE}" type="pres">
      <dgm:prSet presAssocID="{28F853BD-789A-4818-BBE8-F1C28B0D272C}" presName="rect1" presStyleLbl="lnNode1" presStyleIdx="1" presStyleCnt="3"/>
      <dgm:spPr/>
    </dgm:pt>
    <dgm:pt modelId="{E543934B-2FE9-4F64-8B42-E7599D4EE9A9}" type="pres">
      <dgm:prSet presAssocID="{E19CECF7-4B14-4489-BEDA-31023BAABF56}" presName="sibTrans" presStyleCnt="0"/>
      <dgm:spPr/>
    </dgm:pt>
    <dgm:pt modelId="{BF08AAFF-AB93-492A-A09F-908CB218B27D}" type="pres">
      <dgm:prSet presAssocID="{88A27513-2E8E-4EBA-8FFF-E85BA5DC2E2D}" presName="comp" presStyleCnt="0"/>
      <dgm:spPr/>
    </dgm:pt>
    <dgm:pt modelId="{5B0E6344-295F-4646-AAC2-4E4A6F843E71}" type="pres">
      <dgm:prSet presAssocID="{88A27513-2E8E-4EBA-8FFF-E85BA5DC2E2D}" presName="rect2" presStyleLbl="node1" presStyleIdx="2" presStyleCnt="3">
        <dgm:presLayoutVars>
          <dgm:bulletEnabled val="1"/>
        </dgm:presLayoutVars>
      </dgm:prSet>
      <dgm:spPr/>
    </dgm:pt>
    <dgm:pt modelId="{7DDE5690-8B35-4E8F-9189-1C0AAC05B539}" type="pres">
      <dgm:prSet presAssocID="{88A27513-2E8E-4EBA-8FFF-E85BA5DC2E2D}" presName="rect1" presStyleLbl="lnNode1" presStyleIdx="2" presStyleCnt="3"/>
      <dgm:spPr/>
    </dgm:pt>
  </dgm:ptLst>
  <dgm:cxnLst>
    <dgm:cxn modelId="{BF885205-2A36-4B34-9EEA-2E51F9B748C2}" type="presOf" srcId="{88A27513-2E8E-4EBA-8FFF-E85BA5DC2E2D}" destId="{5B0E6344-295F-4646-AAC2-4E4A6F843E71}" srcOrd="0" destOrd="0" presId="urn:microsoft.com/office/officeart/2008/layout/AlternatingPictureBlocks"/>
    <dgm:cxn modelId="{D728CD1C-74F6-46B9-A71E-7CCB4D1A80B0}" type="presOf" srcId="{7ACCFD18-6FA1-4EEE-9850-02ADC45DF603}" destId="{867947E4-766C-450F-9AAE-29104AB3AFEF}" srcOrd="0" destOrd="0" presId="urn:microsoft.com/office/officeart/2008/layout/AlternatingPictureBlocks"/>
    <dgm:cxn modelId="{6296942C-BE66-4793-9E9B-2E2672B2889D}" srcId="{71139595-EEA3-438A-9434-0271A70495E9}" destId="{88A27513-2E8E-4EBA-8FFF-E85BA5DC2E2D}" srcOrd="2" destOrd="0" parTransId="{58B8D76F-17C6-48B1-A90E-BA4D2AAE106E}" sibTransId="{33F87164-55F0-4A69-A5BE-999626FFBB4B}"/>
    <dgm:cxn modelId="{C48DFF2C-5F81-4943-91B4-211AE0CA2327}" type="presOf" srcId="{28F853BD-789A-4818-BBE8-F1C28B0D272C}" destId="{8A7A8B85-B474-4D5F-837C-E2CE37E17A38}" srcOrd="0" destOrd="0" presId="urn:microsoft.com/office/officeart/2008/layout/AlternatingPictureBlocks"/>
    <dgm:cxn modelId="{33E17631-A69E-4B2F-BF4D-BC868EB91952}" srcId="{71139595-EEA3-438A-9434-0271A70495E9}" destId="{7ACCFD18-6FA1-4EEE-9850-02ADC45DF603}" srcOrd="0" destOrd="0" parTransId="{A58C8024-0287-4B7D-A229-83223B7421AB}" sibTransId="{ADD074D2-5ECA-49CB-B15F-1237E23028B6}"/>
    <dgm:cxn modelId="{B8C17395-1758-43A3-99DB-1DDD681D7C5F}" srcId="{71139595-EEA3-438A-9434-0271A70495E9}" destId="{28F853BD-789A-4818-BBE8-F1C28B0D272C}" srcOrd="1" destOrd="0" parTransId="{6374C38B-1E19-468E-BF12-744DAEB1A894}" sibTransId="{E19CECF7-4B14-4489-BEDA-31023BAABF56}"/>
    <dgm:cxn modelId="{8F99D5BF-857D-41BC-A3F8-EB77EB199AD7}" type="presOf" srcId="{71139595-EEA3-438A-9434-0271A70495E9}" destId="{181C9E76-6369-4604-AFD2-0181B962DADB}" srcOrd="0" destOrd="0" presId="urn:microsoft.com/office/officeart/2008/layout/AlternatingPictureBlocks"/>
    <dgm:cxn modelId="{26F2E73E-36C8-44BD-B26C-2D16799838AA}" type="presParOf" srcId="{181C9E76-6369-4604-AFD2-0181B962DADB}" destId="{0B937F22-31C7-46DA-97B0-91EE5DABBCCD}" srcOrd="0" destOrd="0" presId="urn:microsoft.com/office/officeart/2008/layout/AlternatingPictureBlocks"/>
    <dgm:cxn modelId="{7F37C524-01FE-4FE7-A549-8A972DDBCA05}" type="presParOf" srcId="{0B937F22-31C7-46DA-97B0-91EE5DABBCCD}" destId="{867947E4-766C-450F-9AAE-29104AB3AFEF}" srcOrd="0" destOrd="0" presId="urn:microsoft.com/office/officeart/2008/layout/AlternatingPictureBlocks"/>
    <dgm:cxn modelId="{ABD88FF3-59BC-4FDD-ABEB-246653B81545}" type="presParOf" srcId="{0B937F22-31C7-46DA-97B0-91EE5DABBCCD}" destId="{6CC7AF13-8F43-4B08-99EF-2D561987B548}" srcOrd="1" destOrd="0" presId="urn:microsoft.com/office/officeart/2008/layout/AlternatingPictureBlocks"/>
    <dgm:cxn modelId="{DA2E7695-F016-4A5D-B965-677C4887ED94}" type="presParOf" srcId="{181C9E76-6369-4604-AFD2-0181B962DADB}" destId="{8B91F92C-2578-46CF-971E-8D2ACE844BFA}" srcOrd="1" destOrd="0" presId="urn:microsoft.com/office/officeart/2008/layout/AlternatingPictureBlocks"/>
    <dgm:cxn modelId="{5C11890F-FD39-476A-8F0C-711A85E44A48}" type="presParOf" srcId="{181C9E76-6369-4604-AFD2-0181B962DADB}" destId="{695E486D-78BF-4AD1-810E-11D051593C67}" srcOrd="2" destOrd="0" presId="urn:microsoft.com/office/officeart/2008/layout/AlternatingPictureBlocks"/>
    <dgm:cxn modelId="{FCB607D6-3FC2-4A82-988D-875CCD4DBEC9}" type="presParOf" srcId="{695E486D-78BF-4AD1-810E-11D051593C67}" destId="{8A7A8B85-B474-4D5F-837C-E2CE37E17A38}" srcOrd="0" destOrd="0" presId="urn:microsoft.com/office/officeart/2008/layout/AlternatingPictureBlocks"/>
    <dgm:cxn modelId="{C7FAA3F2-1743-4961-B645-919AD12B4CBA}" type="presParOf" srcId="{695E486D-78BF-4AD1-810E-11D051593C67}" destId="{1BFEDD3C-6E20-456A-87F9-C3E7A66289EE}" srcOrd="1" destOrd="0" presId="urn:microsoft.com/office/officeart/2008/layout/AlternatingPictureBlocks"/>
    <dgm:cxn modelId="{EF4C5710-16D4-4996-9E85-F921CA33C9BE}" type="presParOf" srcId="{181C9E76-6369-4604-AFD2-0181B962DADB}" destId="{E543934B-2FE9-4F64-8B42-E7599D4EE9A9}" srcOrd="3" destOrd="0" presId="urn:microsoft.com/office/officeart/2008/layout/AlternatingPictureBlocks"/>
    <dgm:cxn modelId="{4B309BD4-A74E-45A8-B551-DE0D1C69A264}" type="presParOf" srcId="{181C9E76-6369-4604-AFD2-0181B962DADB}" destId="{BF08AAFF-AB93-492A-A09F-908CB218B27D}" srcOrd="4" destOrd="0" presId="urn:microsoft.com/office/officeart/2008/layout/AlternatingPictureBlocks"/>
    <dgm:cxn modelId="{F48E2B3C-8B19-4045-AB1B-745DE4EA050C}" type="presParOf" srcId="{BF08AAFF-AB93-492A-A09F-908CB218B27D}" destId="{5B0E6344-295F-4646-AAC2-4E4A6F843E71}" srcOrd="0" destOrd="0" presId="urn:microsoft.com/office/officeart/2008/layout/AlternatingPictureBlocks"/>
    <dgm:cxn modelId="{A1A56ACD-1E90-4588-A89F-4C21BBD82738}" type="presParOf" srcId="{BF08AAFF-AB93-492A-A09F-908CB218B27D}" destId="{7DDE5690-8B35-4E8F-9189-1C0AAC05B539}" srcOrd="1" destOrd="0" presId="urn:microsoft.com/office/officeart/2008/layout/AlternatingPictureBlock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825BA9-5ADC-42A9-A709-E25062DF1BDB}">
      <dsp:nvSpPr>
        <dsp:cNvPr id="0" name=""/>
        <dsp:cNvSpPr/>
      </dsp:nvSpPr>
      <dsp:spPr>
        <a:xfrm>
          <a:off x="3080" y="587032"/>
          <a:ext cx="2444055" cy="1466433"/>
        </a:xfrm>
        <a:prstGeom prst="rect">
          <a:avLst/>
        </a:prstGeom>
        <a:solidFill>
          <a:schemeClr val="bg1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kern="1200">
              <a:latin typeface="+mj-lt"/>
            </a:rPr>
            <a:t>Pengenalan</a:t>
          </a:r>
          <a:endParaRPr lang="en-US" sz="2400" b="0" kern="1200" dirty="0">
            <a:latin typeface="+mj-lt"/>
          </a:endParaRPr>
        </a:p>
      </dsp:txBody>
      <dsp:txXfrm>
        <a:off x="3080" y="587032"/>
        <a:ext cx="2444055" cy="1466433"/>
      </dsp:txXfrm>
    </dsp:sp>
    <dsp:sp modelId="{B251FA1D-86F0-4B3C-851F-D35E46B37A8C}">
      <dsp:nvSpPr>
        <dsp:cNvPr id="0" name=""/>
        <dsp:cNvSpPr/>
      </dsp:nvSpPr>
      <dsp:spPr>
        <a:xfrm>
          <a:off x="2691541" y="587032"/>
          <a:ext cx="2444055" cy="1466433"/>
        </a:xfrm>
        <a:prstGeom prst="rect">
          <a:avLst/>
        </a:prstGeom>
        <a:solidFill>
          <a:schemeClr val="bg1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kern="1200" dirty="0" err="1">
              <a:solidFill>
                <a:schemeClr val="bg1"/>
              </a:solidFill>
              <a:latin typeface="+mj-lt"/>
            </a:rPr>
            <a:t>Pencarian</a:t>
          </a:r>
          <a:endParaRPr lang="en-US" sz="2400" b="0" kern="1200" dirty="0">
            <a:solidFill>
              <a:schemeClr val="bg1"/>
            </a:solidFill>
            <a:latin typeface="+mj-lt"/>
          </a:endParaRPr>
        </a:p>
      </dsp:txBody>
      <dsp:txXfrm>
        <a:off x="2691541" y="587032"/>
        <a:ext cx="2444055" cy="1466433"/>
      </dsp:txXfrm>
    </dsp:sp>
    <dsp:sp modelId="{923FFBA6-B247-41A7-96C0-C3B8AAA992DE}">
      <dsp:nvSpPr>
        <dsp:cNvPr id="0" name=""/>
        <dsp:cNvSpPr/>
      </dsp:nvSpPr>
      <dsp:spPr>
        <a:xfrm>
          <a:off x="5380002" y="587032"/>
          <a:ext cx="2444055" cy="1466433"/>
        </a:xfrm>
        <a:prstGeom prst="rect">
          <a:avLst/>
        </a:prstGeom>
        <a:solidFill>
          <a:schemeClr val="bg1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kern="1200" dirty="0" err="1">
              <a:solidFill>
                <a:schemeClr val="bg1"/>
              </a:solidFill>
              <a:latin typeface="+mj-lt"/>
            </a:rPr>
            <a:t>Representasi</a:t>
          </a:r>
          <a:r>
            <a:rPr lang="en-US" sz="2400" b="0" kern="1200" dirty="0">
              <a:solidFill>
                <a:schemeClr val="bg1"/>
              </a:solidFill>
              <a:latin typeface="+mj-lt"/>
            </a:rPr>
            <a:t> </a:t>
          </a:r>
          <a:r>
            <a:rPr lang="en-US" sz="2400" b="0" kern="1200" dirty="0" err="1">
              <a:solidFill>
                <a:schemeClr val="bg1"/>
              </a:solidFill>
              <a:latin typeface="+mj-lt"/>
            </a:rPr>
            <a:t>Pengetahuan</a:t>
          </a:r>
          <a:endParaRPr lang="en-US" sz="2400" b="0" kern="1200" dirty="0">
            <a:solidFill>
              <a:schemeClr val="bg1"/>
            </a:solidFill>
            <a:latin typeface="+mj-lt"/>
          </a:endParaRPr>
        </a:p>
      </dsp:txBody>
      <dsp:txXfrm>
        <a:off x="5380002" y="587032"/>
        <a:ext cx="2444055" cy="1466433"/>
      </dsp:txXfrm>
    </dsp:sp>
    <dsp:sp modelId="{AE6FC315-28AE-4C4C-96CC-B9CB6268CCEF}">
      <dsp:nvSpPr>
        <dsp:cNvPr id="0" name=""/>
        <dsp:cNvSpPr/>
      </dsp:nvSpPr>
      <dsp:spPr>
        <a:xfrm>
          <a:off x="8068463" y="587032"/>
          <a:ext cx="2444055" cy="1466433"/>
        </a:xfrm>
        <a:prstGeom prst="rect">
          <a:avLst/>
        </a:prstGeom>
        <a:solidFill>
          <a:schemeClr val="bg1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b="0" kern="1200">
              <a:solidFill>
                <a:schemeClr val="bg1"/>
              </a:solidFill>
              <a:latin typeface="+mj-lt"/>
            </a:rPr>
            <a:t>Perencanaan</a:t>
          </a:r>
          <a:endParaRPr lang="en-US" sz="2400" b="0" kern="1200" dirty="0">
            <a:solidFill>
              <a:schemeClr val="bg1"/>
            </a:solidFill>
            <a:latin typeface="+mj-lt"/>
          </a:endParaRPr>
        </a:p>
      </dsp:txBody>
      <dsp:txXfrm>
        <a:off x="8068463" y="587032"/>
        <a:ext cx="2444055" cy="1466433"/>
      </dsp:txXfrm>
    </dsp:sp>
    <dsp:sp modelId="{8644CCDC-2E0E-48EE-81C4-C334BB1D539D}">
      <dsp:nvSpPr>
        <dsp:cNvPr id="0" name=""/>
        <dsp:cNvSpPr/>
      </dsp:nvSpPr>
      <dsp:spPr>
        <a:xfrm>
          <a:off x="3080" y="2297871"/>
          <a:ext cx="2444055" cy="1466433"/>
        </a:xfrm>
        <a:prstGeom prst="rect">
          <a:avLst/>
        </a:prstGeom>
        <a:solidFill>
          <a:schemeClr val="bg1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kern="1200" dirty="0" err="1">
              <a:solidFill>
                <a:schemeClr val="bg1"/>
              </a:solidFill>
              <a:latin typeface="+mj-lt"/>
            </a:rPr>
            <a:t>Sistem</a:t>
          </a:r>
          <a:r>
            <a:rPr lang="en-US" sz="2400" b="0" kern="1200" dirty="0">
              <a:solidFill>
                <a:schemeClr val="bg1"/>
              </a:solidFill>
              <a:latin typeface="+mj-lt"/>
            </a:rPr>
            <a:t> </a:t>
          </a:r>
          <a:r>
            <a:rPr lang="en-US" sz="2400" b="0" kern="1200" dirty="0" err="1">
              <a:solidFill>
                <a:schemeClr val="bg1"/>
              </a:solidFill>
              <a:latin typeface="+mj-lt"/>
            </a:rPr>
            <a:t>Pakar</a:t>
          </a:r>
          <a:endParaRPr lang="en-US" sz="2400" b="0" kern="1200" dirty="0">
            <a:solidFill>
              <a:schemeClr val="bg1"/>
            </a:solidFill>
            <a:latin typeface="+mj-lt"/>
          </a:endParaRPr>
        </a:p>
      </dsp:txBody>
      <dsp:txXfrm>
        <a:off x="3080" y="2297871"/>
        <a:ext cx="2444055" cy="1466433"/>
      </dsp:txXfrm>
    </dsp:sp>
    <dsp:sp modelId="{B1CFA658-C34B-4E09-8AA7-9E2AE3EC15A5}">
      <dsp:nvSpPr>
        <dsp:cNvPr id="0" name=""/>
        <dsp:cNvSpPr/>
      </dsp:nvSpPr>
      <dsp:spPr>
        <a:xfrm>
          <a:off x="2691541" y="2297871"/>
          <a:ext cx="2444055" cy="1466433"/>
        </a:xfrm>
        <a:prstGeom prst="rect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kern="1200" dirty="0" err="1">
              <a:solidFill>
                <a:schemeClr val="bg1"/>
              </a:solidFill>
              <a:latin typeface="+mj-lt"/>
            </a:rPr>
            <a:t>Logika</a:t>
          </a:r>
          <a:r>
            <a:rPr lang="en-US" sz="2400" b="0" kern="1200" dirty="0">
              <a:solidFill>
                <a:schemeClr val="bg1"/>
              </a:solidFill>
              <a:latin typeface="+mj-lt"/>
            </a:rPr>
            <a:t> dan </a:t>
          </a:r>
          <a:r>
            <a:rPr lang="en-US" sz="2400" b="0" kern="1200" err="1">
              <a:solidFill>
                <a:schemeClr val="bg1"/>
              </a:solidFill>
              <a:latin typeface="+mj-lt"/>
            </a:rPr>
            <a:t>Sistem</a:t>
          </a:r>
          <a:r>
            <a:rPr lang="en-US" sz="2400" b="0" kern="1200">
              <a:solidFill>
                <a:schemeClr val="bg1"/>
              </a:solidFill>
              <a:latin typeface="+mj-lt"/>
            </a:rPr>
            <a:t> Fuzzy</a:t>
          </a:r>
          <a:endParaRPr lang="en-US" sz="2400" b="0" kern="1200" dirty="0">
            <a:solidFill>
              <a:schemeClr val="bg1"/>
            </a:solidFill>
            <a:latin typeface="+mj-lt"/>
          </a:endParaRPr>
        </a:p>
      </dsp:txBody>
      <dsp:txXfrm>
        <a:off x="2691541" y="2297871"/>
        <a:ext cx="2444055" cy="1466433"/>
      </dsp:txXfrm>
    </dsp:sp>
    <dsp:sp modelId="{4335631D-BF32-45E1-A2B4-4416CE6ADB3E}">
      <dsp:nvSpPr>
        <dsp:cNvPr id="0" name=""/>
        <dsp:cNvSpPr/>
      </dsp:nvSpPr>
      <dsp:spPr>
        <a:xfrm>
          <a:off x="5380002" y="2297871"/>
          <a:ext cx="2444055" cy="1466433"/>
        </a:xfrm>
        <a:prstGeom prst="rect">
          <a:avLst/>
        </a:prstGeom>
        <a:solidFill>
          <a:schemeClr val="bg1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kern="1200">
              <a:latin typeface="+mj-lt"/>
            </a:rPr>
            <a:t>Jaringan Saraf Tiruan</a:t>
          </a:r>
          <a:endParaRPr lang="en-US" sz="2400" b="0" kern="1200" dirty="0">
            <a:latin typeface="+mj-lt"/>
          </a:endParaRPr>
        </a:p>
      </dsp:txBody>
      <dsp:txXfrm>
        <a:off x="5380002" y="2297871"/>
        <a:ext cx="2444055" cy="1466433"/>
      </dsp:txXfrm>
    </dsp:sp>
    <dsp:sp modelId="{101A7CE7-F4C6-42BE-BB14-D6F21D32754D}">
      <dsp:nvSpPr>
        <dsp:cNvPr id="0" name=""/>
        <dsp:cNvSpPr/>
      </dsp:nvSpPr>
      <dsp:spPr>
        <a:xfrm>
          <a:off x="8068463" y="2297871"/>
          <a:ext cx="2444055" cy="1466433"/>
        </a:xfrm>
        <a:prstGeom prst="rect">
          <a:avLst/>
        </a:prstGeom>
        <a:solidFill>
          <a:schemeClr val="bg1">
            <a:lumMod val="75000"/>
          </a:scheme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kern="1200" dirty="0" err="1">
              <a:solidFill>
                <a:prstClr val="white"/>
              </a:solidFill>
              <a:latin typeface="Franklin Gothic Demi Cond"/>
              <a:ea typeface="+mn-ea"/>
              <a:cs typeface="+mn-cs"/>
            </a:rPr>
            <a:t>Algoritma</a:t>
          </a:r>
          <a:r>
            <a:rPr lang="en-US" sz="2400" b="0" kern="1200" dirty="0">
              <a:solidFill>
                <a:prstClr val="white"/>
              </a:solidFill>
              <a:latin typeface="Franklin Gothic Demi Cond"/>
              <a:ea typeface="+mn-ea"/>
              <a:cs typeface="+mn-cs"/>
            </a:rPr>
            <a:t> </a:t>
          </a:r>
          <a:r>
            <a:rPr lang="en-US" sz="2400" b="0" kern="1200" dirty="0" err="1">
              <a:solidFill>
                <a:prstClr val="white"/>
              </a:solidFill>
              <a:latin typeface="Franklin Gothic Demi Cond"/>
              <a:ea typeface="+mn-ea"/>
              <a:cs typeface="+mn-cs"/>
            </a:rPr>
            <a:t>Genetika</a:t>
          </a:r>
          <a:endParaRPr lang="en-US" sz="2400" b="0" kern="1200" dirty="0">
            <a:solidFill>
              <a:prstClr val="white"/>
            </a:solidFill>
            <a:latin typeface="Franklin Gothic Demi Cond"/>
            <a:ea typeface="+mn-ea"/>
            <a:cs typeface="+mn-cs"/>
          </a:endParaRPr>
        </a:p>
      </dsp:txBody>
      <dsp:txXfrm>
        <a:off x="8068463" y="2297871"/>
        <a:ext cx="2444055" cy="146643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7947E4-766C-450F-9AAE-29104AB3AFEF}">
      <dsp:nvSpPr>
        <dsp:cNvPr id="0" name=""/>
        <dsp:cNvSpPr/>
      </dsp:nvSpPr>
      <dsp:spPr>
        <a:xfrm>
          <a:off x="4754094" y="2248"/>
          <a:ext cx="2886146" cy="1305357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/>
            <a:t>Tsukamoto</a:t>
          </a:r>
        </a:p>
      </dsp:txBody>
      <dsp:txXfrm>
        <a:off x="4754094" y="2248"/>
        <a:ext cx="2886146" cy="1305357"/>
      </dsp:txXfrm>
    </dsp:sp>
    <dsp:sp modelId="{6CC7AF13-8F43-4B08-99EF-2D561987B548}">
      <dsp:nvSpPr>
        <dsp:cNvPr id="0" name=""/>
        <dsp:cNvSpPr/>
      </dsp:nvSpPr>
      <dsp:spPr>
        <a:xfrm>
          <a:off x="3332559" y="2248"/>
          <a:ext cx="1292304" cy="1305357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7A8B85-B474-4D5F-837C-E2CE37E17A38}">
      <dsp:nvSpPr>
        <dsp:cNvPr id="0" name=""/>
        <dsp:cNvSpPr/>
      </dsp:nvSpPr>
      <dsp:spPr>
        <a:xfrm>
          <a:off x="3332559" y="1522990"/>
          <a:ext cx="2886146" cy="1305357"/>
        </a:xfrm>
        <a:prstGeom prst="rect">
          <a:avLst/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/>
            <a:t>Mamdani</a:t>
          </a:r>
        </a:p>
      </dsp:txBody>
      <dsp:txXfrm>
        <a:off x="3332559" y="1522990"/>
        <a:ext cx="2886146" cy="1305357"/>
      </dsp:txXfrm>
    </dsp:sp>
    <dsp:sp modelId="{1BFEDD3C-6E20-456A-87F9-C3E7A66289EE}">
      <dsp:nvSpPr>
        <dsp:cNvPr id="0" name=""/>
        <dsp:cNvSpPr/>
      </dsp:nvSpPr>
      <dsp:spPr>
        <a:xfrm>
          <a:off x="6347936" y="1522990"/>
          <a:ext cx="1292304" cy="1305357"/>
        </a:xfrm>
        <a:prstGeom prst="rect">
          <a:avLst/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0E6344-295F-4646-AAC2-4E4A6F843E71}">
      <dsp:nvSpPr>
        <dsp:cNvPr id="0" name=""/>
        <dsp:cNvSpPr/>
      </dsp:nvSpPr>
      <dsp:spPr>
        <a:xfrm>
          <a:off x="4754094" y="3043732"/>
          <a:ext cx="2886146" cy="1305357"/>
        </a:xfrm>
        <a:prstGeom prst="rect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 err="1"/>
            <a:t>Sugeno</a:t>
          </a:r>
          <a:endParaRPr lang="en-US" sz="4200" kern="1200" dirty="0"/>
        </a:p>
      </dsp:txBody>
      <dsp:txXfrm>
        <a:off x="4754094" y="3043732"/>
        <a:ext cx="2886146" cy="1305357"/>
      </dsp:txXfrm>
    </dsp:sp>
    <dsp:sp modelId="{7DDE5690-8B35-4E8F-9189-1C0AAC05B539}">
      <dsp:nvSpPr>
        <dsp:cNvPr id="0" name=""/>
        <dsp:cNvSpPr/>
      </dsp:nvSpPr>
      <dsp:spPr>
        <a:xfrm>
          <a:off x="3332559" y="3043732"/>
          <a:ext cx="1292304" cy="1305357"/>
        </a:xfrm>
        <a:prstGeom prst="rect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AlternatingPictureBlocks">
  <dgm:title val=""/>
  <dgm:desc val=""/>
  <dgm:catLst>
    <dgm:cat type="picture" pri="15000"/>
    <dgm:cat type="pictureconvert" pri="15000"/>
    <dgm:cat type="list" pri="13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ch" forName="comp" refType="w"/>
      <dgm:constr type="h" for="ch" forName="comp" refType="h"/>
      <dgm:constr type="h" for="ch" forName="sibTrans" refType="w" refFor="ch" refForName="comp" op="equ" fact="0.05"/>
    </dgm:constrLst>
    <dgm:ruleLst/>
    <dgm:forEach name="Name0" axis="ch" ptType="node">
      <dgm:layoutNode name="comp" styleLbl="node1">
        <dgm:alg type="composite">
          <dgm:param type="ar" val="3.30"/>
        </dgm:alg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hoose name="Name4">
              <dgm:if name="Name5" axis="desOrSelf" ptType="node" func="posOdd" op="equ" val="1">
                <dgm:constrLst>
                  <dgm:constr type="l" for="ch" forName="rect1" refType="w" fact="0"/>
                  <dgm:constr type="t" for="ch" forName="rect1" refType="h" fact="0"/>
                  <dgm:constr type="w" for="ch" forName="rect1" refType="w" fact="0.3"/>
                  <dgm:constr type="h" for="ch" forName="rect1" refType="h"/>
                  <dgm:constr type="l" for="ch" forName="rect2" refType="w" fact="0.33"/>
                  <dgm:constr type="t" for="ch" forName="rect2" refType="h" fact="0"/>
                  <dgm:constr type="w" for="ch" forName="rect2" refType="w" fact="0.67"/>
                  <dgm:constr type="h" for="ch" forName="rect2" refType="h"/>
                </dgm:constrLst>
              </dgm:if>
              <dgm:else name="Name6">
                <dgm:constrLst>
                  <dgm:constr type="l" for="ch" forName="rect1" refType="w" fact="0.7"/>
                  <dgm:constr type="t" for="ch" forName="rect1" refType="h" fact="0"/>
                  <dgm:constr type="w" for="ch" forName="rect1" refType="w" fact="0.3"/>
                  <dgm:constr type="h" for="ch" forName="rect1" refType="h"/>
                  <dgm:constr type="l" for="ch" forName="rect2" refType="w" fact="0"/>
                  <dgm:constr type="t" for="ch" forName="rect2" refType="h" fact="0"/>
                  <dgm:constr type="w" for="ch" forName="rect2" refType="w" fact="0.67"/>
                  <dgm:constr type="h" for="ch" forName="rect2" refType="h"/>
                </dgm:constrLst>
              </dgm:else>
            </dgm:choose>
          </dgm:if>
          <dgm:else name="Name3">
            <dgm:choose name="Name7">
              <dgm:if name="Name8" axis="desOrSelf" ptType="node" func="posOdd" op="equ" val="1">
                <dgm:constrLst>
                  <dgm:constr type="l" for="ch" forName="rect1" refType="w" fact="0.7"/>
                  <dgm:constr type="t" for="ch" forName="rect1" refType="h" fact="0"/>
                  <dgm:constr type="w" for="ch" forName="rect1" refType="w" fact="0.3"/>
                  <dgm:constr type="h" for="ch" forName="rect1" refType="h"/>
                  <dgm:constr type="l" for="ch" forName="rect2" refType="w" fact="0"/>
                  <dgm:constr type="t" for="ch" forName="rect2" refType="h" fact="0"/>
                  <dgm:constr type="w" for="ch" forName="rect2" refType="w" fact="0.67"/>
                  <dgm:constr type="h" for="ch" forName="rect2" refType="h"/>
                </dgm:constrLst>
              </dgm:if>
              <dgm:else name="Name9">
                <dgm:constrLst>
                  <dgm:constr type="l" for="ch" forName="rect1" refType="w" fact="0"/>
                  <dgm:constr type="t" for="ch" forName="rect1" refType="h" fact="0"/>
                  <dgm:constr type="w" for="ch" forName="rect1" refType="w" fact="0.3"/>
                  <dgm:constr type="h" for="ch" forName="rect1" refType="h"/>
                  <dgm:constr type="l" for="ch" forName="rect2" refType="w" fact="0.33"/>
                  <dgm:constr type="t" for="ch" forName="rect2" refType="h" fact="0"/>
                  <dgm:constr type="w" for="ch" forName="rect2" refType="w" fact="0.67"/>
                  <dgm:constr type="h" for="ch" forName="rect2" refType="h"/>
                </dgm:constrLst>
              </dgm:else>
            </dgm:choose>
          </dgm:else>
        </dgm:choose>
        <dgm:ruleLst/>
        <dgm:layoutNode name="rect2" styleLbl="node1">
          <dgm:varLst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rect1" styleLbl="lnNod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6E1F457-243C-F374-0CB3-64DA513B043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6F6A56-5210-7BE0-6119-24C4CBB066D4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0941B61F-D08D-48BB-ADF7-E3FF6537429A}" type="datetimeFigureOut">
              <a:rPr lang="en-US"/>
              <a:pPr>
                <a:defRPr/>
              </a:pPr>
              <a:t>12/4/2025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98A8D139-9F07-A5B7-0568-6805BAE9B8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0524F5DD-A3FD-C9B4-2A2F-89FFDE1C05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CDB045-DB78-71D5-467B-2F27183DFA6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4BF5FD-93B8-778C-499F-B4EE433C58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29E0C055-7360-4BB2-B596-3D20096EBE7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>
            <a:extLst>
              <a:ext uri="{FF2B5EF4-FFF2-40B4-BE49-F238E27FC236}">
                <a16:creationId xmlns:a16="http://schemas.microsoft.com/office/drawing/2014/main" id="{642D0428-6ADC-3105-B7E6-BE875E9AE0E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217488" y="812800"/>
            <a:ext cx="7119937" cy="4005263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7" name="Notes Placeholder 2">
            <a:extLst>
              <a:ext uri="{FF2B5EF4-FFF2-40B4-BE49-F238E27FC236}">
                <a16:creationId xmlns:a16="http://schemas.microsoft.com/office/drawing/2014/main" id="{9E781B48-6346-2637-F504-5E8AD31594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1508" name="Slide Number Placeholder 3">
            <a:extLst>
              <a:ext uri="{FF2B5EF4-FFF2-40B4-BE49-F238E27FC236}">
                <a16:creationId xmlns:a16="http://schemas.microsoft.com/office/drawing/2014/main" id="{55453E19-E42B-2DC6-2771-24A139B3792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defTabSz="45720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1pPr>
            <a:lvl2pPr marL="742950" indent="-285750" defTabSz="45720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2pPr>
            <a:lvl3pPr marL="1143000" indent="-228600" defTabSz="45720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3pPr>
            <a:lvl4pPr marL="1600200" indent="-228600" defTabSz="45720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4pPr>
            <a:lvl5pPr marL="2057400" indent="-228600" defTabSz="45720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9pPr>
          </a:lstStyle>
          <a:p>
            <a:pPr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SzPct val="100000"/>
            </a:pPr>
            <a:fld id="{F33B0232-1776-403D-9490-294F3A95CECD}" type="slidenum">
              <a:rPr lang="en-US" altLang="en-US" sz="1400" smtClean="0">
                <a:solidFill>
                  <a:srgbClr val="000000"/>
                </a:solidFill>
                <a:latin typeface="Times New Roman" panose="02020603050405020304" pitchFamily="18" charset="0"/>
              </a:rPr>
              <a:pPr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SzPct val="100000"/>
              </a:pPr>
              <a:t>1</a:t>
            </a:fld>
            <a:endParaRPr lang="en-US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>
            <a:extLst>
              <a:ext uri="{FF2B5EF4-FFF2-40B4-BE49-F238E27FC236}">
                <a16:creationId xmlns:a16="http://schemas.microsoft.com/office/drawing/2014/main" id="{24F39F6C-EBDC-310D-7588-E5ACB317FC5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217488" y="812800"/>
            <a:ext cx="7119937" cy="4005263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Notes Placeholder 2">
            <a:extLst>
              <a:ext uri="{FF2B5EF4-FFF2-40B4-BE49-F238E27FC236}">
                <a16:creationId xmlns:a16="http://schemas.microsoft.com/office/drawing/2014/main" id="{6BC1ED31-C317-6F3F-9B28-4BC9511CD7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z="180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rPr>
              <a:t>Perkuliahan dilaksanakan selama 16 kali pertemuan dengan setiap pekan terdiri atas perkuliahan tatap muka selama 2x50 menit, tugas-tugas terstruktur dengan waktu 120 menit, dan tugas mandiri dengan waktu 120 menit. 	</a:t>
            </a:r>
          </a:p>
        </p:txBody>
      </p:sp>
      <p:sp>
        <p:nvSpPr>
          <p:cNvPr id="24580" name="Slide Number Placeholder 3">
            <a:extLst>
              <a:ext uri="{FF2B5EF4-FFF2-40B4-BE49-F238E27FC236}">
                <a16:creationId xmlns:a16="http://schemas.microsoft.com/office/drawing/2014/main" id="{45D38EC2-8E28-BC3D-2AE6-13FCAE92136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defTabSz="45720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1pPr>
            <a:lvl2pPr marL="742950" indent="-285750" defTabSz="45720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2pPr>
            <a:lvl3pPr marL="1143000" indent="-228600" defTabSz="45720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3pPr>
            <a:lvl4pPr marL="1600200" indent="-228600" defTabSz="45720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4pPr>
            <a:lvl5pPr marL="2057400" indent="-228600" defTabSz="45720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9pPr>
          </a:lstStyle>
          <a:p>
            <a:pPr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SzPct val="100000"/>
            </a:pPr>
            <a:fld id="{5CEAC029-D4C5-4739-9499-9FEA92823ECE}" type="slidenum">
              <a:rPr lang="en-US" altLang="en-US" sz="1400" smtClean="0">
                <a:solidFill>
                  <a:srgbClr val="000000"/>
                </a:solidFill>
                <a:latin typeface="Times New Roman" panose="02020603050405020304" pitchFamily="18" charset="0"/>
              </a:rPr>
              <a:pPr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SzPct val="100000"/>
              </a:pPr>
              <a:t>3</a:t>
            </a:fld>
            <a:endParaRPr lang="en-US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>
            <a:extLst>
              <a:ext uri="{FF2B5EF4-FFF2-40B4-BE49-F238E27FC236}">
                <a16:creationId xmlns:a16="http://schemas.microsoft.com/office/drawing/2014/main" id="{F8E372B5-581C-0724-5C83-2438426B6EE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Notes Placeholder 2">
            <a:extLst>
              <a:ext uri="{FF2B5EF4-FFF2-40B4-BE49-F238E27FC236}">
                <a16:creationId xmlns:a16="http://schemas.microsoft.com/office/drawing/2014/main" id="{EC7978F5-CDFA-D441-A7D3-A97C9BFFF4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3006A5-1CD3-C970-1D78-0F3B0DE218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7CC1180-5B0F-44CE-8259-CD87FD133D21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>
            <a:extLst>
              <a:ext uri="{FF2B5EF4-FFF2-40B4-BE49-F238E27FC236}">
                <a16:creationId xmlns:a16="http://schemas.microsoft.com/office/drawing/2014/main" id="{D15F5990-FA7E-ECE0-844A-C7181E9F7C9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Notes Placeholder 2">
            <a:extLst>
              <a:ext uri="{FF2B5EF4-FFF2-40B4-BE49-F238E27FC236}">
                <a16:creationId xmlns:a16="http://schemas.microsoft.com/office/drawing/2014/main" id="{39E50163-0DD5-ACD5-00DB-0F209CB53F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F3025B-4744-FC07-559B-50F56AAAFD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6E3B85E-F8F5-4661-9235-7163B9C6E9FF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7B02E2E-5933-84C2-7DF2-101C28C72B35}"/>
              </a:ext>
            </a:extLst>
          </p:cNvPr>
          <p:cNvSpPr/>
          <p:nvPr/>
        </p:nvSpPr>
        <p:spPr>
          <a:xfrm>
            <a:off x="-23813" y="1457325"/>
            <a:ext cx="12239626" cy="5400675"/>
          </a:xfrm>
          <a:prstGeom prst="rect">
            <a:avLst/>
          </a:prstGeom>
          <a:solidFill>
            <a:srgbClr val="AD2F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1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59F4ED-B784-8ADC-B15E-8DF8D22B320F}"/>
              </a:ext>
            </a:extLst>
          </p:cNvPr>
          <p:cNvSpPr txBox="1"/>
          <p:nvPr/>
        </p:nvSpPr>
        <p:spPr>
          <a:xfrm>
            <a:off x="1149350" y="328613"/>
            <a:ext cx="5167313" cy="901700"/>
          </a:xfrm>
          <a:prstGeom prst="rect">
            <a:avLst/>
          </a:prstGeom>
        </p:spPr>
        <p:txBody>
          <a:bodyPr lIns="68580" tIns="34290" rIns="68580" bIns="34290" anchor="ctr">
            <a:normAutofit/>
          </a:bodyPr>
          <a:lstStyle>
            <a:lvl1pPr indent="0"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b="1" dirty="0">
                <a:solidFill>
                  <a:srgbClr val="535253"/>
                </a:solidFill>
                <a:latin typeface="Bahnschrift SemiBold Condensed" panose="020B0502040204020203" pitchFamily="34" charset="0"/>
              </a:rPr>
              <a:t>Program </a:t>
            </a:r>
            <a:r>
              <a:rPr lang="en-US" sz="1800" b="1" dirty="0" err="1">
                <a:solidFill>
                  <a:srgbClr val="535253"/>
                </a:solidFill>
                <a:latin typeface="Bahnschrift SemiBold Condensed" panose="020B0502040204020203" pitchFamily="34" charset="0"/>
              </a:rPr>
              <a:t>Studi</a:t>
            </a:r>
            <a:r>
              <a:rPr lang="en-US" sz="1800" b="1" dirty="0">
                <a:solidFill>
                  <a:srgbClr val="535253"/>
                </a:solidFill>
                <a:latin typeface="Bahnschrift SemiBold Condensed" panose="020B0502040204020203" pitchFamily="34" charset="0"/>
              </a:rPr>
              <a:t> Sains Data </a:t>
            </a:r>
          </a:p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b="1" dirty="0" err="1">
                <a:solidFill>
                  <a:srgbClr val="AF1016"/>
                </a:solidFill>
                <a:latin typeface="Bahnschrift SemiBold Condensed" panose="020B0502040204020203" pitchFamily="34" charset="0"/>
              </a:rPr>
              <a:t>Fakultas</a:t>
            </a:r>
            <a:r>
              <a:rPr lang="en-US" sz="1800" b="1" dirty="0">
                <a:solidFill>
                  <a:srgbClr val="AF1016"/>
                </a:solidFill>
                <a:latin typeface="Bahnschrift SemiBold Condensed" panose="020B0502040204020203" pitchFamily="34" charset="0"/>
              </a:rPr>
              <a:t> </a:t>
            </a:r>
            <a:r>
              <a:rPr lang="en-US" sz="1800" b="1" dirty="0" err="1">
                <a:solidFill>
                  <a:srgbClr val="AF1016"/>
                </a:solidFill>
                <a:latin typeface="Bahnschrift SemiBold Condensed" panose="020B0502040204020203" pitchFamily="34" charset="0"/>
              </a:rPr>
              <a:t>Teknologi</a:t>
            </a:r>
            <a:r>
              <a:rPr lang="en-US" sz="1800" b="1" dirty="0">
                <a:solidFill>
                  <a:srgbClr val="AF1016"/>
                </a:solidFill>
                <a:latin typeface="Bahnschrift SemiBold Condensed" panose="020B0502040204020203" pitchFamily="34" charset="0"/>
              </a:rPr>
              <a:t> </a:t>
            </a:r>
            <a:r>
              <a:rPr lang="en-US" sz="1800" b="1" dirty="0" err="1">
                <a:solidFill>
                  <a:srgbClr val="AF1016"/>
                </a:solidFill>
                <a:latin typeface="Bahnschrift SemiBold Condensed" panose="020B0502040204020203" pitchFamily="34" charset="0"/>
              </a:rPr>
              <a:t>Informasi</a:t>
            </a:r>
            <a:r>
              <a:rPr lang="en-US" sz="1800" b="1" dirty="0">
                <a:solidFill>
                  <a:srgbClr val="AF1016"/>
                </a:solidFill>
                <a:latin typeface="Bahnschrift SemiBold Condensed" panose="020B0502040204020203" pitchFamily="34" charset="0"/>
              </a:rPr>
              <a:t> dan </a:t>
            </a:r>
            <a:r>
              <a:rPr lang="en-US" sz="1800" b="1" dirty="0" err="1">
                <a:solidFill>
                  <a:srgbClr val="AF1016"/>
                </a:solidFill>
                <a:latin typeface="Bahnschrift SemiBold Condensed" panose="020B0502040204020203" pitchFamily="34" charset="0"/>
              </a:rPr>
              <a:t>Bisnis</a:t>
            </a:r>
            <a:endParaRPr lang="en-US" sz="1800" b="1" dirty="0">
              <a:solidFill>
                <a:srgbClr val="AF1016"/>
              </a:solidFill>
              <a:latin typeface="Bahnschrift SemiBold Condensed" panose="020B0502040204020203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7FE3C3D-BFFB-1566-2198-D73DBD601BA3}"/>
              </a:ext>
            </a:extLst>
          </p:cNvPr>
          <p:cNvCxnSpPr/>
          <p:nvPr/>
        </p:nvCxnSpPr>
        <p:spPr>
          <a:xfrm>
            <a:off x="1079500" y="328613"/>
            <a:ext cx="0" cy="901700"/>
          </a:xfrm>
          <a:prstGeom prst="line">
            <a:avLst/>
          </a:prstGeom>
          <a:ln w="28575">
            <a:solidFill>
              <a:srgbClr val="AF101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11" descr="Logo&#10;&#10;Description automatically generated">
            <a:extLst>
              <a:ext uri="{FF2B5EF4-FFF2-40B4-BE49-F238E27FC236}">
                <a16:creationId xmlns:a16="http://schemas.microsoft.com/office/drawing/2014/main" id="{6B96E0B3-12B3-8C55-88E5-AE596E88EA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66" r="22664" b="1096"/>
          <a:stretch>
            <a:fillRect/>
          </a:stretch>
        </p:blipFill>
        <p:spPr bwMode="auto">
          <a:xfrm>
            <a:off x="182563" y="109538"/>
            <a:ext cx="703262" cy="126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EAE39453-C689-996F-9DB1-E0AEC2EF0BE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20000"/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22167" t="8387" r="22664" b="24310"/>
          <a:stretch/>
        </p:blipFill>
        <p:spPr>
          <a:xfrm>
            <a:off x="7614832" y="1468904"/>
            <a:ext cx="4417512" cy="538909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985542"/>
            <a:ext cx="9144000" cy="2160000"/>
          </a:xfrm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anchor="b"/>
          <a:lstStyle>
            <a:lvl1pPr algn="r">
              <a:defRPr sz="4500">
                <a:solidFill>
                  <a:srgbClr val="F2F2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346708"/>
            <a:ext cx="9144000" cy="1260000"/>
          </a:xfrm>
        </p:spPr>
        <p:txBody>
          <a:bodyPr/>
          <a:lstStyle>
            <a:lvl1pPr marL="0" indent="0" algn="r">
              <a:buNone/>
              <a:defRPr sz="1800">
                <a:solidFill>
                  <a:srgbClr val="F2F2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Footer Placeholder 17">
            <a:extLst>
              <a:ext uri="{FF2B5EF4-FFF2-40B4-BE49-F238E27FC236}">
                <a16:creationId xmlns:a16="http://schemas.microsoft.com/office/drawing/2014/main" id="{ED18F629-6236-59B3-3C09-C758299519D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-23813" y="6356350"/>
            <a:ext cx="12239626" cy="365125"/>
          </a:xfrm>
          <a:prstGeom prst="rect">
            <a:avLst/>
          </a:prstGeom>
        </p:spPr>
        <p:txBody>
          <a:bodyPr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b="0">
                <a:solidFill>
                  <a:srgbClr val="B0B0B0"/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22">
            <a:extLst>
              <a:ext uri="{FF2B5EF4-FFF2-40B4-BE49-F238E27FC236}">
                <a16:creationId xmlns:a16="http://schemas.microsoft.com/office/drawing/2014/main" id="{39B33D7B-9C8F-0525-D628-62453F7A26B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F4EEE3-1A7F-4244-AC17-F2B8F92AB07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837551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CEBC812-13C0-3D1D-B00B-162987AFB052}"/>
              </a:ext>
            </a:extLst>
          </p:cNvPr>
          <p:cNvSpPr/>
          <p:nvPr/>
        </p:nvSpPr>
        <p:spPr>
          <a:xfrm>
            <a:off x="-23813" y="6750050"/>
            <a:ext cx="12239626" cy="107950"/>
          </a:xfrm>
          <a:prstGeom prst="rect">
            <a:avLst/>
          </a:prstGeom>
          <a:solidFill>
            <a:srgbClr val="AE0F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100"/>
          </a:p>
        </p:txBody>
      </p:sp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428BF881-B559-7580-4417-CB6C17980D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20000"/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22167" t="8387" r="22664" b="24310"/>
          <a:stretch/>
        </p:blipFill>
        <p:spPr>
          <a:xfrm>
            <a:off x="7770866" y="2"/>
            <a:ext cx="5063337" cy="617696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7B0912-8F8C-8D94-1CFA-883007B30D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0128BD-5AD3-4719-8371-D467247E81D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75353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FB7DE3EC-8CF0-6F53-00E5-CEE42181743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20000"/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22167" t="8387" r="22664" b="24310"/>
          <a:stretch/>
        </p:blipFill>
        <p:spPr>
          <a:xfrm>
            <a:off x="7770866" y="2"/>
            <a:ext cx="5063337" cy="6176963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08E91B7-0114-1836-5306-0B83EF1206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895472-BF83-4CC7-9306-5C807B0BB48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47368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CE2A405-A202-E014-712E-ECD488C2770F}"/>
              </a:ext>
            </a:extLst>
          </p:cNvPr>
          <p:cNvSpPr/>
          <p:nvPr/>
        </p:nvSpPr>
        <p:spPr>
          <a:xfrm>
            <a:off x="-23813" y="-7938"/>
            <a:ext cx="12239626" cy="5400676"/>
          </a:xfrm>
          <a:prstGeom prst="rect">
            <a:avLst/>
          </a:prstGeom>
          <a:solidFill>
            <a:srgbClr val="AD2F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100"/>
          </a:p>
        </p:txBody>
      </p:sp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F424DE8A-DCA1-9026-66F5-BA13ADFBF3C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20000"/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22167" t="8387" r="22664" b="24310"/>
          <a:stretch/>
        </p:blipFill>
        <p:spPr>
          <a:xfrm>
            <a:off x="-431889" y="2966"/>
            <a:ext cx="2921869" cy="3564502"/>
          </a:xfrm>
          <a:prstGeom prst="rect">
            <a:avLst/>
          </a:prstGeom>
        </p:spPr>
      </p:pic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491D14B4-DE9A-ABA0-DA75-8FF85F13CF8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20000"/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22167" t="8387" r="22664" b="24310"/>
          <a:stretch/>
        </p:blipFill>
        <p:spPr>
          <a:xfrm>
            <a:off x="7770866" y="2"/>
            <a:ext cx="5063337" cy="617696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rtlCol="0" anchor="b">
            <a:normAutofit/>
          </a:bodyPr>
          <a:lstStyle>
            <a:lvl1pPr>
              <a:defRPr lang="en-US" sz="4500">
                <a:solidFill>
                  <a:srgbClr val="B0B0B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783F878-FCBD-D4E3-6F3E-1E5B0E0578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0F3992-DDD3-4DD6-AE89-BBF47CDFA0B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196060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B1E777E-9862-B911-0096-3FAADA450611}"/>
              </a:ext>
            </a:extLst>
          </p:cNvPr>
          <p:cNvSpPr/>
          <p:nvPr/>
        </p:nvSpPr>
        <p:spPr>
          <a:xfrm>
            <a:off x="-23813" y="-7938"/>
            <a:ext cx="12239626" cy="5400676"/>
          </a:xfrm>
          <a:prstGeom prst="rect">
            <a:avLst/>
          </a:prstGeom>
          <a:solidFill>
            <a:srgbClr val="AD2F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100"/>
          </a:p>
        </p:txBody>
      </p:sp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3FFB523E-0777-6639-8FD0-93B311ED34F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20000"/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22167" t="8387" r="22664" b="24310"/>
          <a:stretch/>
        </p:blipFill>
        <p:spPr>
          <a:xfrm>
            <a:off x="-431889" y="2966"/>
            <a:ext cx="2921869" cy="356450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 algn="r">
              <a:defRPr sz="4500">
                <a:solidFill>
                  <a:srgbClr val="D9D9D9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 algn="r">
              <a:buNone/>
              <a:defRPr sz="1800">
                <a:solidFill>
                  <a:srgbClr val="D9D9D9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EBC23F-F038-6B07-5B01-8DCBA97380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56798D-4EEC-4FCD-AD02-48AC87461F7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771947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CE4CB7F6-2B3C-E4ED-6B81-4C3526ED564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20000"/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22167" t="8387" r="22664" b="24310"/>
          <a:stretch/>
        </p:blipFill>
        <p:spPr>
          <a:xfrm>
            <a:off x="7770866" y="2"/>
            <a:ext cx="5063337" cy="617696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1B8719E3-3A1D-4083-E06A-94C385C6CD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A88380-0983-4F0E-82E2-3C1D93F8E61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23052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1F23EB8E-FA9D-2E5B-3802-9450EE8D18D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20000"/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22167" t="8387" r="22664" b="24310"/>
          <a:stretch/>
        </p:blipFill>
        <p:spPr>
          <a:xfrm>
            <a:off x="7770866" y="2"/>
            <a:ext cx="5063337" cy="617696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lide Number Placeholder 8">
            <a:extLst>
              <a:ext uri="{FF2B5EF4-FFF2-40B4-BE49-F238E27FC236}">
                <a16:creationId xmlns:a16="http://schemas.microsoft.com/office/drawing/2014/main" id="{4A6E2E59-BE4C-5ABE-97A2-83C85CBD58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9A4437-CE6C-41B2-A1A0-CFBEE4B3D9E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908651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1C5D2559-9432-87D6-488C-A8920F9C448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20000"/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22167" t="8387" r="22664" b="24310"/>
          <a:stretch/>
        </p:blipFill>
        <p:spPr>
          <a:xfrm>
            <a:off x="7770866" y="2"/>
            <a:ext cx="5063337" cy="617696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9F9BEEC5-3D23-7B4C-CBA4-296C0595CB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D538C2-E23B-46CD-91A1-E94A9FB1C28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92614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9CF8DE88-0CC6-DBFC-D1C1-55529A4429A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20000"/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22167" t="8387" r="22664" b="24310"/>
          <a:stretch/>
        </p:blipFill>
        <p:spPr>
          <a:xfrm>
            <a:off x="7770866" y="2"/>
            <a:ext cx="5063337" cy="6176963"/>
          </a:xfrm>
          <a:prstGeom prst="rect">
            <a:avLst/>
          </a:prstGeom>
        </p:spPr>
      </p:pic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2C063388-EBC2-DA8F-3FE7-F17BCDEC0A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7D9B84-5FD7-45D9-8CE4-A5170D82C50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084585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F5EF4890-08D5-3C6F-7064-4C2F1EC782F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20000"/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22167" t="8387" r="22664" b="24310"/>
          <a:stretch/>
        </p:blipFill>
        <p:spPr>
          <a:xfrm>
            <a:off x="7770866" y="2"/>
            <a:ext cx="5063337" cy="617696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16B5EEC1-BEE1-C679-CA2F-003601C6F3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707AE2-6FB8-4284-B351-0551F341876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30892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A797BE45-CA71-0153-2F88-E154A33FDD1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20000"/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22167" t="8387" r="22664" b="24310"/>
          <a:stretch/>
        </p:blipFill>
        <p:spPr>
          <a:xfrm>
            <a:off x="7770866" y="2"/>
            <a:ext cx="5063337" cy="617696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324A2844-8514-35ED-A0E3-19D8E1571B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7AFC27-AD2A-4FDE-BB38-E0421FB5BD3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95341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EDAC17AA-0110-90BD-7CD5-86DC58C4CB7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20000"/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22167" t="8387" r="22664" b="24310"/>
          <a:stretch/>
        </p:blipFill>
        <p:spPr>
          <a:xfrm>
            <a:off x="7770866" y="2"/>
            <a:ext cx="5063337" cy="617696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9254D6C-D447-37C2-7B50-B6534C3E5B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614AFB-5799-4680-A26F-2D0F959D9AF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110105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BC45BA8D-7706-0807-B6EF-6047AAF1363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20000"/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22167" t="8387" r="22664" b="24310"/>
          <a:stretch/>
        </p:blipFill>
        <p:spPr>
          <a:xfrm>
            <a:off x="7770866" y="2"/>
            <a:ext cx="5063337" cy="6176963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F95A933-61FD-EEB8-89D8-926C4FA486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E2D1A2-EB0A-4172-9984-DD71A7506AC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894595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028013" y="1286933"/>
            <a:ext cx="8777027" cy="765053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defRPr sz="21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028013" y="2312923"/>
            <a:ext cx="8777027" cy="4297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Font typeface="Wingdings" pitchFamily="28" charset="2"/>
              <a:buNone/>
              <a:defRPr sz="1500" b="0" baseline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ext Placeholder 15"/>
          <p:cNvSpPr>
            <a:spLocks noGrp="1"/>
          </p:cNvSpPr>
          <p:nvPr>
            <p:ph type="body" sz="quarter" idx="13"/>
          </p:nvPr>
        </p:nvSpPr>
        <p:spPr>
          <a:xfrm>
            <a:off x="3028013" y="2951869"/>
            <a:ext cx="8777027" cy="37800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200">
                <a:solidFill>
                  <a:schemeClr val="tx1"/>
                </a:solidFill>
                <a:latin typeface="Verdana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27A529-D2D5-B77B-E3DB-57FF5527CF5B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0" y="0"/>
            <a:ext cx="0" cy="0"/>
          </a:xfr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BB13B28-F7C4-3AF5-E26F-06452D9394E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B42286DA-9AA0-4B66-9564-B4B1E6CDC66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67581967"/>
      </p:ext>
    </p:extLst>
  </p:cSld>
  <p:clrMapOvr>
    <a:masterClrMapping/>
  </p:clrMapOvr>
  <p:transition spd="slow">
    <p:wip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487680" y="1387736"/>
            <a:ext cx="11101917" cy="46473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487681" y="505476"/>
            <a:ext cx="10140876" cy="64123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/>
          </p:nvPr>
        </p:nvSpPr>
        <p:spPr>
          <a:xfrm>
            <a:off x="7224219" y="6451603"/>
            <a:ext cx="4421037" cy="365125"/>
          </a:xfrm>
        </p:spPr>
        <p:txBody>
          <a:bodyPr anchor="ctr"/>
          <a:lstStyle>
            <a:lvl1pPr marL="0" indent="0" algn="r">
              <a:buFontTx/>
              <a:buNone/>
              <a:defRPr lang="en-US" sz="825" b="1" smtClean="0">
                <a:effectLst/>
              </a:defRPr>
            </a:lvl1pPr>
            <a:lvl2pPr>
              <a:defRPr sz="788">
                <a:solidFill>
                  <a:schemeClr val="bg1"/>
                </a:solidFill>
              </a:defRPr>
            </a:lvl2pPr>
            <a:lvl3pPr>
              <a:defRPr sz="788">
                <a:solidFill>
                  <a:schemeClr val="bg1"/>
                </a:solidFill>
              </a:defRPr>
            </a:lvl3pPr>
            <a:lvl4pPr>
              <a:defRPr sz="788">
                <a:solidFill>
                  <a:schemeClr val="bg1"/>
                </a:solidFill>
              </a:defRPr>
            </a:lvl4pPr>
            <a:lvl5pPr>
              <a:defRPr sz="788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01B1BB4-8CC4-4481-F33E-3320FD29008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2B8343-7857-411E-92F5-2BBECB9A329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E544E4-AACA-38D9-A791-154B07CC44B5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0" y="0"/>
            <a:ext cx="0" cy="0"/>
          </a:xfr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521924"/>
      </p:ext>
    </p:extLst>
  </p:cSld>
  <p:clrMapOvr>
    <a:masterClrMapping/>
  </p:clrMapOvr>
  <p:transition spd="slow">
    <p:wip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524000" y="731520"/>
            <a:ext cx="8534400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8A69A67E-7F31-227A-6C44-0F5E9FF9EE69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0" y="0"/>
            <a:ext cx="0" cy="0"/>
          </a:xfr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58BABCF5-3430-E4B8-1103-972287E3F59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0" y="0"/>
            <a:ext cx="0" cy="0"/>
          </a:xfr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2793ABC-1DDB-0C10-115D-874C624F091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25F20E-2603-4D38-B2E1-61FC99A59AA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649867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1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609600" y="274639"/>
            <a:ext cx="10972800" cy="5851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A929E637-33B5-8D4D-D34F-88FD6FE26AD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0" y="0"/>
            <a:ext cx="0" cy="0"/>
          </a:xfr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DAED4060-6444-A618-5DD3-DB1B136FE88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0" y="0"/>
            <a:ext cx="0" cy="0"/>
          </a:xfr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866D6434-A740-E539-696C-927D2376D5B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D64904-801B-4927-922A-190DC7CF183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4430375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C2098849-B15A-42ED-8EE5-2405822FFDA2}"/>
              </a:ext>
            </a:extLst>
          </p:cNvPr>
          <p:cNvSpPr/>
          <p:nvPr/>
        </p:nvSpPr>
        <p:spPr>
          <a:xfrm>
            <a:off x="-24000" y="1458000"/>
            <a:ext cx="12240000" cy="5400000"/>
          </a:xfrm>
          <a:prstGeom prst="rect">
            <a:avLst/>
          </a:prstGeom>
          <a:solidFill>
            <a:srgbClr val="AD2F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446860-FA03-443F-90C1-26228D457E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85542"/>
            <a:ext cx="9144000" cy="2160000"/>
          </a:xfrm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anchor="b"/>
          <a:lstStyle>
            <a:lvl1pPr algn="r">
              <a:defRPr sz="6000">
                <a:solidFill>
                  <a:srgbClr val="F2F2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4207B8-D11F-4D9D-BBEB-32A196F537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46708"/>
            <a:ext cx="9144000" cy="1260000"/>
          </a:xfrm>
        </p:spPr>
        <p:txBody>
          <a:bodyPr anchor="t"/>
          <a:lstStyle>
            <a:lvl1pPr marL="0" indent="0" algn="r">
              <a:buNone/>
              <a:defRPr sz="2400">
                <a:solidFill>
                  <a:srgbClr val="F2F2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6888D12-06E0-447B-A9BC-3EF0A285D532}"/>
              </a:ext>
            </a:extLst>
          </p:cNvPr>
          <p:cNvSpPr txBox="1"/>
          <p:nvPr/>
        </p:nvSpPr>
        <p:spPr>
          <a:xfrm>
            <a:off x="1150065" y="329181"/>
            <a:ext cx="5167086" cy="9005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indent="0"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pPr lvl="0" algn="l">
              <a:spcBef>
                <a:spcPts val="0"/>
              </a:spcBef>
            </a:pPr>
            <a:r>
              <a:rPr lang="en-US" b="1" dirty="0">
                <a:solidFill>
                  <a:srgbClr val="535253"/>
                </a:solidFill>
                <a:latin typeface="Bahnschrift SemiBold Condensed" panose="020B0502040204020203" pitchFamily="34" charset="0"/>
              </a:rPr>
              <a:t>Program </a:t>
            </a:r>
            <a:r>
              <a:rPr lang="en-US" b="1" dirty="0" err="1">
                <a:solidFill>
                  <a:srgbClr val="535253"/>
                </a:solidFill>
                <a:latin typeface="Bahnschrift SemiBold Condensed" panose="020B0502040204020203" pitchFamily="34" charset="0"/>
              </a:rPr>
              <a:t>Studi</a:t>
            </a:r>
            <a:r>
              <a:rPr lang="en-US" b="1" dirty="0">
                <a:solidFill>
                  <a:srgbClr val="535253"/>
                </a:solidFill>
                <a:latin typeface="Bahnschrift SemiBold Condensed" panose="020B0502040204020203" pitchFamily="34" charset="0"/>
              </a:rPr>
              <a:t> Sains Data </a:t>
            </a:r>
          </a:p>
          <a:p>
            <a:pPr lvl="0" algn="l">
              <a:spcBef>
                <a:spcPts val="0"/>
              </a:spcBef>
            </a:pPr>
            <a:r>
              <a:rPr lang="en-US" b="1" dirty="0" err="1">
                <a:solidFill>
                  <a:srgbClr val="AF1016"/>
                </a:solidFill>
                <a:latin typeface="Bahnschrift SemiBold Condensed" panose="020B0502040204020203" pitchFamily="34" charset="0"/>
              </a:rPr>
              <a:t>Fakultas</a:t>
            </a:r>
            <a:r>
              <a:rPr lang="en-US" b="1" dirty="0">
                <a:solidFill>
                  <a:srgbClr val="AF1016"/>
                </a:solidFill>
                <a:latin typeface="Bahnschrift SemiBold Condensed" panose="020B0502040204020203" pitchFamily="34" charset="0"/>
              </a:rPr>
              <a:t> </a:t>
            </a:r>
            <a:r>
              <a:rPr lang="en-US" b="1" dirty="0" err="1">
                <a:solidFill>
                  <a:srgbClr val="AF1016"/>
                </a:solidFill>
                <a:latin typeface="Bahnschrift SemiBold Condensed" panose="020B0502040204020203" pitchFamily="34" charset="0"/>
              </a:rPr>
              <a:t>Teknologi</a:t>
            </a:r>
            <a:r>
              <a:rPr lang="en-US" b="1" dirty="0">
                <a:solidFill>
                  <a:srgbClr val="AF1016"/>
                </a:solidFill>
                <a:latin typeface="Bahnschrift SemiBold Condensed" panose="020B0502040204020203" pitchFamily="34" charset="0"/>
              </a:rPr>
              <a:t> </a:t>
            </a:r>
            <a:r>
              <a:rPr lang="en-US" b="1" dirty="0" err="1">
                <a:solidFill>
                  <a:srgbClr val="AF1016"/>
                </a:solidFill>
                <a:latin typeface="Bahnschrift SemiBold Condensed" panose="020B0502040204020203" pitchFamily="34" charset="0"/>
              </a:rPr>
              <a:t>Informasi</a:t>
            </a:r>
            <a:r>
              <a:rPr lang="en-US" b="1" dirty="0">
                <a:solidFill>
                  <a:srgbClr val="AF1016"/>
                </a:solidFill>
                <a:latin typeface="Bahnschrift SemiBold Condensed" panose="020B0502040204020203" pitchFamily="34" charset="0"/>
              </a:rPr>
              <a:t> dan </a:t>
            </a:r>
            <a:r>
              <a:rPr lang="en-US" b="1" dirty="0" err="1">
                <a:solidFill>
                  <a:srgbClr val="AF1016"/>
                </a:solidFill>
                <a:latin typeface="Bahnschrift SemiBold Condensed" panose="020B0502040204020203" pitchFamily="34" charset="0"/>
              </a:rPr>
              <a:t>Bisnis</a:t>
            </a:r>
            <a:endParaRPr lang="en-US" b="1" dirty="0">
              <a:solidFill>
                <a:srgbClr val="AF1016"/>
              </a:solidFill>
              <a:latin typeface="Bahnschrift SemiBold Condensed" panose="020B0502040204020203" pitchFamily="34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2C18088-6FD1-413D-B2EC-5FBAD8BDE778}"/>
              </a:ext>
            </a:extLst>
          </p:cNvPr>
          <p:cNvCxnSpPr/>
          <p:nvPr/>
        </p:nvCxnSpPr>
        <p:spPr>
          <a:xfrm>
            <a:off x="1079725" y="329181"/>
            <a:ext cx="0" cy="900506"/>
          </a:xfrm>
          <a:prstGeom prst="line">
            <a:avLst/>
          </a:prstGeom>
          <a:ln w="28575">
            <a:solidFill>
              <a:srgbClr val="AF101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3E768AE3-6E19-4AE6-AEAF-F7573540619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-24000" y="6356350"/>
            <a:ext cx="12240000" cy="365125"/>
          </a:xfrm>
          <a:prstGeom prst="rect">
            <a:avLst/>
          </a:prstGeom>
        </p:spPr>
        <p:txBody>
          <a:bodyPr/>
          <a:lstStyle>
            <a:lvl1pPr algn="ctr">
              <a:defRPr b="0">
                <a:solidFill>
                  <a:srgbClr val="B0B0B0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5B17602A-30E8-4C96-B716-771C5D00C0A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073764D-267B-6042-9053-ECF72DC7DD76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A6F152B7-2926-0427-1472-6A9076C0363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67" r="22664" b="1096"/>
          <a:stretch/>
        </p:blipFill>
        <p:spPr>
          <a:xfrm>
            <a:off x="182881" y="109344"/>
            <a:ext cx="703384" cy="1260999"/>
          </a:xfrm>
          <a:prstGeom prst="rect">
            <a:avLst/>
          </a:prstGeom>
        </p:spPr>
      </p:pic>
      <p:pic>
        <p:nvPicPr>
          <p:cNvPr id="15" name="Picture 14" descr="Logo&#10;&#10;Description automatically generated">
            <a:extLst>
              <a:ext uri="{FF2B5EF4-FFF2-40B4-BE49-F238E27FC236}">
                <a16:creationId xmlns:a16="http://schemas.microsoft.com/office/drawing/2014/main" id="{4C606719-D1BB-B9C1-710F-38183FDF4CE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2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67" t="8387" r="22664" b="24310"/>
          <a:stretch/>
        </p:blipFill>
        <p:spPr>
          <a:xfrm>
            <a:off x="7614832" y="1468904"/>
            <a:ext cx="4417512" cy="5389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9366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CF8B9-90A6-415C-9E13-48B4D2396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E34267-5A44-41FA-954F-A2137EEE41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B0FE72-E30B-4DC0-A4D1-4C17A0CB6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2A94E5-A39D-46B1-A8BE-601D3A7105D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9D4B76A-B285-41F4-9666-CDE0A326AFF1}"/>
              </a:ext>
            </a:extLst>
          </p:cNvPr>
          <p:cNvSpPr/>
          <p:nvPr/>
        </p:nvSpPr>
        <p:spPr>
          <a:xfrm>
            <a:off x="-24000" y="6750000"/>
            <a:ext cx="12240000" cy="108000"/>
          </a:xfrm>
          <a:prstGeom prst="rect">
            <a:avLst/>
          </a:prstGeom>
          <a:solidFill>
            <a:srgbClr val="AE0F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E93E0662-B269-54BB-294A-C5F9A1F9CC3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2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67" t="8387" r="22664" b="24310"/>
          <a:stretch/>
        </p:blipFill>
        <p:spPr>
          <a:xfrm>
            <a:off x="7770865" y="0"/>
            <a:ext cx="5063337" cy="6176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68385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E34267-5A44-41FA-954F-A2137EEE41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B0FE72-E30B-4DC0-A4D1-4C17A0CB6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3764D-267B-6042-9053-ECF72DC7DD76}" type="slidenum">
              <a:rPr lang="en-US" smtClean="0"/>
              <a:t>‹#›</a:t>
            </a:fld>
            <a:endParaRPr lang="en-US"/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137C4E64-FA1B-014D-AAAD-89FA813F8B1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2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67" t="8387" r="22664" b="24310"/>
          <a:stretch/>
        </p:blipFill>
        <p:spPr>
          <a:xfrm>
            <a:off x="7770865" y="0"/>
            <a:ext cx="5063337" cy="6176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45898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6929306-74A6-02FF-AFBA-9C341E14188D}"/>
              </a:ext>
            </a:extLst>
          </p:cNvPr>
          <p:cNvSpPr/>
          <p:nvPr/>
        </p:nvSpPr>
        <p:spPr>
          <a:xfrm>
            <a:off x="-24000" y="-7938"/>
            <a:ext cx="12240000" cy="5400000"/>
          </a:xfrm>
          <a:prstGeom prst="rect">
            <a:avLst/>
          </a:prstGeom>
          <a:solidFill>
            <a:srgbClr val="AD2F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0FE22D65-69BA-21F6-5ACC-6E6FA4D4E4B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2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67" t="8387" r="22664" b="24310"/>
          <a:stretch/>
        </p:blipFill>
        <p:spPr>
          <a:xfrm>
            <a:off x="-431890" y="2966"/>
            <a:ext cx="2921869" cy="35645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86B4FBF-537C-4A2C-8BAA-94A85119C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000">
                <a:solidFill>
                  <a:srgbClr val="B0B0B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 algn="r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2FEE26-3B2B-4F58-9CB3-4488C39CDF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37263-9789-4F80-9C07-0FAFC800E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3764D-267B-6042-9053-ECF72DC7DD76}" type="slidenum">
              <a:rPr lang="en-US" smtClean="0"/>
              <a:t>‹#›</a:t>
            </a:fld>
            <a:endParaRPr lang="en-US"/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7EB1BE5B-671E-638C-2C0F-A700D88133D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2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67" t="8387" r="22664" b="24310"/>
          <a:stretch/>
        </p:blipFill>
        <p:spPr>
          <a:xfrm>
            <a:off x="7770865" y="0"/>
            <a:ext cx="5063337" cy="6176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40537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5A38ED9-D4FC-4C6F-A4A8-2960F2386E3A}"/>
              </a:ext>
            </a:extLst>
          </p:cNvPr>
          <p:cNvSpPr/>
          <p:nvPr/>
        </p:nvSpPr>
        <p:spPr>
          <a:xfrm>
            <a:off x="-24000" y="-7938"/>
            <a:ext cx="12240000" cy="5400000"/>
          </a:xfrm>
          <a:prstGeom prst="rect">
            <a:avLst/>
          </a:prstGeom>
          <a:solidFill>
            <a:srgbClr val="AD2F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6B4FBF-537C-4A2C-8BAA-94A85119C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 algn="r">
              <a:defRPr sz="6000">
                <a:solidFill>
                  <a:srgbClr val="D9D9D9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2FEE26-3B2B-4F58-9CB3-4488C39CDF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 algn="r">
              <a:buNone/>
              <a:defRPr sz="2400">
                <a:solidFill>
                  <a:srgbClr val="D9D9D9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37263-9789-4F80-9C07-0FAFC800E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3764D-267B-6042-9053-ECF72DC7DD76}" type="slidenum">
              <a:rPr lang="en-US" smtClean="0"/>
              <a:t>‹#›</a:t>
            </a:fld>
            <a:endParaRPr lang="en-US"/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9AEC88BC-C38C-49F4-51CA-DD4770ECB58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2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67" t="8387" r="22664" b="24310"/>
          <a:stretch/>
        </p:blipFill>
        <p:spPr>
          <a:xfrm>
            <a:off x="-431890" y="2966"/>
            <a:ext cx="2921869" cy="3564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35227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E1115-D1DA-4CE5-981E-9E198DB19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02E63D-326D-4EC4-B46B-99931177B8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6F6D7D-2B23-4F6A-9704-CF5519F5BE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0A86CD-923C-4191-AF34-B181A4F70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3764D-267B-6042-9053-ECF72DC7DD76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A8B2444C-814C-78F0-4118-490EDC2E00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2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67" t="8387" r="22664" b="24310"/>
          <a:stretch/>
        </p:blipFill>
        <p:spPr>
          <a:xfrm>
            <a:off x="7770865" y="0"/>
            <a:ext cx="5063337" cy="6176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41828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93E33-CC82-4E5C-8370-0F4DB003B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93961B-1C7E-4E58-BD58-2E6A8D0B81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EEF27A-4999-41A1-A8C9-6844C4D30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045E3C-38B1-46DF-947B-A172612649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1DCC09-2AE6-49E2-8347-B84E33BE06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520423-479E-4379-83B4-C20311689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3764D-267B-6042-9053-ECF72DC7DD76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638423DD-4FE5-7101-FFF6-AD300CA0E23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2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67" t="8387" r="22664" b="24310"/>
          <a:stretch/>
        </p:blipFill>
        <p:spPr>
          <a:xfrm>
            <a:off x="7770865" y="0"/>
            <a:ext cx="5063337" cy="6176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78384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C20C5-DA1E-48FB-A296-29D579FDD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FE843A-7799-4440-88A1-B73272B2C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B721A5-36D8-4C2F-A2B5-96132FA7B92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7D4FD52C-DF0D-A79A-3DE6-2F44711F6AC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2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67" t="8387" r="22664" b="24310"/>
          <a:stretch/>
        </p:blipFill>
        <p:spPr>
          <a:xfrm>
            <a:off x="7770865" y="0"/>
            <a:ext cx="5063337" cy="6176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63272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4B4C9B-9CAC-4767-8B3D-A3E51E56C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18510C0-C023-46DB-8927-270F0F88F70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2752D238-70AB-0320-C5F5-4635AB4C707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2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67" t="8387" r="22664" b="24310"/>
          <a:stretch/>
        </p:blipFill>
        <p:spPr>
          <a:xfrm>
            <a:off x="7770865" y="0"/>
            <a:ext cx="5063337" cy="6176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70765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50368-05E9-4997-A302-D4F5166BF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9D533C-962A-4F9D-A447-173CC61473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3E6236-18A1-401D-905C-620FED1AC1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722249-4CD1-450E-A55E-31235394A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3764D-267B-6042-9053-ECF72DC7DD76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279DC204-3238-1C23-9F54-E70DD97140A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2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67" t="8387" r="22664" b="24310"/>
          <a:stretch/>
        </p:blipFill>
        <p:spPr>
          <a:xfrm>
            <a:off x="7770865" y="0"/>
            <a:ext cx="5063337" cy="6176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35812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D1AAE-23FA-4E74-B3EB-8C525337A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7DA548-00AE-4564-B22A-41AC6A0CB9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862887-127C-4FC7-BF35-F9CE51F6C5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722CA0-3960-46BC-9B43-E8C74C7C2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3764D-267B-6042-9053-ECF72DC7DD76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6E633C8A-AFA3-2CC1-B585-B580965B543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2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67" t="8387" r="22664" b="24310"/>
          <a:stretch/>
        </p:blipFill>
        <p:spPr>
          <a:xfrm>
            <a:off x="7770865" y="0"/>
            <a:ext cx="5063337" cy="6176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97172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EEDA9-2A2C-48F2-8A55-FB67CFAAB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264B18-5EB8-478C-A6EE-077B9BF7C0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16DB79-E637-4742-A2AD-C9A8351E2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3764D-267B-6042-9053-ECF72DC7DD76}" type="slidenum">
              <a:rPr lang="en-US" smtClean="0"/>
              <a:t>‹#›</a:t>
            </a:fld>
            <a:endParaRPr lang="en-US"/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61F998CF-7E1C-B69D-E34B-7DF6EC84C4C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2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67" t="8387" r="22664" b="24310"/>
          <a:stretch/>
        </p:blipFill>
        <p:spPr>
          <a:xfrm>
            <a:off x="7770865" y="0"/>
            <a:ext cx="5063337" cy="6176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80084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D3876A-063A-4273-819D-6A32AC6FB4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1F91C2-CF84-4BFC-942B-3FFAAA87D1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ACD626-3FF5-4802-AAC2-2F52F1D6E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3764D-267B-6042-9053-ECF72DC7DD76}" type="slidenum">
              <a:rPr lang="en-US" smtClean="0"/>
              <a:t>‹#›</a:t>
            </a:fld>
            <a:endParaRPr lang="en-US"/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623E7EE9-E65A-993F-5F59-90C90D17E76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2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67" t="8387" r="22664" b="24310"/>
          <a:stretch/>
        </p:blipFill>
        <p:spPr>
          <a:xfrm>
            <a:off x="7770865" y="0"/>
            <a:ext cx="5063337" cy="6176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77649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028013" y="1286931"/>
            <a:ext cx="8777027" cy="765053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defRPr sz="28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028013" y="2312923"/>
            <a:ext cx="8777027" cy="4297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Font typeface="Wingdings" pitchFamily="28" charset="2"/>
              <a:buNone/>
              <a:defRPr sz="2000" b="0" baseline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ext Placeholder 15"/>
          <p:cNvSpPr>
            <a:spLocks noGrp="1"/>
          </p:cNvSpPr>
          <p:nvPr>
            <p:ph type="body" sz="quarter" idx="13"/>
          </p:nvPr>
        </p:nvSpPr>
        <p:spPr>
          <a:xfrm>
            <a:off x="3028013" y="2951867"/>
            <a:ext cx="8777027" cy="37800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Verdana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A60FAAE-A68E-E340-900B-6F6370E7D7BE}" type="datetimeFigureOut">
              <a:rPr lang="en-US" smtClean="0"/>
              <a:t>12/4/2025</a:t>
            </a:fld>
            <a:endParaRPr lang="en-US" dirty="0"/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073764D-267B-6042-9053-ECF72DC7D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816951"/>
      </p:ext>
    </p:extLst>
  </p:cSld>
  <p:clrMapOvr>
    <a:masterClrMapping/>
  </p:clrMapOvr>
  <p:transition spd="slow">
    <p:wip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487680" y="1387736"/>
            <a:ext cx="11101917" cy="46473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fld id="{C073764D-267B-6042-9053-ECF72DC7DD76}" type="slidenum">
              <a:rPr lang="en-US" smtClean="0"/>
              <a:t>‹#›</a:t>
            </a:fld>
            <a:endParaRPr lang="en-US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fld id="{1A60FAAE-A68E-E340-900B-6F6370E7D7BE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487680" y="505474"/>
            <a:ext cx="10140876" cy="64123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7224218" y="6451601"/>
            <a:ext cx="4421037" cy="365125"/>
          </a:xfrm>
        </p:spPr>
        <p:txBody>
          <a:bodyPr anchor="ctr"/>
          <a:lstStyle>
            <a:lvl1pPr marL="0" indent="0" algn="r">
              <a:buFontTx/>
              <a:buNone/>
              <a:defRPr lang="en-US" sz="1100" b="1" smtClean="0">
                <a:effectLst/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sz="11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ITA3143</a:t>
            </a:r>
            <a:r>
              <a:rPr lang="en-US" dirty="0">
                <a:effectLst/>
              </a:rPr>
              <a:t>  </a:t>
            </a:r>
            <a:r>
              <a:rPr lang="en-US" dirty="0"/>
              <a:t>Artificial Intelligence</a:t>
            </a:r>
          </a:p>
        </p:txBody>
      </p:sp>
    </p:spTree>
    <p:extLst>
      <p:ext uri="{BB962C8B-B14F-4D97-AF65-F5344CB8AC3E}">
        <p14:creationId xmlns:p14="http://schemas.microsoft.com/office/powerpoint/2010/main" val="1352517374"/>
      </p:ext>
    </p:extLst>
  </p:cSld>
  <p:clrMapOvr>
    <a:masterClrMapping/>
  </p:clrMapOvr>
  <p:transition spd="slow">
    <p:wip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524000" y="731520"/>
            <a:ext cx="8534400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8D1662E4-C288-107D-9957-F9961C26F4E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fld id="{1A60FAAE-A68E-E340-900B-6F6370E7D7BE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2CDEFDE5-3504-E84E-4E37-DEA58F3BC9B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6F5F3B0-370F-D5EF-54DB-EC6B4E9D5D6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fld id="{C073764D-267B-6042-9053-ECF72DC7D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7998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30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33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7">
            <a:extLst>
              <a:ext uri="{FF2B5EF4-FFF2-40B4-BE49-F238E27FC236}">
                <a16:creationId xmlns:a16="http://schemas.microsoft.com/office/drawing/2014/main" id="{CDE7ECAA-B3F1-C957-A2EE-2A5C12A05EC8}"/>
              </a:ext>
            </a:extLst>
          </p:cNvPr>
          <p:cNvGrpSpPr>
            <a:grpSpLocks/>
          </p:cNvGrpSpPr>
          <p:nvPr/>
        </p:nvGrpSpPr>
        <p:grpSpPr bwMode="auto">
          <a:xfrm>
            <a:off x="-23813" y="6205538"/>
            <a:ext cx="12239626" cy="652462"/>
            <a:chOff x="-24000" y="6205488"/>
            <a:chExt cx="12240000" cy="652512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2291FE3-05E2-A8FA-6702-547A11126602}"/>
                </a:ext>
              </a:extLst>
            </p:cNvPr>
            <p:cNvSpPr/>
            <p:nvPr/>
          </p:nvSpPr>
          <p:spPr>
            <a:xfrm>
              <a:off x="-24000" y="6205488"/>
              <a:ext cx="12240000" cy="538203"/>
            </a:xfrm>
            <a:prstGeom prst="rect">
              <a:avLst/>
            </a:prstGeom>
            <a:solidFill>
              <a:srgbClr val="B0B0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10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B07CAEB-7FA1-28D3-A55B-A58F471B395A}"/>
                </a:ext>
              </a:extLst>
            </p:cNvPr>
            <p:cNvSpPr/>
            <p:nvPr/>
          </p:nvSpPr>
          <p:spPr>
            <a:xfrm>
              <a:off x="-24000" y="6750042"/>
              <a:ext cx="12240000" cy="107958"/>
            </a:xfrm>
            <a:prstGeom prst="rect">
              <a:avLst/>
            </a:prstGeom>
            <a:solidFill>
              <a:srgbClr val="AE0F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100"/>
            </a:p>
          </p:txBody>
        </p:sp>
      </p:grpSp>
      <p:sp>
        <p:nvSpPr>
          <p:cNvPr id="1027" name="Title Placeholder 1">
            <a:extLst>
              <a:ext uri="{FF2B5EF4-FFF2-40B4-BE49-F238E27FC236}">
                <a16:creationId xmlns:a16="http://schemas.microsoft.com/office/drawing/2014/main" id="{36D43C01-7559-8A13-6206-49D9E9D7EA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Klik untuk mengedit gaya judul Master</a:t>
            </a:r>
          </a:p>
        </p:txBody>
      </p:sp>
      <p:sp>
        <p:nvSpPr>
          <p:cNvPr id="1028" name="Text Placeholder 2">
            <a:extLst>
              <a:ext uri="{FF2B5EF4-FFF2-40B4-BE49-F238E27FC236}">
                <a16:creationId xmlns:a16="http://schemas.microsoft.com/office/drawing/2014/main" id="{3D62422D-89FA-4D6C-E91B-9945D9FC51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Klik untuk mengedit gaya teks Master</a:t>
            </a:r>
          </a:p>
          <a:p>
            <a:pPr lvl="1"/>
            <a:r>
              <a:rPr lang="en-US" altLang="en-US"/>
              <a:t>Tingkat kedua</a:t>
            </a:r>
          </a:p>
          <a:p>
            <a:pPr lvl="2"/>
            <a:r>
              <a:rPr lang="en-US" altLang="en-US"/>
              <a:t>tingkat ketiga</a:t>
            </a:r>
          </a:p>
          <a:p>
            <a:pPr lvl="3"/>
            <a:r>
              <a:rPr lang="en-US" altLang="en-US"/>
              <a:t>Tingkat keempat</a:t>
            </a:r>
          </a:p>
          <a:p>
            <a:pPr lvl="4"/>
            <a:r>
              <a:rPr lang="en-US" altLang="en-US"/>
              <a:t>tingkat kelima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667A49-DDDD-8629-A945-E1741D1D6C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900" b="1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490CFCC4-7F96-4576-960B-DA48E5E8761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grpSp>
        <p:nvGrpSpPr>
          <p:cNvPr id="1030" name="Group 10">
            <a:extLst>
              <a:ext uri="{FF2B5EF4-FFF2-40B4-BE49-F238E27FC236}">
                <a16:creationId xmlns:a16="http://schemas.microsoft.com/office/drawing/2014/main" id="{BC814150-9A2F-0C33-430D-5F2A981F45E9}"/>
              </a:ext>
            </a:extLst>
          </p:cNvPr>
          <p:cNvGrpSpPr>
            <a:grpSpLocks/>
          </p:cNvGrpSpPr>
          <p:nvPr/>
        </p:nvGrpSpPr>
        <p:grpSpPr bwMode="auto">
          <a:xfrm>
            <a:off x="1035050" y="6024563"/>
            <a:ext cx="5175250" cy="900112"/>
            <a:chOff x="1132415" y="6042555"/>
            <a:chExt cx="5174412" cy="900506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382D719-2AFA-9BD7-17A5-B18900DCCD82}"/>
                </a:ext>
              </a:extLst>
            </p:cNvPr>
            <p:cNvSpPr txBox="1"/>
            <p:nvPr/>
          </p:nvSpPr>
          <p:spPr>
            <a:xfrm>
              <a:off x="1140352" y="6042555"/>
              <a:ext cx="5166475" cy="900506"/>
            </a:xfrm>
            <a:prstGeom prst="rect">
              <a:avLst/>
            </a:prstGeom>
          </p:spPr>
          <p:txBody>
            <a:bodyPr anchor="ctr">
              <a:normAutofit/>
            </a:bodyPr>
            <a:lstStyle>
              <a:lvl1pPr indent="0" algn="ctr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>
                  <a:solidFill>
                    <a:schemeClr val="bg1"/>
                  </a:solidFill>
                </a:defRPr>
              </a:lvl1pPr>
              <a:lvl2pPr indent="0" algn="ctr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/>
              </a:lvl2pPr>
              <a:lvl3pPr indent="0" algn="ctr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/>
              </a:lvl3pPr>
              <a:lvl4pPr indent="0" algn="ctr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/>
              </a:lvl4pPr>
              <a:lvl5pPr indent="0" algn="ctr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/>
              </a:lvl5pPr>
              <a:lvl6pPr indent="0" algn="ctr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/>
              </a:lvl6pPr>
              <a:lvl7pPr indent="0" algn="ctr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/>
              </a:lvl7pPr>
              <a:lvl8pPr indent="0" algn="ctr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/>
              </a:lvl8pPr>
              <a:lvl9pPr indent="0" algn="ctr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/>
              </a:lvl9pPr>
            </a:lstStyle>
            <a:p>
              <a:pPr algn="l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900" dirty="0">
                  <a:solidFill>
                    <a:srgbClr val="AD2F33"/>
                  </a:solidFill>
                  <a:latin typeface="Bahnschrift SemiBold Condensed" panose="020B0502040204020203" pitchFamily="34" charset="0"/>
                </a:rPr>
                <a:t>Program </a:t>
              </a:r>
              <a:r>
                <a:rPr lang="en-US" sz="900" dirty="0" err="1">
                  <a:solidFill>
                    <a:srgbClr val="AD2F33"/>
                  </a:solidFill>
                  <a:latin typeface="Bahnschrift SemiBold Condensed" panose="020B0502040204020203" pitchFamily="34" charset="0"/>
                </a:rPr>
                <a:t>Studi</a:t>
              </a:r>
              <a:r>
                <a:rPr lang="en-US" sz="900" dirty="0">
                  <a:solidFill>
                    <a:srgbClr val="AD2F33"/>
                  </a:solidFill>
                  <a:latin typeface="Bahnschrift SemiBold Condensed" panose="020B0502040204020203" pitchFamily="34" charset="0"/>
                </a:rPr>
                <a:t> Sains Data </a:t>
              </a:r>
            </a:p>
            <a:p>
              <a:pPr algn="l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900" dirty="0" err="1">
                  <a:solidFill>
                    <a:srgbClr val="AD2F33"/>
                  </a:solidFill>
                  <a:latin typeface="Bahnschrift SemiBold Condensed" panose="020B0502040204020203" pitchFamily="34" charset="0"/>
                </a:rPr>
                <a:t>Fakultas</a:t>
              </a:r>
              <a:r>
                <a:rPr lang="en-US" sz="900" dirty="0">
                  <a:solidFill>
                    <a:srgbClr val="AD2F33"/>
                  </a:solidFill>
                  <a:latin typeface="Bahnschrift SemiBold Condensed" panose="020B0502040204020203" pitchFamily="34" charset="0"/>
                </a:rPr>
                <a:t> </a:t>
              </a:r>
              <a:r>
                <a:rPr lang="en-US" sz="900" dirty="0" err="1">
                  <a:solidFill>
                    <a:srgbClr val="AD2F33"/>
                  </a:solidFill>
                  <a:latin typeface="Bahnschrift SemiBold Condensed" panose="020B0502040204020203" pitchFamily="34" charset="0"/>
                </a:rPr>
                <a:t>Teknologi</a:t>
              </a:r>
              <a:r>
                <a:rPr lang="en-US" sz="900" dirty="0">
                  <a:solidFill>
                    <a:srgbClr val="AD2F33"/>
                  </a:solidFill>
                  <a:latin typeface="Bahnschrift SemiBold Condensed" panose="020B0502040204020203" pitchFamily="34" charset="0"/>
                </a:rPr>
                <a:t> </a:t>
              </a:r>
              <a:r>
                <a:rPr lang="en-US" sz="900" dirty="0" err="1">
                  <a:solidFill>
                    <a:srgbClr val="AD2F33"/>
                  </a:solidFill>
                  <a:latin typeface="Bahnschrift SemiBold Condensed" panose="020B0502040204020203" pitchFamily="34" charset="0"/>
                </a:rPr>
                <a:t>Informasi</a:t>
              </a:r>
              <a:r>
                <a:rPr lang="en-US" sz="900" dirty="0">
                  <a:solidFill>
                    <a:srgbClr val="AD2F33"/>
                  </a:solidFill>
                  <a:latin typeface="Bahnschrift SemiBold Condensed" panose="020B0502040204020203" pitchFamily="34" charset="0"/>
                </a:rPr>
                <a:t> dan </a:t>
              </a:r>
              <a:r>
                <a:rPr lang="en-US" sz="900" dirty="0" err="1">
                  <a:solidFill>
                    <a:srgbClr val="AD2F33"/>
                  </a:solidFill>
                  <a:latin typeface="Bahnschrift SemiBold Condensed" panose="020B0502040204020203" pitchFamily="34" charset="0"/>
                </a:rPr>
                <a:t>Bisnis</a:t>
              </a:r>
              <a:endParaRPr lang="en-US" sz="900" dirty="0">
                <a:solidFill>
                  <a:srgbClr val="AD2F33"/>
                </a:solidFill>
                <a:latin typeface="Bahnschrift SemiBold Condensed" panose="020B0502040204020203" pitchFamily="34" charset="0"/>
              </a:endParaRP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19D72B2-4176-6DD3-C172-2DA1859AFE79}"/>
                </a:ext>
              </a:extLst>
            </p:cNvPr>
            <p:cNvCxnSpPr>
              <a:cxnSpLocks/>
            </p:cNvCxnSpPr>
            <p:nvPr/>
          </p:nvCxnSpPr>
          <p:spPr>
            <a:xfrm>
              <a:off x="1132415" y="6312548"/>
              <a:ext cx="0" cy="360520"/>
            </a:xfrm>
            <a:prstGeom prst="line">
              <a:avLst/>
            </a:prstGeom>
            <a:ln w="28575">
              <a:solidFill>
                <a:srgbClr val="AF101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31" name="Picture 14" descr="Text&#10;&#10;Description automatically generated with medium confidence">
            <a:extLst>
              <a:ext uri="{FF2B5EF4-FFF2-40B4-BE49-F238E27FC236}">
                <a16:creationId xmlns:a16="http://schemas.microsoft.com/office/drawing/2014/main" id="{C195436A-7E74-7E65-942A-B17F1629D2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650" y="6248400"/>
            <a:ext cx="849313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3" r:id="rId4"/>
    <p:sldLayoutId id="2147483734" r:id="rId5"/>
    <p:sldLayoutId id="2147483735" r:id="rId6"/>
    <p:sldLayoutId id="2147483736" r:id="rId7"/>
    <p:sldLayoutId id="2147483737" r:id="rId8"/>
    <p:sldLayoutId id="2147483738" r:id="rId9"/>
    <p:sldLayoutId id="2147483739" r:id="rId10"/>
    <p:sldLayoutId id="2147483740" r:id="rId11"/>
    <p:sldLayoutId id="2147483741" r:id="rId12"/>
    <p:sldLayoutId id="2147483742" r:id="rId13"/>
    <p:sldLayoutId id="2147483743" r:id="rId14"/>
    <p:sldLayoutId id="2147483744" r:id="rId15"/>
    <p:sldLayoutId id="2147483745" r:id="rId16"/>
    <p:sldLayoutId id="2147483746" r:id="rId17"/>
  </p:sldLayoutIdLst>
  <p:transition spd="slow">
    <p:wipe/>
  </p:transition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b="1" kern="1200">
          <a:solidFill>
            <a:srgbClr val="AD2F33"/>
          </a:solidFill>
          <a:latin typeface="Bahnschrift Condensed" panose="020B0502040204020203" pitchFamily="34" charset="0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b="1">
          <a:solidFill>
            <a:srgbClr val="AD2F33"/>
          </a:solidFill>
          <a:latin typeface="Bahnschrift Condensed" panose="020B0502040204020203" pitchFamily="34" charset="0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b="1">
          <a:solidFill>
            <a:srgbClr val="AD2F33"/>
          </a:solidFill>
          <a:latin typeface="Bahnschrift Condensed" panose="020B0502040204020203" pitchFamily="34" charset="0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b="1">
          <a:solidFill>
            <a:srgbClr val="AD2F33"/>
          </a:solidFill>
          <a:latin typeface="Bahnschrift Condensed" panose="020B0502040204020203" pitchFamily="34" charset="0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b="1">
          <a:solidFill>
            <a:srgbClr val="AD2F33"/>
          </a:solidFill>
          <a:latin typeface="Bahnschrift Condensed" panose="020B0502040204020203" pitchFamily="34" charset="0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 b="1">
          <a:solidFill>
            <a:srgbClr val="AD2F33"/>
          </a:solidFill>
          <a:latin typeface="Bahnschrift Condensed" panose="020B0502040204020203" pitchFamily="34" charset="0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 b="1">
          <a:solidFill>
            <a:srgbClr val="AD2F33"/>
          </a:solidFill>
          <a:latin typeface="Bahnschrift Condensed" panose="020B0502040204020203" pitchFamily="34" charset="0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 b="1">
          <a:solidFill>
            <a:srgbClr val="AD2F33"/>
          </a:solidFill>
          <a:latin typeface="Bahnschrift Condensed" panose="020B0502040204020203" pitchFamily="34" charset="0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 b="1">
          <a:solidFill>
            <a:srgbClr val="AD2F33"/>
          </a:solidFill>
          <a:latin typeface="Bahnschrift Condensed" panose="020B0502040204020203" pitchFamily="34" charset="0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Gadugi" panose="020B0502040204020203" pitchFamily="34" charset="0"/>
          <a:ea typeface="Gadugi" panose="020B0502040204020203" pitchFamily="34" charset="0"/>
          <a:cs typeface="Gadugi" panose="020B0502040204020203" pitchFamily="34" charset="0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Gadugi" panose="020B0502040204020203" pitchFamily="34" charset="0"/>
          <a:ea typeface="Gadugi" panose="020B0502040204020203" pitchFamily="34" charset="0"/>
          <a:cs typeface="Gadugi" panose="020B0502040204020203" pitchFamily="34" charset="0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Gadugi" panose="020B0502040204020203" pitchFamily="34" charset="0"/>
          <a:ea typeface="Gadugi" panose="020B0502040204020203" pitchFamily="34" charset="0"/>
          <a:cs typeface="Gadugi" panose="020B0502040204020203" pitchFamily="34" charset="0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Gadugi" panose="020B0502040204020203" pitchFamily="34" charset="0"/>
          <a:ea typeface="Gadugi" panose="020B0502040204020203" pitchFamily="34" charset="0"/>
          <a:cs typeface="Gadugi" panose="020B0502040204020203" pitchFamily="34" charset="0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Gadugi" panose="020B0502040204020203" pitchFamily="34" charset="0"/>
          <a:ea typeface="Gadugi" panose="020B0502040204020203" pitchFamily="34" charset="0"/>
          <a:cs typeface="Gadugi" panose="020B0502040204020203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17CE458-4081-458B-916E-D828A30999A8}"/>
              </a:ext>
            </a:extLst>
          </p:cNvPr>
          <p:cNvGrpSpPr/>
          <p:nvPr/>
        </p:nvGrpSpPr>
        <p:grpSpPr>
          <a:xfrm>
            <a:off x="-24000" y="6205488"/>
            <a:ext cx="12240000" cy="652512"/>
            <a:chOff x="-24000" y="6205488"/>
            <a:chExt cx="12240000" cy="652512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F695D3C-D74A-4D66-9772-E3D2E76DA3FA}"/>
                </a:ext>
              </a:extLst>
            </p:cNvPr>
            <p:cNvSpPr/>
            <p:nvPr/>
          </p:nvSpPr>
          <p:spPr>
            <a:xfrm>
              <a:off x="-24000" y="6205488"/>
              <a:ext cx="12240000" cy="538982"/>
            </a:xfrm>
            <a:prstGeom prst="rect">
              <a:avLst/>
            </a:prstGeom>
            <a:solidFill>
              <a:srgbClr val="B0B0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ED90804-8303-4ABF-8246-EF6771FC7864}"/>
                </a:ext>
              </a:extLst>
            </p:cNvPr>
            <p:cNvSpPr/>
            <p:nvPr/>
          </p:nvSpPr>
          <p:spPr>
            <a:xfrm>
              <a:off x="-24000" y="6750000"/>
              <a:ext cx="12240000" cy="108000"/>
            </a:xfrm>
            <a:prstGeom prst="rect">
              <a:avLst/>
            </a:prstGeom>
            <a:solidFill>
              <a:srgbClr val="AE0F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12233F-98CE-4242-91D6-12D498198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d"/>
              <a:t>Klik untuk mengedit gaya judul Master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EFE2DF-C530-4B7C-B0CF-9CE652FA55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d"/>
              <a:t>Klik untuk mengedit gaya teks Master</a:t>
            </a:r>
          </a:p>
          <a:p>
            <a:pPr lvl="1"/>
            <a:r>
              <a:rPr lang="id"/>
              <a:t>Tingkat kedua</a:t>
            </a:r>
          </a:p>
          <a:p>
            <a:pPr lvl="2"/>
            <a:r>
              <a:rPr lang="id"/>
              <a:t>tingkat ketiga</a:t>
            </a:r>
          </a:p>
          <a:p>
            <a:pPr lvl="3"/>
            <a:r>
              <a:rPr lang="id"/>
              <a:t>Tingkat keempat</a:t>
            </a:r>
          </a:p>
          <a:p>
            <a:pPr lvl="4"/>
            <a:r>
              <a:rPr lang="id"/>
              <a:t>tingkat kelima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1F7C70-D477-4FB5-A4B9-3492951D31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bg1"/>
                </a:solidFill>
              </a:defRPr>
            </a:lvl1pPr>
          </a:lstStyle>
          <a:p>
            <a:fld id="{C073764D-267B-6042-9053-ECF72DC7DD76}" type="slidenum">
              <a:rPr lang="en-US" smtClean="0"/>
              <a:t>‹#›</a:t>
            </a:fld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8777FC1-7008-4DAC-8FA5-7970DBD53243}"/>
              </a:ext>
            </a:extLst>
          </p:cNvPr>
          <p:cNvGrpSpPr/>
          <p:nvPr/>
        </p:nvGrpSpPr>
        <p:grpSpPr>
          <a:xfrm>
            <a:off x="1035152" y="6024726"/>
            <a:ext cx="5174412" cy="900506"/>
            <a:chOff x="1132415" y="6042555"/>
            <a:chExt cx="5174412" cy="900506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2A8FFB9-CBDF-4ED0-8ACA-EFDDE8ADEE0F}"/>
                </a:ext>
              </a:extLst>
            </p:cNvPr>
            <p:cNvSpPr txBox="1"/>
            <p:nvPr/>
          </p:nvSpPr>
          <p:spPr>
            <a:xfrm>
              <a:off x="1139741" y="6042555"/>
              <a:ext cx="5167086" cy="9005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indent="0" algn="ctr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>
                  <a:solidFill>
                    <a:schemeClr val="bg1"/>
                  </a:solidFill>
                </a:defRPr>
              </a:lvl1pPr>
              <a:lvl2pPr indent="0" algn="ctr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/>
              </a:lvl2pPr>
              <a:lvl3pPr indent="0" algn="ctr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/>
              </a:lvl3pPr>
              <a:lvl4pPr indent="0" algn="ctr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/>
              </a:lvl4pPr>
              <a:lvl5pPr indent="0" algn="ctr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/>
              </a:lvl5pPr>
              <a:lvl6pPr indent="0" algn="ctr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/>
              </a:lvl6pPr>
              <a:lvl7pPr indent="0" algn="ctr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/>
              </a:lvl7pPr>
              <a:lvl8pPr indent="0" algn="ctr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/>
              </a:lvl8pPr>
              <a:lvl9pPr indent="0" algn="ctr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/>
              </a:lvl9pPr>
            </a:lstStyle>
            <a:p>
              <a:pPr lvl="0" algn="l">
                <a:spcBef>
                  <a:spcPts val="0"/>
                </a:spcBef>
              </a:pPr>
              <a:r>
                <a:rPr lang="en-US" sz="1200" b="0" dirty="0">
                  <a:solidFill>
                    <a:srgbClr val="AD2F33"/>
                  </a:solidFill>
                  <a:latin typeface="Bahnschrift SemiBold Condensed" panose="020B0502040204020203" pitchFamily="34" charset="0"/>
                </a:rPr>
                <a:t>Program </a:t>
              </a:r>
              <a:r>
                <a:rPr lang="en-US" sz="1200" b="0" dirty="0" err="1">
                  <a:solidFill>
                    <a:srgbClr val="AD2F33"/>
                  </a:solidFill>
                  <a:latin typeface="Bahnschrift SemiBold Condensed" panose="020B0502040204020203" pitchFamily="34" charset="0"/>
                </a:rPr>
                <a:t>Studi</a:t>
              </a:r>
              <a:r>
                <a:rPr lang="en-US" sz="1200" b="0" dirty="0">
                  <a:solidFill>
                    <a:srgbClr val="AD2F33"/>
                  </a:solidFill>
                  <a:latin typeface="Bahnschrift SemiBold Condensed" panose="020B0502040204020203" pitchFamily="34" charset="0"/>
                </a:rPr>
                <a:t> Sains Data </a:t>
              </a:r>
            </a:p>
            <a:p>
              <a:pPr lvl="0" algn="l">
                <a:spcBef>
                  <a:spcPts val="0"/>
                </a:spcBef>
              </a:pPr>
              <a:r>
                <a:rPr lang="en-US" sz="1200" b="0" dirty="0" err="1">
                  <a:solidFill>
                    <a:srgbClr val="AD2F33"/>
                  </a:solidFill>
                  <a:latin typeface="Bahnschrift SemiBold Condensed" panose="020B0502040204020203" pitchFamily="34" charset="0"/>
                </a:rPr>
                <a:t>Fakultas</a:t>
              </a:r>
              <a:r>
                <a:rPr lang="en-US" sz="1200" b="0" dirty="0">
                  <a:solidFill>
                    <a:srgbClr val="AD2F33"/>
                  </a:solidFill>
                  <a:latin typeface="Bahnschrift SemiBold Condensed" panose="020B0502040204020203" pitchFamily="34" charset="0"/>
                </a:rPr>
                <a:t> </a:t>
              </a:r>
              <a:r>
                <a:rPr lang="en-US" sz="1200" b="0" dirty="0" err="1">
                  <a:solidFill>
                    <a:srgbClr val="AD2F33"/>
                  </a:solidFill>
                  <a:latin typeface="Bahnschrift SemiBold Condensed" panose="020B0502040204020203" pitchFamily="34" charset="0"/>
                </a:rPr>
                <a:t>Teknologi</a:t>
              </a:r>
              <a:r>
                <a:rPr lang="en-US" sz="1200" b="0" dirty="0">
                  <a:solidFill>
                    <a:srgbClr val="AD2F33"/>
                  </a:solidFill>
                  <a:latin typeface="Bahnschrift SemiBold Condensed" panose="020B0502040204020203" pitchFamily="34" charset="0"/>
                </a:rPr>
                <a:t> </a:t>
              </a:r>
              <a:r>
                <a:rPr lang="en-US" sz="1200" b="0" dirty="0" err="1">
                  <a:solidFill>
                    <a:srgbClr val="AD2F33"/>
                  </a:solidFill>
                  <a:latin typeface="Bahnschrift SemiBold Condensed" panose="020B0502040204020203" pitchFamily="34" charset="0"/>
                </a:rPr>
                <a:t>Informasi</a:t>
              </a:r>
              <a:r>
                <a:rPr lang="en-US" sz="1200" b="0" dirty="0">
                  <a:solidFill>
                    <a:srgbClr val="AD2F33"/>
                  </a:solidFill>
                  <a:latin typeface="Bahnschrift SemiBold Condensed" panose="020B0502040204020203" pitchFamily="34" charset="0"/>
                </a:rPr>
                <a:t> dan </a:t>
              </a:r>
              <a:r>
                <a:rPr lang="en-US" sz="1200" b="0" dirty="0" err="1">
                  <a:solidFill>
                    <a:srgbClr val="AD2F33"/>
                  </a:solidFill>
                  <a:latin typeface="Bahnschrift SemiBold Condensed" panose="020B0502040204020203" pitchFamily="34" charset="0"/>
                </a:rPr>
                <a:t>Bisnis</a:t>
              </a:r>
              <a:endParaRPr lang="en-US" sz="1200" b="0" dirty="0">
                <a:solidFill>
                  <a:srgbClr val="AD2F33"/>
                </a:solidFill>
                <a:latin typeface="Bahnschrift SemiBold Condensed" panose="020B0502040204020203" pitchFamily="34" charset="0"/>
              </a:endParaRP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C1E5343-D9A6-41DE-8735-B23E4B6FDA02}"/>
                </a:ext>
              </a:extLst>
            </p:cNvPr>
            <p:cNvCxnSpPr>
              <a:cxnSpLocks/>
            </p:cNvCxnSpPr>
            <p:nvPr/>
          </p:nvCxnSpPr>
          <p:spPr>
            <a:xfrm>
              <a:off x="1132415" y="6312808"/>
              <a:ext cx="0" cy="360000"/>
            </a:xfrm>
            <a:prstGeom prst="line">
              <a:avLst/>
            </a:prstGeom>
            <a:ln w="28575">
              <a:solidFill>
                <a:srgbClr val="AF101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5" name="Picture 14" descr="Text&#10;&#10;Description automatically generated with medium confidence">
            <a:extLst>
              <a:ext uri="{FF2B5EF4-FFF2-40B4-BE49-F238E27FC236}">
                <a16:creationId xmlns:a16="http://schemas.microsoft.com/office/drawing/2014/main" id="{672E8780-5477-BACE-EBA7-812F6D21BED0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747" y="6248358"/>
            <a:ext cx="848814" cy="43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321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</p:sldLayoutIdLst>
  <p:transition spd="slow"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AD2F33"/>
          </a:solidFill>
          <a:effectLst/>
          <a:latin typeface="Bahnschrift Condensed" panose="020B0502040204020203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Gadugi" panose="020B0502040204020203" pitchFamily="34" charset="0"/>
          <a:ea typeface="Gadugi" panose="020B0502040204020203" pitchFamily="34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Gadugi" panose="020B0502040204020203" pitchFamily="34" charset="0"/>
          <a:ea typeface="Gadugi" panose="020B0502040204020203" pitchFamily="34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adugi" panose="020B0502040204020203" pitchFamily="34" charset="0"/>
          <a:ea typeface="Gadugi" panose="020B0502040204020203" pitchFamily="34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Gadugi" panose="020B0502040204020203" pitchFamily="34" charset="0"/>
          <a:ea typeface="Gadugi" panose="020B0502040204020203" pitchFamily="34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Gadugi" panose="020B0502040204020203" pitchFamily="34" charset="0"/>
          <a:ea typeface="Gadugi" panose="020B0502040204020203" pitchFamily="3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w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png"/><Relationship Id="rId4" Type="http://schemas.openxmlformats.org/officeDocument/2006/relationships/image" Target="../media/image30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w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6.png"/><Relationship Id="rId4" Type="http://schemas.openxmlformats.org/officeDocument/2006/relationships/image" Target="../media/image35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w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2.e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41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e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7" Type="http://schemas.openxmlformats.org/officeDocument/2006/relationships/image" Target="../media/image62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61.w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60.w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7" Type="http://schemas.openxmlformats.org/officeDocument/2006/relationships/image" Target="../media/image66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65.w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64.wm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69.wmf"/><Relationship Id="rId5" Type="http://schemas.openxmlformats.org/officeDocument/2006/relationships/oleObject" Target="../embeddings/oleObject17.bin"/><Relationship Id="rId4" Type="http://schemas.openxmlformats.org/officeDocument/2006/relationships/image" Target="../media/image68.w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wmf"/><Relationship Id="rId2" Type="http://schemas.openxmlformats.org/officeDocument/2006/relationships/oleObject" Target="../embeddings/oleObject18.bin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71.wmf"/><Relationship Id="rId4" Type="http://schemas.openxmlformats.org/officeDocument/2006/relationships/oleObject" Target="../embeddings/oleObject19.bin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2.wmf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wmf"/><Relationship Id="rId2" Type="http://schemas.openxmlformats.org/officeDocument/2006/relationships/oleObject" Target="../embeddings/oleObject21.bin"/><Relationship Id="rId1" Type="http://schemas.openxmlformats.org/officeDocument/2006/relationships/slideLayout" Target="../slideLayouts/slideLayout8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wmf"/><Relationship Id="rId2" Type="http://schemas.openxmlformats.org/officeDocument/2006/relationships/oleObject" Target="../embeddings/oleObject22.bin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85.wmf"/><Relationship Id="rId4" Type="http://schemas.openxmlformats.org/officeDocument/2006/relationships/oleObject" Target="../embeddings/oleObject23.bin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caigen/scikit-fuzzy-examples" TargetMode="External"/><Relationship Id="rId1" Type="http://schemas.openxmlformats.org/officeDocument/2006/relationships/slideLayout" Target="../slideLayouts/slideLayout25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6.emf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AE5D1-84B3-4BA4-98F3-B6DE1FB524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85963"/>
            <a:ext cx="9144000" cy="2159000"/>
          </a:xfrm>
        </p:spPr>
        <p:txBody>
          <a:bodyPr rtlCol="0">
            <a:normAutofit/>
          </a:bodyPr>
          <a:lstStyle/>
          <a:p>
            <a:pPr defTabSz="914400" eaLnBrk="1" fontAlgn="auto" hangingPunct="1">
              <a:spcAft>
                <a:spcPts val="0"/>
              </a:spcAft>
              <a:defRPr/>
            </a:pPr>
            <a:r>
              <a:rPr lang="en-US" sz="6000" dirty="0"/>
              <a:t>SISTEM INFERENSI FUZZY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3F1A01-F228-1047-10D0-C176B1FA30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46575"/>
            <a:ext cx="9144000" cy="1260475"/>
          </a:xfrm>
        </p:spPr>
        <p:txBody>
          <a:bodyPr rtlCol="0">
            <a:normAutofit/>
          </a:bodyPr>
          <a:lstStyle/>
          <a:p>
            <a:pPr defTabSz="914400" eaLnBrk="1" fontAlgn="auto" hangingPunct="1">
              <a:spcBef>
                <a:spcPts val="1000"/>
              </a:spcBef>
              <a:spcAft>
                <a:spcPts val="0"/>
              </a:spcAft>
              <a:defRPr/>
            </a:pPr>
            <a:r>
              <a:rPr lang="en-US" sz="2400" b="1" dirty="0">
                <a:cs typeface="+mn-cs"/>
              </a:rPr>
              <a:t>DSC22I3-KECERDASAN BUATAN</a:t>
            </a:r>
          </a:p>
          <a:p>
            <a:pPr defTabSz="914400" eaLnBrk="1" fontAlgn="auto" hangingPunct="1">
              <a:spcBef>
                <a:spcPts val="1000"/>
              </a:spcBef>
              <a:spcAft>
                <a:spcPts val="0"/>
              </a:spcAft>
              <a:defRPr/>
            </a:pPr>
            <a:r>
              <a:rPr lang="en-US" sz="2400" dirty="0" err="1">
                <a:cs typeface="+mn-cs"/>
              </a:rPr>
              <a:t>Pertemuan</a:t>
            </a:r>
            <a:r>
              <a:rPr lang="en-US" sz="2400" dirty="0">
                <a:cs typeface="+mn-cs"/>
              </a:rPr>
              <a:t> ke-9</a:t>
            </a:r>
          </a:p>
        </p:txBody>
      </p:sp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>
            <a:extLst>
              <a:ext uri="{FF2B5EF4-FFF2-40B4-BE49-F238E27FC236}">
                <a16:creationId xmlns:a16="http://schemas.microsoft.com/office/drawing/2014/main" id="{133DB8B7-0D70-0C20-EC15-3EC589CB45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defTabSz="914400" eaLnBrk="1" hangingPunct="1"/>
            <a:r>
              <a:rPr lang="en-US" altLang="en-US" sz="4400">
                <a:solidFill>
                  <a:srgbClr val="0070C0"/>
                </a:solidFill>
              </a:rPr>
              <a:t>Topik Bahasan</a:t>
            </a:r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0263671D-EA74-5C52-4C3D-B87E300DCA4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>
            <a:extLst>
              <a:ext uri="{FF2B5EF4-FFF2-40B4-BE49-F238E27FC236}">
                <a16:creationId xmlns:a16="http://schemas.microsoft.com/office/drawing/2014/main" id="{48B905AC-7439-DD40-73BB-7AAC6F758D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defTabSz="914400" eaLnBrk="1" hangingPunct="1"/>
            <a:r>
              <a:rPr lang="en-US" altLang="en-US" sz="4400">
                <a:solidFill>
                  <a:srgbClr val="0070C0"/>
                </a:solidFill>
              </a:rPr>
              <a:t>Pencapaian Kompetensi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B7F83-7654-95EE-06F1-BDF00B3D702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rtlCol="0" anchor="ctr">
            <a:noAutofit/>
          </a:bodyPr>
          <a:lstStyle/>
          <a:p>
            <a:pPr marL="0" indent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01116"/>
              </a:buClr>
              <a:buFont typeface="Arial" panose="020B0604020202020204" pitchFamily="34" charset="0"/>
              <a:buNone/>
              <a:tabLst>
                <a:tab pos="1478756" algn="l"/>
              </a:tabLst>
              <a:defRPr/>
            </a:pPr>
            <a:r>
              <a:rPr lang="en-US" sz="1800" b="1" dirty="0" err="1">
                <a:latin typeface="Bahnschrift SemiBold SemiConden" panose="020B0502040204020203" pitchFamily="34" charset="0"/>
                <a:cs typeface="+mn-cs"/>
              </a:rPr>
              <a:t>Kemampuan</a:t>
            </a:r>
            <a:r>
              <a:rPr lang="en-US" sz="1800" b="1" dirty="0">
                <a:latin typeface="Bahnschrift SemiBold SemiConden" panose="020B0502040204020203" pitchFamily="34" charset="0"/>
                <a:cs typeface="+mn-cs"/>
              </a:rPr>
              <a:t> Akhir yang </a:t>
            </a:r>
            <a:r>
              <a:rPr lang="en-US" sz="1800" b="1" dirty="0" err="1">
                <a:latin typeface="Bahnschrift SemiBold SemiConden" panose="020B0502040204020203" pitchFamily="34" charset="0"/>
                <a:cs typeface="+mn-cs"/>
              </a:rPr>
              <a:t>direncanakan</a:t>
            </a:r>
            <a:endParaRPr lang="en-US" sz="1800" b="1" dirty="0">
              <a:latin typeface="Bahnschrift SemiBold SemiConden" panose="020B0502040204020203" pitchFamily="34" charset="0"/>
              <a:cs typeface="+mn-cs"/>
            </a:endParaRPr>
          </a:p>
          <a:p>
            <a:pPr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01116"/>
              </a:buClr>
              <a:buFont typeface="Wingdings" panose="05000000000000000000" pitchFamily="2" charset="2"/>
              <a:buChar char="§"/>
              <a:tabLst>
                <a:tab pos="1478756" algn="l"/>
              </a:tabLst>
              <a:defRPr/>
            </a:pPr>
            <a:r>
              <a:rPr lang="sv-SE" sz="1800" dirty="0">
                <a:latin typeface="+mn-lt"/>
                <a:cs typeface="+mn-cs"/>
              </a:rPr>
              <a:t>Memahami logika fuzzy dan menerapkan operasi himpunan fuzzy serta fungsi implikasi ke dalam sistem inferensi fuzzy</a:t>
            </a:r>
          </a:p>
          <a:p>
            <a:pPr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01116"/>
              </a:buClr>
              <a:buFont typeface="Wingdings" panose="05000000000000000000" pitchFamily="2" charset="2"/>
              <a:buChar char="§"/>
              <a:tabLst>
                <a:tab pos="1478756" algn="l"/>
              </a:tabLst>
              <a:defRPr/>
            </a:pPr>
            <a:endParaRPr lang="sv-SE" sz="1800" dirty="0">
              <a:latin typeface="+mn-lt"/>
              <a:cs typeface="+mn-cs"/>
            </a:endParaRPr>
          </a:p>
          <a:p>
            <a:pPr marL="0" indent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01116"/>
              </a:buClr>
              <a:buFont typeface="Arial" panose="020B0604020202020204" pitchFamily="34" charset="0"/>
              <a:buNone/>
              <a:tabLst>
                <a:tab pos="1478756" algn="l"/>
              </a:tabLst>
              <a:defRPr/>
            </a:pPr>
            <a:r>
              <a:rPr lang="sv-SE" sz="1800" b="1" dirty="0">
                <a:latin typeface="Bahnschrift SemiBold SemiConden" panose="020B0502040204020203" pitchFamily="34" charset="0"/>
                <a:cs typeface="+mn-cs"/>
              </a:rPr>
              <a:t>Indikator Pencapaian Kompetensi</a:t>
            </a:r>
          </a:p>
          <a:p>
            <a:pPr marL="330994" indent="-330994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01116"/>
              </a:buClr>
              <a:buFont typeface="Wingdings" panose="05000000000000000000" pitchFamily="2" charset="2"/>
              <a:buChar char="q"/>
              <a:tabLst>
                <a:tab pos="1478756" algn="l"/>
              </a:tabLst>
              <a:defRPr/>
            </a:pPr>
            <a:r>
              <a:rPr lang="sv-SE" sz="1800" dirty="0">
                <a:latin typeface="+mn-lt"/>
                <a:cs typeface="+mn-cs"/>
              </a:rPr>
              <a:t>Memahami logika dasar dan himpunan fuzzy</a:t>
            </a:r>
          </a:p>
          <a:p>
            <a:pPr marL="330994" indent="-330994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01116"/>
              </a:buClr>
              <a:buFont typeface="Wingdings" panose="05000000000000000000" pitchFamily="2" charset="2"/>
              <a:buChar char="q"/>
              <a:tabLst>
                <a:tab pos="1478756" algn="l"/>
              </a:tabLst>
              <a:defRPr/>
            </a:pPr>
            <a:r>
              <a:rPr lang="sv-SE" sz="1800" dirty="0">
                <a:latin typeface="+mn-lt"/>
                <a:cs typeface="+mn-cs"/>
              </a:rPr>
              <a:t>Mengetahui fungsi keanggotaan fuzzy</a:t>
            </a:r>
          </a:p>
          <a:p>
            <a:pPr marL="330994" indent="-330994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01116"/>
              </a:buClr>
              <a:buFont typeface="Wingdings" panose="05000000000000000000" pitchFamily="2" charset="2"/>
              <a:buChar char="q"/>
              <a:tabLst>
                <a:tab pos="1478756" algn="l"/>
              </a:tabLst>
              <a:defRPr/>
            </a:pPr>
            <a:r>
              <a:rPr lang="sv-SE" sz="1800" dirty="0">
                <a:latin typeface="+mn-lt"/>
                <a:cs typeface="+mn-cs"/>
              </a:rPr>
              <a:t>Menyelesaikan masalah dalam operasi dasar himpunan fuzzy</a:t>
            </a:r>
          </a:p>
          <a:p>
            <a:pPr marL="330994" indent="-330994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01116"/>
              </a:buClr>
              <a:buFont typeface="Wingdings" panose="05000000000000000000" pitchFamily="2" charset="2"/>
              <a:buChar char="q"/>
              <a:tabLst>
                <a:tab pos="1478756" algn="l"/>
              </a:tabLst>
              <a:defRPr/>
            </a:pPr>
            <a:r>
              <a:rPr lang="sv-SE" sz="1800" dirty="0">
                <a:latin typeface="+mn-lt"/>
                <a:cs typeface="+mn-cs"/>
              </a:rPr>
              <a:t>Memahami fungsi implikasi fuzzy</a:t>
            </a:r>
          </a:p>
          <a:p>
            <a:pPr marL="330994" indent="-330994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01116"/>
              </a:buClr>
              <a:buFont typeface="Wingdings" panose="05000000000000000000" pitchFamily="2" charset="2"/>
              <a:buChar char="q"/>
              <a:tabLst>
                <a:tab pos="1478756" algn="l"/>
              </a:tabLst>
              <a:defRPr/>
            </a:pPr>
            <a:r>
              <a:rPr lang="sv-SE" sz="1800" dirty="0">
                <a:latin typeface="+mn-lt"/>
                <a:cs typeface="+mn-cs"/>
              </a:rPr>
              <a:t>Menyelesaikan masalah dengan beragam sistem inferensi fuzzy</a:t>
            </a:r>
          </a:p>
        </p:txBody>
      </p:sp>
      <p:sp>
        <p:nvSpPr>
          <p:cNvPr id="23556" name="Content Placeholder 3">
            <a:extLst>
              <a:ext uri="{FF2B5EF4-FFF2-40B4-BE49-F238E27FC236}">
                <a16:creationId xmlns:a16="http://schemas.microsoft.com/office/drawing/2014/main" id="{188840AB-9FC2-B845-59A5-244EF3390994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/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23557" name="Slide Number Placeholder 6">
            <a:extLst>
              <a:ext uri="{FF2B5EF4-FFF2-40B4-BE49-F238E27FC236}">
                <a16:creationId xmlns:a16="http://schemas.microsoft.com/office/drawing/2014/main" id="{BB5D98E3-47F1-B003-B26A-663CFF24997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defTabSz="457200"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1pPr>
            <a:lvl2pPr marL="742950" indent="-285750" defTabSz="457200"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2pPr>
            <a:lvl3pPr marL="1143000" indent="-228600" defTabSz="457200"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3pPr>
            <a:lvl4pPr marL="1600200" indent="-228600" defTabSz="457200"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4pPr>
            <a:lvl5pPr marL="2057400" indent="-228600" defTabSz="457200"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9pPr>
          </a:lstStyle>
          <a:p>
            <a:pPr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fld id="{9BA651D4-E17F-4264-A81C-100CEBE5D7CA}" type="slidenum">
              <a:rPr lang="en-US" altLang="en-US" smtClean="0">
                <a:solidFill>
                  <a:srgbClr val="FFFFFF"/>
                </a:solidFill>
                <a:latin typeface="Arial" panose="020B0604020202020204" pitchFamily="34" charset="0"/>
              </a:rPr>
              <a:pPr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t>3</a:t>
            </a:fld>
            <a:endParaRPr lang="en-US" altLang="en-US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pic>
        <p:nvPicPr>
          <p:cNvPr id="23558" name="Picture 2" descr="Competence - Free user icons">
            <a:extLst>
              <a:ext uri="{FF2B5EF4-FFF2-40B4-BE49-F238E27FC236}">
                <a16:creationId xmlns:a16="http://schemas.microsoft.com/office/drawing/2014/main" id="{98000AC9-C645-4F80-E83D-BCC8BEAFD6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8213" y="2349500"/>
            <a:ext cx="2949575" cy="2947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18">
            <a:extLst>
              <a:ext uri="{FF2B5EF4-FFF2-40B4-BE49-F238E27FC236}">
                <a16:creationId xmlns:a16="http://schemas.microsoft.com/office/drawing/2014/main" id="{410BB5D5-3C0B-7B80-4EAE-249BC09FAA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6625" y="2473325"/>
            <a:ext cx="2952750" cy="305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3" name="Title 5">
            <a:extLst>
              <a:ext uri="{FF2B5EF4-FFF2-40B4-BE49-F238E27FC236}">
                <a16:creationId xmlns:a16="http://schemas.microsoft.com/office/drawing/2014/main" id="{8D9A0C98-4982-25DC-3892-520B6BCEA0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defTabSz="914400" eaLnBrk="1" hangingPunct="1"/>
            <a:r>
              <a:rPr lang="en-US" altLang="en-US" sz="4400">
                <a:solidFill>
                  <a:srgbClr val="0070C0"/>
                </a:solidFill>
              </a:rPr>
              <a:t>Pokok Bahasan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1496CB1-7321-A20F-97BD-4EA921ADA77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lIns="68580" tIns="34290" rIns="68580" bIns="34290" rtlCol="0" anchor="ctr">
            <a:noAutofit/>
          </a:bodyPr>
          <a:lstStyle/>
          <a:p>
            <a:pPr marL="0" indent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01116"/>
              </a:buClr>
              <a:buFont typeface="Arial" panose="020B0604020202020204" pitchFamily="34" charset="0"/>
              <a:buNone/>
              <a:tabLst>
                <a:tab pos="1478756" algn="l"/>
              </a:tabLst>
              <a:defRPr/>
            </a:pPr>
            <a:r>
              <a:rPr lang="sv-SE" sz="2700" dirty="0">
                <a:solidFill>
                  <a:srgbClr val="00B2B0"/>
                </a:solidFill>
                <a:latin typeface="Tw Cen MT Condensed Extra Bold" panose="020B0803020202020204" pitchFamily="34" charset="0"/>
                <a:cs typeface="+mn-cs"/>
              </a:rPr>
              <a:t>Sistem Inferensi Fuzzy</a:t>
            </a:r>
          </a:p>
          <a:p>
            <a:pPr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01116"/>
              </a:buClr>
              <a:buFont typeface="Wingdings" panose="05000000000000000000" pitchFamily="2" charset="2"/>
              <a:buChar char="§"/>
              <a:tabLst>
                <a:tab pos="1478756" algn="l"/>
              </a:tabLst>
              <a:defRPr/>
            </a:pPr>
            <a:r>
              <a:rPr lang="sv-SE" sz="2700" dirty="0">
                <a:latin typeface="Tw Cen MT Condensed Extra Bold" panose="020B0803020202020204" pitchFamily="34" charset="0"/>
                <a:cs typeface="+mn-cs"/>
              </a:rPr>
              <a:t>Logika dasar dan himpunan fuzzy</a:t>
            </a:r>
          </a:p>
          <a:p>
            <a:pPr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01116"/>
              </a:buClr>
              <a:buFont typeface="Wingdings" panose="05000000000000000000" pitchFamily="2" charset="2"/>
              <a:buChar char="§"/>
              <a:tabLst>
                <a:tab pos="1478756" algn="l"/>
              </a:tabLst>
              <a:defRPr/>
            </a:pPr>
            <a:r>
              <a:rPr lang="sv-SE" sz="2700" dirty="0">
                <a:latin typeface="Tw Cen MT Condensed Extra Bold" panose="020B0803020202020204" pitchFamily="34" charset="0"/>
                <a:cs typeface="+mn-cs"/>
              </a:rPr>
              <a:t>Fungsi keanggotaan</a:t>
            </a:r>
          </a:p>
          <a:p>
            <a:pPr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01116"/>
              </a:buClr>
              <a:buFont typeface="Wingdings" panose="05000000000000000000" pitchFamily="2" charset="2"/>
              <a:buChar char="§"/>
              <a:tabLst>
                <a:tab pos="1478756" algn="l"/>
              </a:tabLst>
              <a:defRPr/>
            </a:pPr>
            <a:r>
              <a:rPr lang="sv-SE" sz="2700" dirty="0">
                <a:latin typeface="Tw Cen MT Condensed Extra Bold" panose="020B0803020202020204" pitchFamily="34" charset="0"/>
                <a:cs typeface="+mn-cs"/>
              </a:rPr>
              <a:t>Operasi dasar himpunan fuzzy</a:t>
            </a:r>
          </a:p>
          <a:p>
            <a:pPr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01116"/>
              </a:buClr>
              <a:buFont typeface="Wingdings" panose="05000000000000000000" pitchFamily="2" charset="2"/>
              <a:buChar char="§"/>
              <a:tabLst>
                <a:tab pos="1478756" algn="l"/>
              </a:tabLst>
              <a:defRPr/>
            </a:pPr>
            <a:r>
              <a:rPr lang="sv-SE" sz="2700" dirty="0">
                <a:latin typeface="Tw Cen MT Condensed Extra Bold" panose="020B0803020202020204" pitchFamily="34" charset="0"/>
                <a:cs typeface="+mn-cs"/>
              </a:rPr>
              <a:t>Fungsi implikasi fuzzy</a:t>
            </a:r>
          </a:p>
          <a:p>
            <a:pPr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01116"/>
              </a:buClr>
              <a:buFont typeface="Wingdings" panose="05000000000000000000" pitchFamily="2" charset="2"/>
              <a:buChar char="§"/>
              <a:tabLst>
                <a:tab pos="1478756" algn="l"/>
              </a:tabLst>
              <a:defRPr/>
            </a:pPr>
            <a:r>
              <a:rPr lang="sv-SE" sz="2700" dirty="0">
                <a:latin typeface="Tw Cen MT Condensed Extra Bold" panose="020B0803020202020204" pitchFamily="34" charset="0"/>
                <a:cs typeface="+mn-cs"/>
              </a:rPr>
              <a:t>Sistem inferensi fuzzy</a:t>
            </a:r>
          </a:p>
        </p:txBody>
      </p:sp>
      <p:sp>
        <p:nvSpPr>
          <p:cNvPr id="25605" name="Content Placeholder 2">
            <a:extLst>
              <a:ext uri="{FF2B5EF4-FFF2-40B4-BE49-F238E27FC236}">
                <a16:creationId xmlns:a16="http://schemas.microsoft.com/office/drawing/2014/main" id="{C15088B3-9EDE-2EBB-4BF5-47127A7921B9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/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25606" name="Slide Number Placeholder 1">
            <a:extLst>
              <a:ext uri="{FF2B5EF4-FFF2-40B4-BE49-F238E27FC236}">
                <a16:creationId xmlns:a16="http://schemas.microsoft.com/office/drawing/2014/main" id="{B490B0D6-6A13-5C14-6604-D0282FCAE88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defTabSz="457200"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1pPr>
            <a:lvl2pPr marL="742950" indent="-285750" defTabSz="457200"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2pPr>
            <a:lvl3pPr marL="1143000" indent="-228600" defTabSz="457200"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3pPr>
            <a:lvl4pPr marL="1600200" indent="-228600" defTabSz="457200"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4pPr>
            <a:lvl5pPr marL="2057400" indent="-228600" defTabSz="457200"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9pPr>
          </a:lstStyle>
          <a:p>
            <a:pPr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fld id="{0ADF6CB0-A8AC-4C20-9690-5F45CA5DE09B}" type="slidenum">
              <a:rPr lang="en-US" altLang="en-US" smtClean="0">
                <a:solidFill>
                  <a:srgbClr val="FFFFFF"/>
                </a:solidFill>
                <a:latin typeface="Arial" panose="020B0604020202020204" pitchFamily="34" charset="0"/>
              </a:rPr>
              <a:pPr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t>4</a:t>
            </a:fld>
            <a:endParaRPr lang="en-US" altLang="en-US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8BE61-406A-8BC8-5EE4-ACDCA7B78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pPr eaLnBrk="1" hangingPunct="1">
              <a:defRPr/>
            </a:pPr>
            <a:r>
              <a:rPr sz="7200" dirty="0" err="1">
                <a:solidFill>
                  <a:schemeClr val="bg1">
                    <a:lumMod val="95000"/>
                  </a:schemeClr>
                </a:solidFill>
                <a:latin typeface="Tw Cen MT Condensed Extra Bold" panose="020B0803020202020204" pitchFamily="34" charset="0"/>
              </a:rPr>
              <a:t>Logika</a:t>
            </a:r>
            <a:r>
              <a:rPr sz="7200" dirty="0">
                <a:solidFill>
                  <a:schemeClr val="bg1">
                    <a:lumMod val="95000"/>
                  </a:schemeClr>
                </a:solidFill>
                <a:latin typeface="Tw Cen MT Condensed Extra Bold" panose="020B0803020202020204" pitchFamily="34" charset="0"/>
              </a:rPr>
              <a:t> dan </a:t>
            </a:r>
            <a:r>
              <a:rPr sz="7200" dirty="0" err="1">
                <a:solidFill>
                  <a:schemeClr val="bg1">
                    <a:lumMod val="95000"/>
                  </a:schemeClr>
                </a:solidFill>
                <a:latin typeface="Tw Cen MT Condensed Extra Bold" panose="020B0803020202020204" pitchFamily="34" charset="0"/>
              </a:rPr>
              <a:t>Himpunan</a:t>
            </a:r>
            <a:r>
              <a:rPr sz="7200" dirty="0">
                <a:solidFill>
                  <a:schemeClr val="bg1">
                    <a:lumMod val="95000"/>
                  </a:schemeClr>
                </a:solidFill>
                <a:latin typeface="Tw Cen MT Condensed Extra Bold" panose="020B0803020202020204" pitchFamily="34" charset="0"/>
              </a:rPr>
              <a:t> Fuzzy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8BFD0F-7C71-91A3-0244-0F7E3C0BC5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 rtlCol="0">
            <a:normAutofit/>
          </a:bodyPr>
          <a:lstStyle/>
          <a:p>
            <a:pPr eaLnBrk="1" hangingPunct="1">
              <a:defRPr/>
            </a:pPr>
            <a:endParaRPr lang="en-US"/>
          </a:p>
        </p:txBody>
      </p:sp>
    </p:spTree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2">
            <a:extLst>
              <a:ext uri="{FF2B5EF4-FFF2-40B4-BE49-F238E27FC236}">
                <a16:creationId xmlns:a16="http://schemas.microsoft.com/office/drawing/2014/main" id="{11BA4AB3-CB2E-9D65-058F-294EC89235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6600"/>
              <a:t>Lima Jenis Logika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AEDBFFD9-5C0E-4C82-078E-C31B9F14004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599" cy="4038601"/>
        </p:xfrm>
        <a:graphic>
          <a:graphicData uri="http://schemas.openxmlformats.org/drawingml/2006/table">
            <a:tbl>
              <a:tblPr/>
              <a:tblGrid>
                <a:gridCol w="28861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01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28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5388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2400" b="1" dirty="0">
                          <a:solidFill>
                            <a:srgbClr val="000000"/>
                          </a:solidFill>
                          <a:latin typeface="Arial Narrow" pitchFamily="34" charset="0"/>
                          <a:ea typeface="Times New Roman"/>
                          <a:cs typeface="Times New Roman"/>
                        </a:rPr>
                        <a:t>Jenis</a:t>
                      </a:r>
                      <a:r>
                        <a:rPr lang="id-ID" sz="2400" b="1" i="1" dirty="0">
                          <a:solidFill>
                            <a:srgbClr val="000000"/>
                          </a:solidFill>
                          <a:latin typeface="Arial Narrow" pitchFamily="34" charset="0"/>
                          <a:ea typeface="Times New Roman"/>
                          <a:cs typeface="Times New Roman"/>
                        </a:rPr>
                        <a:t> logic</a:t>
                      </a:r>
                      <a:endParaRPr lang="id-ID" sz="1600" dirty="0">
                        <a:latin typeface="Arial Narrow" pitchFamily="34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t-IT" sz="2400" b="1">
                          <a:solidFill>
                            <a:srgbClr val="000000"/>
                          </a:solidFill>
                          <a:latin typeface="Arial Narrow" pitchFamily="34" charset="0"/>
                          <a:ea typeface="Times New Roman"/>
                          <a:cs typeface="Times New Roman"/>
                        </a:rPr>
                        <a:t>Apa yang </a:t>
                      </a:r>
                      <a:r>
                        <a:rPr lang="it-IT" sz="2400" b="1" dirty="0">
                          <a:solidFill>
                            <a:srgbClr val="000000"/>
                          </a:solidFill>
                          <a:latin typeface="Arial Narrow" pitchFamily="34" charset="0"/>
                          <a:ea typeface="Times New Roman"/>
                          <a:cs typeface="Times New Roman"/>
                        </a:rPr>
                        <a:t>ada di </a:t>
                      </a:r>
                      <a:endParaRPr lang="id-ID" sz="1600" dirty="0">
                        <a:latin typeface="Arial Narrow" pitchFamily="34" charset="0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t-IT" sz="2400" b="1">
                          <a:solidFill>
                            <a:srgbClr val="000000"/>
                          </a:solidFill>
                          <a:latin typeface="Arial Narrow" pitchFamily="34" charset="0"/>
                          <a:ea typeface="Times New Roman"/>
                          <a:cs typeface="Times New Roman"/>
                        </a:rPr>
                        <a:t>dunia nyata</a:t>
                      </a:r>
                      <a:endParaRPr lang="id-ID" sz="1600" dirty="0">
                        <a:latin typeface="Arial Narrow" pitchFamily="34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2400" b="1" dirty="0">
                          <a:solidFill>
                            <a:srgbClr val="000000"/>
                          </a:solidFill>
                          <a:latin typeface="Arial Narrow" pitchFamily="34" charset="0"/>
                          <a:ea typeface="Times New Roman"/>
                          <a:cs typeface="Times New Roman"/>
                        </a:rPr>
                        <a:t>Apa yang dipercaya </a:t>
                      </a:r>
                      <a:endParaRPr lang="id-ID" sz="1600" dirty="0">
                        <a:latin typeface="Arial Narrow" pitchFamily="34" charset="0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2400" b="1" i="1" dirty="0">
                          <a:solidFill>
                            <a:srgbClr val="000000"/>
                          </a:solidFill>
                          <a:latin typeface="Arial Narrow" pitchFamily="34" charset="0"/>
                          <a:ea typeface="Times New Roman"/>
                          <a:cs typeface="Times New Roman"/>
                        </a:rPr>
                        <a:t>Agent </a:t>
                      </a:r>
                      <a:r>
                        <a:rPr lang="id-ID" sz="2400" b="1" dirty="0">
                          <a:solidFill>
                            <a:srgbClr val="000000"/>
                          </a:solidFill>
                          <a:latin typeface="Arial Narrow" pitchFamily="34" charset="0"/>
                          <a:ea typeface="Times New Roman"/>
                          <a:cs typeface="Times New Roman"/>
                        </a:rPr>
                        <a:t>tentang fakta</a:t>
                      </a:r>
                      <a:endParaRPr lang="id-ID" sz="1600" dirty="0">
                        <a:latin typeface="Arial Narrow" pitchFamily="34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6943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2000" i="1">
                          <a:solidFill>
                            <a:srgbClr val="000000"/>
                          </a:solidFill>
                          <a:latin typeface="Arial Narrow" pitchFamily="34" charset="0"/>
                          <a:ea typeface="Times New Roman"/>
                          <a:cs typeface="Times New Roman"/>
                        </a:rPr>
                        <a:t>Propositional logic</a:t>
                      </a:r>
                      <a:endParaRPr lang="id-ID" sz="1400">
                        <a:latin typeface="Arial Narrow" pitchFamily="34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2000" dirty="0">
                          <a:solidFill>
                            <a:srgbClr val="000000"/>
                          </a:solidFill>
                          <a:latin typeface="Arial Narrow" pitchFamily="34" charset="0"/>
                          <a:ea typeface="Times New Roman"/>
                          <a:cs typeface="Times New Roman"/>
                        </a:rPr>
                        <a:t>fakta</a:t>
                      </a:r>
                      <a:endParaRPr lang="id-ID" sz="1400" dirty="0">
                        <a:latin typeface="Arial Narrow" pitchFamily="34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2000">
                          <a:solidFill>
                            <a:srgbClr val="000000"/>
                          </a:solidFill>
                          <a:latin typeface="Arial Narrow" pitchFamily="34" charset="0"/>
                          <a:ea typeface="Times New Roman"/>
                          <a:cs typeface="Times New Roman"/>
                        </a:rPr>
                        <a:t>benar/salah /tidak diketahui</a:t>
                      </a:r>
                      <a:endParaRPr lang="id-ID" sz="1400">
                        <a:latin typeface="Arial Narrow" pitchFamily="34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943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2000" i="1">
                          <a:solidFill>
                            <a:srgbClr val="000000"/>
                          </a:solidFill>
                          <a:latin typeface="Arial Narrow" pitchFamily="34" charset="0"/>
                          <a:ea typeface="Times New Roman"/>
                          <a:cs typeface="Times New Roman"/>
                        </a:rPr>
                        <a:t>First-o</a:t>
                      </a:r>
                      <a:r>
                        <a:rPr lang="en-US" sz="2000" i="1">
                          <a:solidFill>
                            <a:srgbClr val="000000"/>
                          </a:solidFill>
                          <a:latin typeface="Arial Narrow" pitchFamily="34" charset="0"/>
                          <a:ea typeface="Times New Roman"/>
                          <a:cs typeface="Times New Roman"/>
                        </a:rPr>
                        <a:t>rder logic</a:t>
                      </a:r>
                      <a:endParaRPr lang="id-ID" sz="1400">
                        <a:latin typeface="Arial Narrow" pitchFamily="34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2000">
                          <a:solidFill>
                            <a:srgbClr val="000000"/>
                          </a:solidFill>
                          <a:latin typeface="Arial Narrow" pitchFamily="34" charset="0"/>
                          <a:ea typeface="Times New Roman"/>
                          <a:cs typeface="Times New Roman"/>
                        </a:rPr>
                        <a:t>fakta</a:t>
                      </a:r>
                      <a:r>
                        <a:rPr lang="en-US" sz="2000">
                          <a:solidFill>
                            <a:srgbClr val="000000"/>
                          </a:solidFill>
                          <a:latin typeface="Arial Narrow" pitchFamily="34" charset="0"/>
                          <a:ea typeface="Times New Roman"/>
                          <a:cs typeface="Times New Roman"/>
                        </a:rPr>
                        <a:t>, objek, relasi</a:t>
                      </a:r>
                      <a:endParaRPr lang="id-ID" sz="1400">
                        <a:latin typeface="Arial Narrow" pitchFamily="34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id-ID" sz="2000">
                          <a:solidFill>
                            <a:srgbClr val="000000"/>
                          </a:solidFill>
                          <a:latin typeface="Arial Narrow" pitchFamily="34" charset="0"/>
                          <a:ea typeface="Times New Roman"/>
                          <a:cs typeface="Times New Roman"/>
                        </a:rPr>
                        <a:t>benar/salah /tidak diketahui</a:t>
                      </a:r>
                      <a:endParaRPr lang="id-ID" sz="1400">
                        <a:latin typeface="Arial Narrow" pitchFamily="34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6943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i="1">
                          <a:solidFill>
                            <a:srgbClr val="000000"/>
                          </a:solidFill>
                          <a:latin typeface="Arial Narrow" pitchFamily="34" charset="0"/>
                          <a:ea typeface="Times New Roman"/>
                          <a:cs typeface="Times New Roman"/>
                        </a:rPr>
                        <a:t>Temporal logic</a:t>
                      </a:r>
                      <a:endParaRPr lang="id-ID" sz="1400">
                        <a:latin typeface="Arial Narrow" pitchFamily="34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2000" dirty="0">
                          <a:solidFill>
                            <a:srgbClr val="000000"/>
                          </a:solidFill>
                          <a:latin typeface="Arial Narrow" pitchFamily="34" charset="0"/>
                          <a:ea typeface="Times New Roman"/>
                          <a:cs typeface="Times New Roman"/>
                        </a:rPr>
                        <a:t>fakta, objek, relasi, waktu</a:t>
                      </a:r>
                      <a:endParaRPr lang="id-ID" sz="1400" dirty="0">
                        <a:latin typeface="Arial Narrow" pitchFamily="34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id-ID" sz="2000">
                          <a:solidFill>
                            <a:srgbClr val="000000"/>
                          </a:solidFill>
                          <a:latin typeface="Arial Narrow" pitchFamily="34" charset="0"/>
                          <a:ea typeface="Times New Roman"/>
                          <a:cs typeface="Times New Roman"/>
                        </a:rPr>
                        <a:t>benar/salah /tidak diketahui</a:t>
                      </a:r>
                      <a:endParaRPr lang="id-ID" sz="1400">
                        <a:latin typeface="Arial Narrow" pitchFamily="34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6943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i="1">
                          <a:solidFill>
                            <a:srgbClr val="000000"/>
                          </a:solidFill>
                          <a:latin typeface="Arial Narrow" pitchFamily="34" charset="0"/>
                          <a:ea typeface="Times New Roman"/>
                          <a:cs typeface="Times New Roman"/>
                        </a:rPr>
                        <a:t>Probability theory</a:t>
                      </a:r>
                      <a:endParaRPr lang="id-ID" sz="1400" dirty="0">
                        <a:latin typeface="Arial Narrow" pitchFamily="34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rial Narrow" pitchFamily="34" charset="0"/>
                          <a:ea typeface="Times New Roman"/>
                          <a:cs typeface="Times New Roman"/>
                        </a:rPr>
                        <a:t>fakta</a:t>
                      </a:r>
                      <a:endParaRPr lang="id-ID" sz="1400">
                        <a:latin typeface="Arial Narrow" pitchFamily="34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err="1">
                          <a:solidFill>
                            <a:srgbClr val="000000"/>
                          </a:solidFill>
                          <a:latin typeface="Arial Narrow" pitchFamily="34" charset="0"/>
                          <a:ea typeface="Times New Roman"/>
                          <a:cs typeface="Times New Roman"/>
                        </a:rPr>
                        <a:t>derajat</a:t>
                      </a:r>
                      <a:r>
                        <a:rPr lang="en-US" sz="2000">
                          <a:solidFill>
                            <a:srgbClr val="000000"/>
                          </a:solidFill>
                          <a:latin typeface="Arial Narrow" pitchFamily="34" charset="0"/>
                          <a:ea typeface="Times New Roman"/>
                          <a:cs typeface="Times New Roman"/>
                        </a:rPr>
                        <a:t> kepercayaan 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 Narrow" pitchFamily="34" charset="0"/>
                          <a:ea typeface="Times New Roman"/>
                          <a:cs typeface="Times New Roman"/>
                        </a:rPr>
                        <a:t>[0,1]</a:t>
                      </a:r>
                      <a:endParaRPr lang="id-ID" sz="1400" dirty="0">
                        <a:latin typeface="Arial Narrow" pitchFamily="34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6943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i="1">
                          <a:solidFill>
                            <a:srgbClr val="000000"/>
                          </a:solidFill>
                          <a:latin typeface="Arial Narrow" pitchFamily="34" charset="0"/>
                          <a:ea typeface="Times New Roman"/>
                          <a:cs typeface="Times New Roman"/>
                        </a:rPr>
                        <a:t>Fuzzy </a:t>
                      </a:r>
                      <a:r>
                        <a:rPr lang="en-US" sz="2000" i="1" dirty="0">
                          <a:solidFill>
                            <a:srgbClr val="000000"/>
                          </a:solidFill>
                          <a:latin typeface="Arial Narrow" pitchFamily="34" charset="0"/>
                          <a:ea typeface="Times New Roman"/>
                          <a:cs typeface="Times New Roman"/>
                        </a:rPr>
                        <a:t>logic</a:t>
                      </a:r>
                      <a:endParaRPr lang="id-ID" sz="1400" dirty="0">
                        <a:latin typeface="Arial Narrow" pitchFamily="34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rial Narrow" pitchFamily="34" charset="0"/>
                          <a:ea typeface="Times New Roman"/>
                          <a:cs typeface="Times New Roman"/>
                        </a:rPr>
                        <a:t>derajat kebenaran</a:t>
                      </a:r>
                      <a:endParaRPr lang="id-ID" sz="1400">
                        <a:latin typeface="Arial Narrow" pitchFamily="34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err="1">
                          <a:solidFill>
                            <a:srgbClr val="000000"/>
                          </a:solidFill>
                          <a:latin typeface="Arial Narrow" pitchFamily="34" charset="0"/>
                          <a:ea typeface="Times New Roman"/>
                          <a:cs typeface="Times New Roman"/>
                        </a:rPr>
                        <a:t>derajat</a:t>
                      </a:r>
                      <a:r>
                        <a:rPr lang="en-US" sz="2000">
                          <a:solidFill>
                            <a:srgbClr val="000000"/>
                          </a:solidFill>
                          <a:latin typeface="Arial Narrow" pitchFamily="34" charset="0"/>
                          <a:ea typeface="Times New Roman"/>
                          <a:cs typeface="Times New Roman"/>
                        </a:rPr>
                        <a:t> kepercayaan 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 Narrow" pitchFamily="34" charset="0"/>
                          <a:ea typeface="Times New Roman"/>
                          <a:cs typeface="Times New Roman"/>
                        </a:rPr>
                        <a:t>[0,1]</a:t>
                      </a:r>
                      <a:endParaRPr lang="id-ID" sz="1400" dirty="0">
                        <a:latin typeface="Arial Narrow" pitchFamily="34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4" descr="Oak">
            <a:extLst>
              <a:ext uri="{FF2B5EF4-FFF2-40B4-BE49-F238E27FC236}">
                <a16:creationId xmlns:a16="http://schemas.microsoft.com/office/drawing/2014/main" id="{87C316B8-E0E2-2650-EEDA-0E1B0F64C4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6600"/>
              <a:t>Pengertian </a:t>
            </a:r>
            <a:r>
              <a:rPr lang="sv-SE" altLang="en-US" sz="6600"/>
              <a:t>Logika Fuzzy</a:t>
            </a:r>
            <a:r>
              <a:rPr lang="en-US" altLang="en-US" sz="6600"/>
              <a:t> 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06B0F31-7E90-169B-BCEA-3E62A63C9F9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rtlCol="0">
            <a:normAutofit lnSpcReduction="10000"/>
          </a:bodyPr>
          <a:lstStyle/>
          <a:p>
            <a:pPr eaLnBrk="1" hangingPunct="1">
              <a:defRPr/>
            </a:pPr>
            <a:r>
              <a:rPr lang="sv-SE" altLang="en-US" sz="2400" dirty="0">
                <a:solidFill>
                  <a:srgbClr val="FF3300"/>
                </a:solidFill>
                <a:latin typeface="+mn-lt"/>
              </a:rPr>
              <a:t>Logika fuzzy</a:t>
            </a:r>
            <a:r>
              <a:rPr lang="sv-SE" altLang="en-US" sz="2400" dirty="0">
                <a:latin typeface="+mn-lt"/>
              </a:rPr>
              <a:t> adalah metodologi sistem kontrol pemecahan masalah, yang cocok untuk diimplementasikan pada sistem</a:t>
            </a:r>
            <a:r>
              <a:rPr lang="en-US" altLang="en-US" sz="2400" dirty="0">
                <a:latin typeface="+mn-lt"/>
              </a:rPr>
              <a:t> </a:t>
            </a:r>
          </a:p>
          <a:p>
            <a:pPr eaLnBrk="1" hangingPunct="1">
              <a:defRPr/>
            </a:pPr>
            <a:r>
              <a:rPr lang="sv-SE" altLang="en-US" sz="2400" dirty="0">
                <a:solidFill>
                  <a:srgbClr val="FF3300"/>
                </a:solidFill>
                <a:latin typeface="+mn-lt"/>
              </a:rPr>
              <a:t>Logika klasik</a:t>
            </a:r>
            <a:r>
              <a:rPr lang="sv-SE" altLang="en-US" sz="2400" dirty="0">
                <a:latin typeface="+mn-lt"/>
              </a:rPr>
              <a:t> :”segala sesuatu bersifat biner”, sehingga semua ini dapat mempunyai nilai keanggotaan </a:t>
            </a:r>
            <a:r>
              <a:rPr lang="sv-SE" altLang="en-US" sz="2400" dirty="0">
                <a:solidFill>
                  <a:srgbClr val="FF3300"/>
                </a:solidFill>
                <a:latin typeface="+mn-lt"/>
              </a:rPr>
              <a:t>0 atau 1</a:t>
            </a:r>
            <a:r>
              <a:rPr lang="en-US" altLang="en-US" sz="2400" dirty="0">
                <a:latin typeface="+mn-lt"/>
              </a:rPr>
              <a:t> </a:t>
            </a:r>
            <a:r>
              <a:rPr lang="id-ID" altLang="en-US" sz="2400" dirty="0">
                <a:latin typeface="+mn-lt"/>
              </a:rPr>
              <a:t>(contoh: ya atau tidak, sama atau tidak sama, ).</a:t>
            </a:r>
          </a:p>
          <a:p>
            <a:pPr eaLnBrk="1" hangingPunct="1">
              <a:defRPr/>
            </a:pPr>
            <a:r>
              <a:rPr lang="sv-SE" altLang="en-US" sz="2400" dirty="0">
                <a:latin typeface="+mn-lt"/>
              </a:rPr>
              <a:t>Logika fuzzy</a:t>
            </a:r>
            <a:r>
              <a:rPr lang="sv-SE" altLang="en-US" sz="2400" i="1" dirty="0">
                <a:latin typeface="+mn-lt"/>
              </a:rPr>
              <a:t> </a:t>
            </a:r>
            <a:r>
              <a:rPr lang="sv-SE" altLang="en-US" sz="2400" dirty="0">
                <a:latin typeface="+mn-lt"/>
              </a:rPr>
              <a:t>memungkinkan nilai keanggotaan berada diantara 0 dan 1</a:t>
            </a:r>
            <a:r>
              <a:rPr lang="id-ID" altLang="en-US" sz="2400" dirty="0">
                <a:latin typeface="+mn-lt"/>
              </a:rPr>
              <a:t> (contoh : agak mirip, sedang, hampir, mendekati dll.)</a:t>
            </a:r>
            <a:endParaRPr lang="en-US" altLang="en-US" sz="2400" dirty="0">
              <a:latin typeface="+mn-lt"/>
            </a:endParaRPr>
          </a:p>
          <a:p>
            <a:pPr eaLnBrk="1" hangingPunct="1">
              <a:defRPr/>
            </a:pPr>
            <a:endParaRPr lang="en-US" dirty="0">
              <a:latin typeface="+mn-lt"/>
            </a:endParaRPr>
          </a:p>
        </p:txBody>
      </p:sp>
      <p:pic>
        <p:nvPicPr>
          <p:cNvPr id="29700" name="Picture 7" descr="What is Fuzzy Logic in AI and What are its Applications? | Edureka">
            <a:extLst>
              <a:ext uri="{FF2B5EF4-FFF2-40B4-BE49-F238E27FC236}">
                <a16:creationId xmlns:a16="http://schemas.microsoft.com/office/drawing/2014/main" id="{02116B73-88FC-4C22-5966-0217B955C569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557963" y="1690688"/>
            <a:ext cx="5322887" cy="3740150"/>
          </a:xfrm>
          <a:noFill/>
        </p:spPr>
      </p:pic>
    </p:spTree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2">
            <a:extLst>
              <a:ext uri="{FF2B5EF4-FFF2-40B4-BE49-F238E27FC236}">
                <a16:creationId xmlns:a16="http://schemas.microsoft.com/office/drawing/2014/main" id="{D915E8ED-554E-F2E4-A9E7-D950EC16CE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eaLnBrk="1" hangingPunct="1"/>
            <a:r>
              <a:rPr lang="en-US" altLang="en-US" sz="6600"/>
              <a:t>Himpunan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73266DE-B801-6FC0-8159-A9C0414339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444500"/>
          </a:xfrm>
        </p:spPr>
        <p:txBody>
          <a:bodyPr rtlCol="0" anchor="t">
            <a:normAutofit lnSpcReduction="10000"/>
          </a:bodyPr>
          <a:lstStyle/>
          <a:p>
            <a:pPr eaLnBrk="1" hangingPunct="1">
              <a:defRPr/>
            </a:pPr>
            <a:r>
              <a:rPr lang="id-ID" sz="2800" u="sng" dirty="0">
                <a:latin typeface="+mn-lt"/>
              </a:rPr>
              <a:t>Himpunan Klasik</a:t>
            </a:r>
            <a:r>
              <a:rPr lang="en-US" sz="2800" u="sng" dirty="0">
                <a:latin typeface="+mn-lt"/>
              </a:rPr>
              <a:t>(C</a:t>
            </a:r>
            <a:r>
              <a:rPr lang="id-ID" sz="2800" u="sng" dirty="0">
                <a:latin typeface="+mn-lt"/>
              </a:rPr>
              <a:t>risp Set</a:t>
            </a:r>
            <a:r>
              <a:rPr lang="en-US" sz="2800" u="sng" dirty="0">
                <a:latin typeface="+mn-lt"/>
              </a:rPr>
              <a:t>)</a:t>
            </a:r>
            <a:r>
              <a:rPr lang="id-ID" sz="2800" u="sng" dirty="0">
                <a:latin typeface="+mn-lt"/>
              </a:rPr>
              <a:t> </a:t>
            </a:r>
            <a:endParaRPr lang="en-US" sz="2800" u="sng" dirty="0">
              <a:latin typeface="+mn-lt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825D51F-E475-0523-A049-4D5B1617E095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ph sz="half" idx="2"/>
          </p:nvPr>
        </p:nvSpPr>
        <p:spPr>
          <a:xfrm>
            <a:off x="839789" y="2125687"/>
            <a:ext cx="5157787" cy="4063976"/>
          </a:xfrm>
          <a:blipFill>
            <a:blip r:embed="rId2"/>
            <a:stretch>
              <a:fillRect l="-1418" t="-2703" r="-1300"/>
            </a:stretch>
          </a:blipFill>
        </p:spPr>
        <p:txBody>
          <a:bodyPr/>
          <a:lstStyle/>
          <a:p>
            <a:r>
              <a:rPr lang="en-US">
                <a:noFill/>
              </a:rPr>
              <a:t> 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4B3DDEC-D079-7051-BD3D-B30AE919B1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444500"/>
          </a:xfrm>
        </p:spPr>
        <p:txBody>
          <a:bodyPr rtlCol="0" anchor="t">
            <a:normAutofit lnSpcReduction="10000"/>
          </a:bodyPr>
          <a:lstStyle/>
          <a:p>
            <a:pPr eaLnBrk="1" hangingPunct="1">
              <a:defRPr/>
            </a:pPr>
            <a:r>
              <a:rPr lang="id-ID" sz="2800" u="sng">
                <a:latin typeface="+mn-lt"/>
              </a:rPr>
              <a:t>Himpunan </a:t>
            </a:r>
            <a:r>
              <a:rPr lang="en-US" sz="2800" u="sng">
                <a:latin typeface="+mn-lt"/>
              </a:rPr>
              <a:t>Fuzzy (</a:t>
            </a:r>
            <a:r>
              <a:rPr lang="en-US" sz="2800" u="sng" dirty="0">
                <a:latin typeface="+mn-lt"/>
              </a:rPr>
              <a:t>Fuzzy </a:t>
            </a:r>
            <a:r>
              <a:rPr lang="en-US" sz="2800" u="sng">
                <a:latin typeface="+mn-lt"/>
              </a:rPr>
              <a:t>Set)</a:t>
            </a:r>
            <a:endParaRPr lang="en-US" sz="2800" u="sng" dirty="0">
              <a:latin typeface="+mn-lt"/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F84DB33-AB94-D007-7034-04A4815F116F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ph sz="quarter" idx="4"/>
          </p:nvPr>
        </p:nvSpPr>
        <p:spPr>
          <a:xfrm>
            <a:off x="6172201" y="2125687"/>
            <a:ext cx="5183188" cy="4063976"/>
          </a:xfrm>
          <a:blipFill>
            <a:blip r:embed="rId3"/>
            <a:stretch>
              <a:fillRect l="-1176" t="-2703" r="-2235"/>
            </a:stretch>
          </a:blipFill>
        </p:spPr>
        <p:txBody>
          <a:bodyPr/>
          <a:lstStyle/>
          <a:p>
            <a:r>
              <a:rPr lang="en-US">
                <a:noFill/>
              </a:rPr>
              <a:t> </a:t>
            </a:r>
          </a:p>
        </p:txBody>
      </p:sp>
    </p:spTree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9" descr="Oak">
            <a:extLst>
              <a:ext uri="{FF2B5EF4-FFF2-40B4-BE49-F238E27FC236}">
                <a16:creationId xmlns:a16="http://schemas.microsoft.com/office/drawing/2014/main" id="{6DC77F39-D126-5CF0-FD38-57396C0A1F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v-SE" altLang="en-US" sz="6600"/>
              <a:t>Dasar-Dasar Sistem Fuzzy</a:t>
            </a:r>
            <a:r>
              <a:rPr lang="en-US" altLang="en-US" sz="6600"/>
              <a:t> 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F1A5328-4B3B-8928-72AF-EB121F30B23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rtlCol="0">
            <a:normAutofit/>
          </a:bodyPr>
          <a:lstStyle/>
          <a:p>
            <a:pPr marL="457200" indent="-457200" eaLnBrk="1" hangingPunct="1">
              <a:buFont typeface="+mj-lt"/>
              <a:buAutoNum type="alphaLcPeriod"/>
              <a:defRPr/>
            </a:pPr>
            <a:r>
              <a:rPr lang="sv-SE" altLang="en-US" sz="2000" b="1" dirty="0">
                <a:solidFill>
                  <a:srgbClr val="FF3300"/>
                </a:solidFill>
                <a:latin typeface="+mn-lt"/>
              </a:rPr>
              <a:t>Variabel fuzzy</a:t>
            </a:r>
            <a:r>
              <a:rPr lang="sv-SE" altLang="en-US" sz="2000" dirty="0">
                <a:latin typeface="+mn-lt"/>
              </a:rPr>
              <a:t>, yaitu variabel yang akan dibahas dalam suatu sistem fuzzy. </a:t>
            </a:r>
            <a:r>
              <a:rPr lang="sv-SE" altLang="en-US" sz="2000" b="1" dirty="0">
                <a:latin typeface="+mn-lt"/>
              </a:rPr>
              <a:t>Contoh: </a:t>
            </a:r>
            <a:r>
              <a:rPr lang="sv-SE" altLang="en-US" sz="2000" dirty="0">
                <a:latin typeface="+mn-lt"/>
              </a:rPr>
              <a:t>penghasilan, temperatur, permintaan, umur dan sebagainya.</a:t>
            </a:r>
          </a:p>
          <a:p>
            <a:pPr marL="457200" indent="-457200" eaLnBrk="1" hangingPunct="1">
              <a:buFont typeface="+mj-lt"/>
              <a:buAutoNum type="alphaLcPeriod"/>
              <a:defRPr/>
            </a:pPr>
            <a:r>
              <a:rPr lang="sv-SE" altLang="en-US" sz="2000" b="1" dirty="0">
                <a:solidFill>
                  <a:srgbClr val="FF3300"/>
                </a:solidFill>
                <a:latin typeface="+mn-lt"/>
              </a:rPr>
              <a:t>Himpunan fuzzy</a:t>
            </a:r>
            <a:r>
              <a:rPr lang="sv-SE" altLang="en-US" sz="2000" dirty="0">
                <a:latin typeface="+mn-lt"/>
              </a:rPr>
              <a:t>, yaitu suatu kelompok yang mewakili suatu keadaan tertentu dalam suatu variabel fuzzy.</a:t>
            </a:r>
            <a:endParaRPr lang="en-US" sz="2000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5ECC3C-A774-E2F9-CE85-743D5D84C7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3965575"/>
          </a:xfrm>
          <a:ln>
            <a:solidFill>
              <a:schemeClr val="accent1"/>
            </a:solidFill>
          </a:ln>
        </p:spPr>
        <p:txBody>
          <a:bodyPr rtlCol="0" anchor="ctr">
            <a:noAutofit/>
          </a:bodyPr>
          <a:lstStyle/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sv-SE" altLang="en-US" sz="2000" b="1" dirty="0">
                <a:solidFill>
                  <a:srgbClr val="FF3300"/>
                </a:solidFill>
                <a:latin typeface="+mn-lt"/>
              </a:rPr>
              <a:t>Himpunan fuzzy </a:t>
            </a:r>
            <a:r>
              <a:rPr lang="sv-SE" altLang="en-US" sz="2000" dirty="0">
                <a:solidFill>
                  <a:srgbClr val="FF3300"/>
                </a:solidFill>
                <a:latin typeface="+mn-lt"/>
              </a:rPr>
              <a:t>memiliki 2 atribut</a:t>
            </a:r>
            <a:r>
              <a:rPr lang="id-ID" altLang="en-US" sz="2000" dirty="0">
                <a:latin typeface="+mn-lt"/>
              </a:rPr>
              <a:t> </a:t>
            </a:r>
            <a:r>
              <a:rPr lang="sv-SE" altLang="en-US" sz="2000" dirty="0">
                <a:latin typeface="+mn-lt"/>
              </a:rPr>
              <a:t>:</a:t>
            </a:r>
          </a:p>
          <a:p>
            <a:pPr eaLnBrk="1" hangingPunct="1">
              <a:defRPr/>
            </a:pPr>
            <a:r>
              <a:rPr lang="sv-SE" altLang="en-US" sz="2000" b="1" dirty="0">
                <a:solidFill>
                  <a:srgbClr val="FF3300"/>
                </a:solidFill>
                <a:latin typeface="+mn-lt"/>
              </a:rPr>
              <a:t>Linguistik</a:t>
            </a:r>
            <a:r>
              <a:rPr lang="sv-SE" altLang="en-US" sz="2000" dirty="0">
                <a:latin typeface="+mn-lt"/>
              </a:rPr>
              <a:t>, yaitu nama suatu kelompok yang mewakili suatu keadaan tertentu dengan menggunakan bahasa alami, misalnya: </a:t>
            </a:r>
          </a:p>
          <a:p>
            <a:pPr lvl="1" eaLnBrk="1" hangingPunct="1">
              <a:defRPr/>
            </a:pPr>
            <a:r>
              <a:rPr lang="sv-SE" altLang="en-US" sz="2000" dirty="0">
                <a:latin typeface="+mn-lt"/>
              </a:rPr>
              <a:t>DINGIN, SEJUK, PANAS mewakili variabel temperatur, </a:t>
            </a:r>
          </a:p>
          <a:p>
            <a:pPr lvl="1" eaLnBrk="1" hangingPunct="1">
              <a:defRPr/>
            </a:pPr>
            <a:r>
              <a:rPr lang="sv-SE" altLang="en-US" sz="2000" dirty="0">
                <a:latin typeface="+mn-lt"/>
              </a:rPr>
              <a:t>MUDA, PARUHBAYA, TUA, mewakili variabel umur.</a:t>
            </a:r>
          </a:p>
          <a:p>
            <a:pPr eaLnBrk="1" hangingPunct="1">
              <a:defRPr/>
            </a:pPr>
            <a:r>
              <a:rPr lang="sv-SE" altLang="en-US" sz="2000" b="1" dirty="0">
                <a:solidFill>
                  <a:srgbClr val="FF3300"/>
                </a:solidFill>
                <a:latin typeface="+mn-lt"/>
              </a:rPr>
              <a:t>Numeris</a:t>
            </a:r>
            <a:r>
              <a:rPr lang="sv-SE" altLang="en-US" sz="2000" b="1" dirty="0">
                <a:latin typeface="+mn-lt"/>
              </a:rPr>
              <a:t>, </a:t>
            </a:r>
            <a:r>
              <a:rPr lang="sv-SE" altLang="en-US" sz="2000" dirty="0">
                <a:latin typeface="+mn-lt"/>
              </a:rPr>
              <a:t>yaitu suatu nilai yang menunjukkan ukuran dari suatu variabel</a:t>
            </a:r>
            <a:r>
              <a:rPr lang="id-ID" altLang="en-US" sz="2000" dirty="0">
                <a:latin typeface="+mn-lt"/>
              </a:rPr>
              <a:t> </a:t>
            </a:r>
            <a:r>
              <a:rPr lang="sv-SE" altLang="en-US" sz="2000" dirty="0">
                <a:latin typeface="+mn-lt"/>
              </a:rPr>
              <a:t>misalnya: 10, 35, 40, dan sebagainya.</a:t>
            </a:r>
            <a:endParaRPr lang="en-US" altLang="en-US" sz="2000" dirty="0">
              <a:latin typeface="+mn-lt"/>
            </a:endParaRPr>
          </a:p>
        </p:txBody>
      </p:sp>
      <p:pic>
        <p:nvPicPr>
          <p:cNvPr id="31749" name="Picture 5" descr="ARV-7: Fuzzy Logic Control">
            <a:extLst>
              <a:ext uri="{FF2B5EF4-FFF2-40B4-BE49-F238E27FC236}">
                <a16:creationId xmlns:a16="http://schemas.microsoft.com/office/drawing/2014/main" id="{07BF7B5E-6750-444C-925F-0761F145A1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4191000"/>
            <a:ext cx="4419600" cy="182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9" descr="Oak">
            <a:extLst>
              <a:ext uri="{FF2B5EF4-FFF2-40B4-BE49-F238E27FC236}">
                <a16:creationId xmlns:a16="http://schemas.microsoft.com/office/drawing/2014/main" id="{169DFFF0-AD16-2D8A-1F5F-0E0F25EA01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v-SE" altLang="en-US" sz="6600"/>
              <a:t>Dasar-Dasar Sistem Fuzzy</a:t>
            </a:r>
            <a:r>
              <a:rPr lang="en-US" altLang="en-US" sz="660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DB996-CAF5-F7C2-6556-85C885CE81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3965575"/>
          </a:xfrm>
          <a:ln>
            <a:solidFill>
              <a:schemeClr val="accent1"/>
            </a:solidFill>
          </a:ln>
        </p:spPr>
        <p:txBody>
          <a:bodyPr rtlCol="0" anchor="ctr">
            <a:noAutofit/>
          </a:bodyPr>
          <a:lstStyle/>
          <a:p>
            <a:pPr marL="457200" indent="-457200" eaLnBrk="1" hangingPunct="1">
              <a:buFont typeface="+mj-lt"/>
              <a:buAutoNum type="alphaLcPeriod" startAt="3"/>
              <a:defRPr/>
            </a:pPr>
            <a:r>
              <a:rPr lang="sv-SE" altLang="en-US" sz="2000" b="1" dirty="0">
                <a:solidFill>
                  <a:srgbClr val="FF3300"/>
                </a:solidFill>
                <a:latin typeface="+mn-lt"/>
              </a:rPr>
              <a:t>Universe of discourse (Semestea Pembicaraan) </a:t>
            </a:r>
            <a:r>
              <a:rPr lang="sv-SE" altLang="en-US" sz="2000" dirty="0">
                <a:latin typeface="+mn-lt"/>
              </a:rPr>
              <a:t>, yaitu keseluruhan nilai yang diperbolehkan untuk dioperasikan dalam suatu variabel fuzzy, berisi himpunan bilangan real yang senantiasa bertambah secara monotan. </a:t>
            </a:r>
          </a:p>
          <a:p>
            <a:pPr marL="457200" indent="-457200" eaLnBrk="1" hangingPunct="1">
              <a:buFont typeface="+mj-lt"/>
              <a:buAutoNum type="alphaLcPeriod" startAt="3"/>
              <a:defRPr/>
            </a:pPr>
            <a:r>
              <a:rPr lang="sv-SE" altLang="en-US" sz="2000" b="1" dirty="0">
                <a:solidFill>
                  <a:srgbClr val="FF3300"/>
                </a:solidFill>
                <a:latin typeface="+mn-lt"/>
              </a:rPr>
              <a:t>Domain</a:t>
            </a:r>
            <a:r>
              <a:rPr lang="sv-SE" altLang="en-US" sz="2000" b="1" dirty="0">
                <a:latin typeface="+mn-lt"/>
              </a:rPr>
              <a:t>, </a:t>
            </a:r>
            <a:r>
              <a:rPr lang="sv-SE" altLang="en-US" sz="2000" dirty="0">
                <a:latin typeface="+mn-lt"/>
              </a:rPr>
              <a:t>yaitu </a:t>
            </a:r>
            <a:r>
              <a:rPr lang="en-US" altLang="en-US" sz="2000" dirty="0" err="1">
                <a:latin typeface="+mn-lt"/>
              </a:rPr>
              <a:t>keseluruhan</a:t>
            </a:r>
            <a:r>
              <a:rPr lang="en-US" altLang="en-US" sz="2000" dirty="0">
                <a:latin typeface="+mn-lt"/>
              </a:rPr>
              <a:t> </a:t>
            </a:r>
            <a:r>
              <a:rPr lang="en-US" altLang="en-US" sz="2000" dirty="0" err="1">
                <a:latin typeface="+mn-lt"/>
              </a:rPr>
              <a:t>nilai</a:t>
            </a:r>
            <a:r>
              <a:rPr lang="en-US" altLang="en-US" sz="2000" dirty="0">
                <a:latin typeface="+mn-lt"/>
              </a:rPr>
              <a:t> yang </a:t>
            </a:r>
            <a:r>
              <a:rPr lang="en-US" altLang="en-US" sz="2000" dirty="0" err="1">
                <a:latin typeface="+mn-lt"/>
              </a:rPr>
              <a:t>diijinkan</a:t>
            </a:r>
            <a:r>
              <a:rPr lang="en-US" altLang="en-US" sz="2000" dirty="0">
                <a:latin typeface="+mn-lt"/>
              </a:rPr>
              <a:t> </a:t>
            </a:r>
            <a:r>
              <a:rPr lang="en-US" altLang="en-US" sz="2000" dirty="0" err="1">
                <a:latin typeface="+mn-lt"/>
              </a:rPr>
              <a:t>dalam</a:t>
            </a:r>
            <a:r>
              <a:rPr lang="en-US" altLang="en-US" sz="2000" dirty="0">
                <a:latin typeface="+mn-lt"/>
              </a:rPr>
              <a:t> </a:t>
            </a:r>
            <a:r>
              <a:rPr lang="en-US" altLang="en-US" sz="2000" dirty="0" err="1">
                <a:latin typeface="+mn-lt"/>
              </a:rPr>
              <a:t>semesta</a:t>
            </a:r>
            <a:r>
              <a:rPr lang="en-US" altLang="en-US" sz="2000" dirty="0">
                <a:latin typeface="+mn-lt"/>
              </a:rPr>
              <a:t> </a:t>
            </a:r>
            <a:r>
              <a:rPr lang="en-US" altLang="en-US" sz="2000" dirty="0" err="1">
                <a:latin typeface="+mn-lt"/>
              </a:rPr>
              <a:t>pembicaraan</a:t>
            </a:r>
            <a:r>
              <a:rPr lang="en-US" altLang="en-US" sz="2000" dirty="0">
                <a:latin typeface="+mn-lt"/>
              </a:rPr>
              <a:t> dan </a:t>
            </a:r>
            <a:r>
              <a:rPr lang="en-US" altLang="en-US" sz="2000" dirty="0" err="1">
                <a:latin typeface="+mn-lt"/>
              </a:rPr>
              <a:t>boleh</a:t>
            </a:r>
            <a:r>
              <a:rPr lang="en-US" altLang="en-US" sz="2000" dirty="0">
                <a:latin typeface="+mn-lt"/>
              </a:rPr>
              <a:t> </a:t>
            </a:r>
            <a:r>
              <a:rPr lang="en-US" altLang="en-US" sz="2000" dirty="0" err="1">
                <a:latin typeface="+mn-lt"/>
              </a:rPr>
              <a:t>dio</a:t>
            </a:r>
            <a:r>
              <a:rPr lang="en-US" altLang="en-US" sz="2000" dirty="0">
                <a:latin typeface="+mn-lt"/>
              </a:rPr>
              <a:t>[</a:t>
            </a:r>
            <a:r>
              <a:rPr lang="en-US" altLang="en-US" sz="2000" dirty="0" err="1">
                <a:latin typeface="+mn-lt"/>
              </a:rPr>
              <a:t>perasikan</a:t>
            </a:r>
            <a:r>
              <a:rPr lang="en-US" altLang="en-US" sz="2000" dirty="0">
                <a:latin typeface="+mn-lt"/>
              </a:rPr>
              <a:t> </a:t>
            </a:r>
            <a:r>
              <a:rPr lang="en-US" altLang="en-US" sz="2000" dirty="0" err="1">
                <a:latin typeface="+mn-lt"/>
              </a:rPr>
              <a:t>dalam</a:t>
            </a:r>
            <a:r>
              <a:rPr lang="en-US" altLang="en-US" sz="2000" dirty="0">
                <a:latin typeface="+mn-lt"/>
              </a:rPr>
              <a:t> </a:t>
            </a:r>
            <a:r>
              <a:rPr lang="en-US" altLang="en-US" sz="2000" dirty="0" err="1">
                <a:latin typeface="+mn-lt"/>
              </a:rPr>
              <a:t>suatu</a:t>
            </a:r>
            <a:r>
              <a:rPr lang="en-US" altLang="en-US" sz="2000" dirty="0">
                <a:latin typeface="+mn-lt"/>
              </a:rPr>
              <a:t> </a:t>
            </a:r>
            <a:r>
              <a:rPr lang="en-US" altLang="en-US" sz="2000" dirty="0" err="1">
                <a:latin typeface="+mn-lt"/>
              </a:rPr>
              <a:t>himpunan</a:t>
            </a:r>
            <a:r>
              <a:rPr lang="en-US" altLang="en-US" sz="2000" dirty="0">
                <a:latin typeface="+mn-lt"/>
              </a:rPr>
              <a:t> fuzzy</a:t>
            </a:r>
            <a:r>
              <a:rPr lang="sv-SE" altLang="en-US" sz="2000" dirty="0">
                <a:latin typeface="+mn-lt"/>
              </a:rPr>
              <a:t>.</a:t>
            </a:r>
            <a:endParaRPr lang="en-US" altLang="en-US" sz="2000" dirty="0">
              <a:latin typeface="+mn-lt"/>
            </a:endParaRPr>
          </a:p>
        </p:txBody>
      </p:sp>
      <p:pic>
        <p:nvPicPr>
          <p:cNvPr id="32772" name="Content Placeholder 5">
            <a:extLst>
              <a:ext uri="{FF2B5EF4-FFF2-40B4-BE49-F238E27FC236}">
                <a16:creationId xmlns:a16="http://schemas.microsoft.com/office/drawing/2014/main" id="{A3E7BFF2-6C2A-9F1C-11B5-09FE0556D16A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68363" y="1690688"/>
            <a:ext cx="5181600" cy="4275137"/>
          </a:xfrm>
        </p:spPr>
      </p:pic>
    </p:spTree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F380FF5B-9690-06A6-1D35-AAF856FCF3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v-SE" altLang="en-US" sz="6600"/>
              <a:t>Himpunan Fuzzy</a:t>
            </a:r>
            <a:endParaRPr lang="en-US" altLang="en-US" sz="6600"/>
          </a:p>
        </p:txBody>
      </p:sp>
      <p:sp>
        <p:nvSpPr>
          <p:cNvPr id="34819" name="Content Placeholder 7">
            <a:extLst>
              <a:ext uri="{FF2B5EF4-FFF2-40B4-BE49-F238E27FC236}">
                <a16:creationId xmlns:a16="http://schemas.microsoft.com/office/drawing/2014/main" id="{F8CC0DFF-7A62-19BD-35B9-A7BA0124C028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/>
        <p:txBody>
          <a:bodyPr/>
          <a:lstStyle/>
          <a:p>
            <a:pPr eaLnBrk="1" hangingPunct="1"/>
            <a:r>
              <a:rPr lang="id-ID" altLang="en-US" sz="2400"/>
              <a:t>Dingin = {5, 15, 25, 35} dan derajat keanggotaannya dinyatakan oleh </a:t>
            </a:r>
            <a:r>
              <a:rPr lang="id-ID" altLang="en-US" sz="2400" i="1"/>
              <a:t>µ</a:t>
            </a:r>
            <a:r>
              <a:rPr lang="id-ID" altLang="en-US" sz="2400" i="1" baseline="-25000"/>
              <a:t>Dingin</a:t>
            </a:r>
            <a:r>
              <a:rPr lang="id-ID" altLang="en-US" sz="2400"/>
              <a:t> = {1; 0,9; 0,5; 0,1}</a:t>
            </a:r>
            <a:endParaRPr lang="en-US" altLang="en-US" sz="2400"/>
          </a:p>
          <a:p>
            <a:pPr eaLnBrk="1" hangingPunct="1"/>
            <a:endParaRPr lang="id-ID" altLang="en-US" sz="2400"/>
          </a:p>
          <a:p>
            <a:pPr eaLnBrk="1" hangingPunct="1"/>
            <a:r>
              <a:rPr lang="id-ID" altLang="en-US" sz="2400"/>
              <a:t>Hangat = {5, 15, 25, 35, 45} dan derajat keanggotaannya dinyatakan oleh</a:t>
            </a:r>
            <a:r>
              <a:rPr lang="id-ID" altLang="en-US" sz="2400" i="1"/>
              <a:t> µ</a:t>
            </a:r>
            <a:r>
              <a:rPr lang="id-ID" altLang="en-US" sz="2400" i="1" baseline="-25000"/>
              <a:t>Hangat</a:t>
            </a:r>
            <a:r>
              <a:rPr lang="id-ID" altLang="en-US" sz="2400"/>
              <a:t> = {0,1; 0,8; 1; 0,6; 0,2}</a:t>
            </a:r>
            <a:endParaRPr lang="en-US" altLang="en-US" sz="2400"/>
          </a:p>
          <a:p>
            <a:pPr eaLnBrk="1" hangingPunct="1"/>
            <a:endParaRPr lang="id-ID" altLang="en-US" sz="2400"/>
          </a:p>
          <a:p>
            <a:pPr eaLnBrk="1" hangingPunct="1"/>
            <a:r>
              <a:rPr lang="id-ID" altLang="en-US" sz="2400"/>
              <a:t>Panas = {25, 35, 45} dan derajat keanggotaannya dinyatakan oleh</a:t>
            </a:r>
            <a:r>
              <a:rPr lang="id-ID" altLang="en-US" sz="2400" i="1"/>
              <a:t> µ</a:t>
            </a:r>
            <a:r>
              <a:rPr lang="id-ID" altLang="en-US" sz="2400" i="1" baseline="-25000"/>
              <a:t>Panas</a:t>
            </a:r>
            <a:r>
              <a:rPr lang="id-ID" altLang="en-US" sz="2400"/>
              <a:t> = {0,6; 0,9; 1}</a:t>
            </a:r>
          </a:p>
          <a:p>
            <a:pPr eaLnBrk="1" hangingPunct="1"/>
            <a:endParaRPr lang="en-US" altLang="en-US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91CA32D1-16DC-1674-AF6C-34F6F6685B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5900" y="1814513"/>
            <a:ext cx="6350000" cy="301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6075" indent="-346075" defTabSz="4572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Gadugi" panose="020B0502040204020203" pitchFamily="34" charset="0"/>
                <a:ea typeface="Gadugi" panose="020B0502040204020203" pitchFamily="34" charset="0"/>
                <a:cs typeface="Gadugi" panose="020B0502040204020203" pitchFamily="34" charset="0"/>
              </a:defRPr>
            </a:lvl1pPr>
            <a:lvl2pPr marL="593725" indent="-182563" defTabSz="4572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Gadugi" panose="020B0502040204020203" pitchFamily="34" charset="0"/>
                <a:ea typeface="Gadugi" panose="020B0502040204020203" pitchFamily="34" charset="0"/>
                <a:cs typeface="Gadugi" panose="020B0502040204020203" pitchFamily="34" charset="0"/>
              </a:defRPr>
            </a:lvl2pPr>
            <a:lvl3pPr marL="822325" indent="-182563" defTabSz="4572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Gadugi" panose="020B0502040204020203" pitchFamily="34" charset="0"/>
                <a:ea typeface="Gadugi" panose="020B0502040204020203" pitchFamily="34" charset="0"/>
                <a:cs typeface="Gadugi" panose="020B0502040204020203" pitchFamily="34" charset="0"/>
              </a:defRPr>
            </a:lvl3pPr>
            <a:lvl4pPr marL="1050925" indent="-182563" defTabSz="4572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Gadugi" panose="020B0502040204020203" pitchFamily="34" charset="0"/>
                <a:ea typeface="Gadugi" panose="020B0502040204020203" pitchFamily="34" charset="0"/>
                <a:cs typeface="Gadugi" panose="020B0502040204020203" pitchFamily="34" charset="0"/>
              </a:defRPr>
            </a:lvl4pPr>
            <a:lvl5pPr marL="1233488" indent="-182563" defTabSz="4572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Gadugi" panose="020B0502040204020203" pitchFamily="34" charset="0"/>
                <a:ea typeface="Gadugi" panose="020B0502040204020203" pitchFamily="34" charset="0"/>
                <a:cs typeface="Gadugi" panose="020B0502040204020203" pitchFamily="34" charset="0"/>
              </a:defRPr>
            </a:lvl5pPr>
            <a:lvl6pPr marL="1690688" indent="-182563" defTabSz="4572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Gadugi" panose="020B0502040204020203" pitchFamily="34" charset="0"/>
                <a:ea typeface="Gadugi" panose="020B0502040204020203" pitchFamily="34" charset="0"/>
                <a:cs typeface="Gadugi" panose="020B0502040204020203" pitchFamily="34" charset="0"/>
              </a:defRPr>
            </a:lvl6pPr>
            <a:lvl7pPr marL="2147888" indent="-182563" defTabSz="4572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Gadugi" panose="020B0502040204020203" pitchFamily="34" charset="0"/>
                <a:ea typeface="Gadugi" panose="020B0502040204020203" pitchFamily="34" charset="0"/>
                <a:cs typeface="Gadugi" panose="020B0502040204020203" pitchFamily="34" charset="0"/>
              </a:defRPr>
            </a:lvl7pPr>
            <a:lvl8pPr marL="2605088" indent="-182563" defTabSz="4572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Gadugi" panose="020B0502040204020203" pitchFamily="34" charset="0"/>
                <a:ea typeface="Gadugi" panose="020B0502040204020203" pitchFamily="34" charset="0"/>
                <a:cs typeface="Gadugi" panose="020B0502040204020203" pitchFamily="34" charset="0"/>
              </a:defRPr>
            </a:lvl8pPr>
            <a:lvl9pPr marL="3062288" indent="-182563" defTabSz="4572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Gadugi" panose="020B0502040204020203" pitchFamily="34" charset="0"/>
                <a:ea typeface="Gadugi" panose="020B0502040204020203" pitchFamily="34" charset="0"/>
                <a:cs typeface="Gadugi" panose="020B05020402040202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ts val="1800"/>
              </a:spcBef>
              <a:buSzPct val="135000"/>
              <a:buFontTx/>
              <a:buBlip>
                <a:blip r:embed="rId2"/>
              </a:buBlip>
            </a:pPr>
            <a:endParaRPr lang="id-ID" altLang="en-US" sz="2000">
              <a:ea typeface="ＭＳ Ｐゴシック" panose="020B0600070205080204" pitchFamily="34" charset="-128"/>
            </a:endParaRP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A84642E7-7A40-9901-BDB6-F2E6576306C8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990600" y="2362200"/>
          <a:ext cx="4522789" cy="3017838"/>
        </p:xfrm>
        <a:graphic>
          <a:graphicData uri="http://schemas.openxmlformats.org/drawingml/2006/table">
            <a:tbl>
              <a:tblPr/>
              <a:tblGrid>
                <a:gridCol w="14848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04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52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22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5888"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600"/>
                        </a:spcAft>
                        <a:tabLst>
                          <a:tab pos="800100" algn="l"/>
                        </a:tabLst>
                      </a:pPr>
                      <a:r>
                        <a:rPr lang="id-ID" sz="1800" b="1" spc="-30" dirty="0">
                          <a:latin typeface="Arial"/>
                          <a:ea typeface="Times New Roman"/>
                          <a:cs typeface="Times New Roman"/>
                        </a:rPr>
                        <a:t>Suhu (</a:t>
                      </a:r>
                      <a:r>
                        <a:rPr lang="id-ID" sz="1800" b="1" spc="-30" baseline="30000" dirty="0">
                          <a:latin typeface="Arial"/>
                          <a:ea typeface="Times New Roman"/>
                          <a:cs typeface="Times New Roman"/>
                        </a:rPr>
                        <a:t>0</a:t>
                      </a:r>
                      <a:r>
                        <a:rPr lang="id-ID" sz="1800" b="1" spc="-30" dirty="0">
                          <a:latin typeface="Arial"/>
                          <a:ea typeface="Times New Roman"/>
                          <a:cs typeface="Times New Roman"/>
                        </a:rPr>
                        <a:t> C)</a:t>
                      </a:r>
                      <a:endParaRPr lang="id-ID" sz="2400" spc="-30" dirty="0">
                        <a:latin typeface="Book Antiqua"/>
                        <a:ea typeface="Times New Roman"/>
                        <a:cs typeface="Times New Roman"/>
                      </a:endParaRPr>
                    </a:p>
                  </a:txBody>
                  <a:tcPr marL="68569" marR="685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600"/>
                        </a:spcAft>
                        <a:tabLst>
                          <a:tab pos="800100" algn="l"/>
                        </a:tabLst>
                      </a:pPr>
                      <a:r>
                        <a:rPr lang="id-ID" sz="1800" b="1" spc="-30">
                          <a:latin typeface="Arial"/>
                          <a:ea typeface="Times New Roman"/>
                          <a:cs typeface="Times New Roman"/>
                        </a:rPr>
                        <a:t>Dingin</a:t>
                      </a:r>
                      <a:endParaRPr lang="id-ID" sz="2400" spc="-30">
                        <a:latin typeface="Book Antiqua"/>
                        <a:ea typeface="Times New Roman"/>
                        <a:cs typeface="Times New Roman"/>
                      </a:endParaRPr>
                    </a:p>
                  </a:txBody>
                  <a:tcPr marL="68569" marR="685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600"/>
                        </a:spcAft>
                        <a:tabLst>
                          <a:tab pos="800100" algn="l"/>
                        </a:tabLst>
                      </a:pPr>
                      <a:r>
                        <a:rPr lang="id-ID" sz="1800" b="1" spc="-30">
                          <a:latin typeface="Arial"/>
                          <a:ea typeface="Times New Roman"/>
                          <a:cs typeface="Times New Roman"/>
                        </a:rPr>
                        <a:t>Hangat</a:t>
                      </a:r>
                      <a:endParaRPr lang="id-ID" sz="2400" spc="-30">
                        <a:latin typeface="Book Antiqua"/>
                        <a:ea typeface="Times New Roman"/>
                        <a:cs typeface="Times New Roman"/>
                      </a:endParaRPr>
                    </a:p>
                  </a:txBody>
                  <a:tcPr marL="68569" marR="685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457200" algn="l"/>
                        </a:tabLst>
                      </a:pPr>
                      <a:r>
                        <a:rPr lang="id-ID" sz="1800" b="1" spc="-30" dirty="0">
                          <a:latin typeface="Arial"/>
                          <a:ea typeface="Times New Roman"/>
                          <a:cs typeface="Times New Roman"/>
                        </a:rPr>
                        <a:t>Panas</a:t>
                      </a:r>
                      <a:endParaRPr lang="id-ID" sz="2400" spc="-30" dirty="0">
                        <a:latin typeface="Book Antiqua"/>
                        <a:ea typeface="Times New Roman"/>
                        <a:cs typeface="Times New Roman"/>
                      </a:endParaRPr>
                    </a:p>
                  </a:txBody>
                  <a:tcPr marL="68569" marR="685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8390"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600"/>
                        </a:spcAft>
                        <a:tabLst>
                          <a:tab pos="800100" algn="l"/>
                        </a:tabLst>
                      </a:pPr>
                      <a:r>
                        <a:rPr lang="id-ID" sz="1800" spc="-30">
                          <a:latin typeface="Arial"/>
                          <a:ea typeface="Times New Roman"/>
                          <a:cs typeface="Times New Roman"/>
                        </a:rPr>
                        <a:t>5</a:t>
                      </a:r>
                      <a:endParaRPr lang="id-ID" sz="2400" spc="-30">
                        <a:latin typeface="Book Antiqua"/>
                        <a:ea typeface="Times New Roman"/>
                        <a:cs typeface="Times New Roman"/>
                      </a:endParaRPr>
                    </a:p>
                  </a:txBody>
                  <a:tcPr marL="68569" marR="685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600"/>
                        </a:spcAft>
                        <a:tabLst>
                          <a:tab pos="800100" algn="l"/>
                        </a:tabLst>
                      </a:pPr>
                      <a:r>
                        <a:rPr lang="id-ID" sz="1800" spc="-30" dirty="0">
                          <a:latin typeface="Arial"/>
                          <a:ea typeface="Times New Roman"/>
                          <a:cs typeface="Times New Roman"/>
                        </a:rPr>
                        <a:t>1</a:t>
                      </a:r>
                      <a:endParaRPr lang="id-ID" sz="2400" spc="-30" dirty="0">
                        <a:latin typeface="Book Antiqua"/>
                        <a:ea typeface="Times New Roman"/>
                        <a:cs typeface="Times New Roman"/>
                      </a:endParaRPr>
                    </a:p>
                  </a:txBody>
                  <a:tcPr marL="68569" marR="685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600"/>
                        </a:spcAft>
                        <a:tabLst>
                          <a:tab pos="800100" algn="l"/>
                        </a:tabLst>
                      </a:pPr>
                      <a:r>
                        <a:rPr lang="id-ID" sz="1800" spc="-30">
                          <a:latin typeface="Arial"/>
                          <a:ea typeface="Times New Roman"/>
                          <a:cs typeface="Times New Roman"/>
                        </a:rPr>
                        <a:t>0,1</a:t>
                      </a:r>
                      <a:endParaRPr lang="id-ID" sz="2400" spc="-30">
                        <a:latin typeface="Book Antiqua"/>
                        <a:ea typeface="Times New Roman"/>
                        <a:cs typeface="Times New Roman"/>
                      </a:endParaRPr>
                    </a:p>
                  </a:txBody>
                  <a:tcPr marL="68569" marR="685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600"/>
                        </a:spcAft>
                        <a:tabLst>
                          <a:tab pos="800100" algn="l"/>
                        </a:tabLst>
                      </a:pPr>
                      <a:r>
                        <a:rPr lang="id-ID" sz="1800" spc="-30">
                          <a:latin typeface="Arial"/>
                          <a:ea typeface="Times New Roman"/>
                          <a:cs typeface="Times New Roman"/>
                        </a:rPr>
                        <a:t>0</a:t>
                      </a:r>
                      <a:endParaRPr lang="id-ID" sz="2400" spc="-30">
                        <a:latin typeface="Book Antiqua"/>
                        <a:ea typeface="Times New Roman"/>
                        <a:cs typeface="Times New Roman"/>
                      </a:endParaRPr>
                    </a:p>
                  </a:txBody>
                  <a:tcPr marL="68569" marR="685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8390"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600"/>
                        </a:spcAft>
                        <a:tabLst>
                          <a:tab pos="800100" algn="l"/>
                        </a:tabLst>
                      </a:pPr>
                      <a:r>
                        <a:rPr lang="id-ID" sz="1800" spc="-30">
                          <a:latin typeface="Arial"/>
                          <a:ea typeface="Times New Roman"/>
                          <a:cs typeface="Times New Roman"/>
                        </a:rPr>
                        <a:t>15</a:t>
                      </a:r>
                      <a:endParaRPr lang="id-ID" sz="2400" spc="-30">
                        <a:latin typeface="Book Antiqua"/>
                        <a:ea typeface="Times New Roman"/>
                        <a:cs typeface="Times New Roman"/>
                      </a:endParaRPr>
                    </a:p>
                  </a:txBody>
                  <a:tcPr marL="68569" marR="685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600"/>
                        </a:spcAft>
                        <a:tabLst>
                          <a:tab pos="800100" algn="l"/>
                        </a:tabLst>
                      </a:pPr>
                      <a:r>
                        <a:rPr lang="id-ID" sz="1800" spc="-30">
                          <a:latin typeface="Arial"/>
                          <a:ea typeface="Times New Roman"/>
                          <a:cs typeface="Times New Roman"/>
                        </a:rPr>
                        <a:t>0,9</a:t>
                      </a:r>
                      <a:endParaRPr lang="id-ID" sz="2400" spc="-30">
                        <a:latin typeface="Book Antiqua"/>
                        <a:ea typeface="Times New Roman"/>
                        <a:cs typeface="Times New Roman"/>
                      </a:endParaRPr>
                    </a:p>
                  </a:txBody>
                  <a:tcPr marL="68569" marR="685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600"/>
                        </a:spcAft>
                        <a:tabLst>
                          <a:tab pos="800100" algn="l"/>
                        </a:tabLst>
                      </a:pPr>
                      <a:r>
                        <a:rPr lang="id-ID" sz="1800" spc="-30">
                          <a:latin typeface="Arial"/>
                          <a:ea typeface="Times New Roman"/>
                          <a:cs typeface="Times New Roman"/>
                        </a:rPr>
                        <a:t>0,8</a:t>
                      </a:r>
                      <a:endParaRPr lang="id-ID" sz="2400" spc="-30">
                        <a:latin typeface="Book Antiqua"/>
                        <a:ea typeface="Times New Roman"/>
                        <a:cs typeface="Times New Roman"/>
                      </a:endParaRPr>
                    </a:p>
                  </a:txBody>
                  <a:tcPr marL="68569" marR="685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600"/>
                        </a:spcAft>
                        <a:tabLst>
                          <a:tab pos="800100" algn="l"/>
                        </a:tabLst>
                      </a:pPr>
                      <a:r>
                        <a:rPr lang="id-ID" sz="1800" spc="-30" dirty="0">
                          <a:latin typeface="Arial"/>
                          <a:ea typeface="Times New Roman"/>
                          <a:cs typeface="Times New Roman"/>
                        </a:rPr>
                        <a:t>0</a:t>
                      </a:r>
                      <a:endParaRPr lang="id-ID" sz="2400" spc="-30" dirty="0">
                        <a:latin typeface="Book Antiqua"/>
                        <a:ea typeface="Times New Roman"/>
                        <a:cs typeface="Times New Roman"/>
                      </a:endParaRPr>
                    </a:p>
                  </a:txBody>
                  <a:tcPr marL="68569" marR="685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8390"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600"/>
                        </a:spcAft>
                        <a:tabLst>
                          <a:tab pos="800100" algn="l"/>
                        </a:tabLst>
                      </a:pPr>
                      <a:r>
                        <a:rPr lang="id-ID" sz="1800" spc="-30">
                          <a:latin typeface="Arial"/>
                          <a:ea typeface="Times New Roman"/>
                          <a:cs typeface="Times New Roman"/>
                        </a:rPr>
                        <a:t>25</a:t>
                      </a:r>
                      <a:endParaRPr lang="id-ID" sz="2400" spc="-30">
                        <a:latin typeface="Book Antiqua"/>
                        <a:ea typeface="Times New Roman"/>
                        <a:cs typeface="Times New Roman"/>
                      </a:endParaRPr>
                    </a:p>
                  </a:txBody>
                  <a:tcPr marL="68569" marR="685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600"/>
                        </a:spcAft>
                        <a:tabLst>
                          <a:tab pos="800100" algn="l"/>
                        </a:tabLst>
                      </a:pPr>
                      <a:r>
                        <a:rPr lang="id-ID" sz="1800" spc="-30">
                          <a:latin typeface="Arial"/>
                          <a:ea typeface="Times New Roman"/>
                          <a:cs typeface="Times New Roman"/>
                        </a:rPr>
                        <a:t>0,5</a:t>
                      </a:r>
                      <a:endParaRPr lang="id-ID" sz="2400" spc="-30">
                        <a:latin typeface="Book Antiqua"/>
                        <a:ea typeface="Times New Roman"/>
                        <a:cs typeface="Times New Roman"/>
                      </a:endParaRPr>
                    </a:p>
                  </a:txBody>
                  <a:tcPr marL="68569" marR="685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600"/>
                        </a:spcAft>
                        <a:tabLst>
                          <a:tab pos="800100" algn="l"/>
                        </a:tabLst>
                      </a:pPr>
                      <a:r>
                        <a:rPr lang="id-ID" sz="1800" spc="-30">
                          <a:latin typeface="Arial"/>
                          <a:ea typeface="Times New Roman"/>
                          <a:cs typeface="Times New Roman"/>
                        </a:rPr>
                        <a:t>1</a:t>
                      </a:r>
                      <a:endParaRPr lang="id-ID" sz="2400" spc="-30">
                        <a:latin typeface="Book Antiqua"/>
                        <a:ea typeface="Times New Roman"/>
                        <a:cs typeface="Times New Roman"/>
                      </a:endParaRPr>
                    </a:p>
                  </a:txBody>
                  <a:tcPr marL="68569" marR="685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600"/>
                        </a:spcAft>
                        <a:tabLst>
                          <a:tab pos="800100" algn="l"/>
                        </a:tabLst>
                      </a:pPr>
                      <a:r>
                        <a:rPr lang="id-ID" sz="1800" spc="-30">
                          <a:latin typeface="Arial"/>
                          <a:ea typeface="Times New Roman"/>
                          <a:cs typeface="Times New Roman"/>
                        </a:rPr>
                        <a:t>0,6</a:t>
                      </a:r>
                      <a:endParaRPr lang="id-ID" sz="2400" spc="-30">
                        <a:latin typeface="Book Antiqua"/>
                        <a:ea typeface="Times New Roman"/>
                        <a:cs typeface="Times New Roman"/>
                      </a:endParaRPr>
                    </a:p>
                  </a:txBody>
                  <a:tcPr marL="68569" marR="685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8390"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600"/>
                        </a:spcAft>
                        <a:tabLst>
                          <a:tab pos="800100" algn="l"/>
                        </a:tabLst>
                      </a:pPr>
                      <a:r>
                        <a:rPr lang="id-ID" sz="1800" spc="-30">
                          <a:latin typeface="Arial"/>
                          <a:ea typeface="Times New Roman"/>
                          <a:cs typeface="Times New Roman"/>
                        </a:rPr>
                        <a:t>35</a:t>
                      </a:r>
                      <a:endParaRPr lang="id-ID" sz="2400" spc="-30">
                        <a:latin typeface="Book Antiqua"/>
                        <a:ea typeface="Times New Roman"/>
                        <a:cs typeface="Times New Roman"/>
                      </a:endParaRPr>
                    </a:p>
                  </a:txBody>
                  <a:tcPr marL="68569" marR="685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600"/>
                        </a:spcAft>
                        <a:tabLst>
                          <a:tab pos="800100" algn="l"/>
                        </a:tabLst>
                      </a:pPr>
                      <a:r>
                        <a:rPr lang="id-ID" sz="1800" spc="-30">
                          <a:latin typeface="Arial"/>
                          <a:ea typeface="Times New Roman"/>
                          <a:cs typeface="Times New Roman"/>
                        </a:rPr>
                        <a:t>0,1</a:t>
                      </a:r>
                      <a:endParaRPr lang="id-ID" sz="2400" spc="-30">
                        <a:latin typeface="Book Antiqua"/>
                        <a:ea typeface="Times New Roman"/>
                        <a:cs typeface="Times New Roman"/>
                      </a:endParaRPr>
                    </a:p>
                  </a:txBody>
                  <a:tcPr marL="68569" marR="685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600"/>
                        </a:spcAft>
                        <a:tabLst>
                          <a:tab pos="800100" algn="l"/>
                        </a:tabLst>
                      </a:pPr>
                      <a:r>
                        <a:rPr lang="id-ID" sz="1800" spc="-30">
                          <a:latin typeface="Arial"/>
                          <a:ea typeface="Times New Roman"/>
                          <a:cs typeface="Times New Roman"/>
                        </a:rPr>
                        <a:t>0,6</a:t>
                      </a:r>
                      <a:endParaRPr lang="id-ID" sz="2400" spc="-30">
                        <a:latin typeface="Book Antiqua"/>
                        <a:ea typeface="Times New Roman"/>
                        <a:cs typeface="Times New Roman"/>
                      </a:endParaRPr>
                    </a:p>
                  </a:txBody>
                  <a:tcPr marL="68569" marR="685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600"/>
                        </a:spcAft>
                        <a:tabLst>
                          <a:tab pos="800100" algn="l"/>
                        </a:tabLst>
                      </a:pPr>
                      <a:r>
                        <a:rPr lang="id-ID" sz="1800" spc="-30">
                          <a:latin typeface="Arial"/>
                          <a:ea typeface="Times New Roman"/>
                          <a:cs typeface="Times New Roman"/>
                        </a:rPr>
                        <a:t>0,9</a:t>
                      </a:r>
                      <a:endParaRPr lang="id-ID" sz="2400" spc="-30">
                        <a:latin typeface="Book Antiqua"/>
                        <a:ea typeface="Times New Roman"/>
                        <a:cs typeface="Times New Roman"/>
                      </a:endParaRPr>
                    </a:p>
                  </a:txBody>
                  <a:tcPr marL="68569" marR="685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8390"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600"/>
                        </a:spcAft>
                        <a:tabLst>
                          <a:tab pos="800100" algn="l"/>
                        </a:tabLst>
                      </a:pPr>
                      <a:r>
                        <a:rPr lang="id-ID" sz="1800" spc="-30">
                          <a:latin typeface="Arial"/>
                          <a:ea typeface="Times New Roman"/>
                          <a:cs typeface="Times New Roman"/>
                        </a:rPr>
                        <a:t>45</a:t>
                      </a:r>
                      <a:endParaRPr lang="id-ID" sz="2400" spc="-30">
                        <a:latin typeface="Book Antiqua"/>
                        <a:ea typeface="Times New Roman"/>
                        <a:cs typeface="Times New Roman"/>
                      </a:endParaRPr>
                    </a:p>
                  </a:txBody>
                  <a:tcPr marL="68569" marR="685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600"/>
                        </a:spcAft>
                        <a:tabLst>
                          <a:tab pos="800100" algn="l"/>
                        </a:tabLst>
                      </a:pPr>
                      <a:r>
                        <a:rPr lang="id-ID" sz="1800" spc="-30">
                          <a:latin typeface="Arial"/>
                          <a:ea typeface="Times New Roman"/>
                          <a:cs typeface="Times New Roman"/>
                        </a:rPr>
                        <a:t>0</a:t>
                      </a:r>
                      <a:endParaRPr lang="id-ID" sz="2400" spc="-30">
                        <a:latin typeface="Book Antiqua"/>
                        <a:ea typeface="Times New Roman"/>
                        <a:cs typeface="Times New Roman"/>
                      </a:endParaRPr>
                    </a:p>
                  </a:txBody>
                  <a:tcPr marL="68569" marR="685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600"/>
                        </a:spcAft>
                        <a:tabLst>
                          <a:tab pos="800100" algn="l"/>
                        </a:tabLst>
                      </a:pPr>
                      <a:r>
                        <a:rPr lang="id-ID" sz="1800" spc="-30" dirty="0">
                          <a:latin typeface="Arial"/>
                          <a:ea typeface="Times New Roman"/>
                          <a:cs typeface="Times New Roman"/>
                        </a:rPr>
                        <a:t>0,2</a:t>
                      </a:r>
                      <a:endParaRPr lang="id-ID" sz="2400" spc="-30" dirty="0">
                        <a:latin typeface="Book Antiqua"/>
                        <a:ea typeface="Times New Roman"/>
                        <a:cs typeface="Times New Roman"/>
                      </a:endParaRPr>
                    </a:p>
                  </a:txBody>
                  <a:tcPr marL="68569" marR="685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600"/>
                        </a:spcAft>
                        <a:tabLst>
                          <a:tab pos="800100" algn="l"/>
                        </a:tabLst>
                      </a:pPr>
                      <a:r>
                        <a:rPr lang="id-ID" sz="1800" spc="-30" dirty="0">
                          <a:latin typeface="Arial"/>
                          <a:ea typeface="Times New Roman"/>
                          <a:cs typeface="Times New Roman"/>
                        </a:rPr>
                        <a:t>1</a:t>
                      </a:r>
                      <a:endParaRPr lang="id-ID" sz="2400" spc="-30" dirty="0">
                        <a:latin typeface="Book Antiqua"/>
                        <a:ea typeface="Times New Roman"/>
                        <a:cs typeface="Times New Roman"/>
                      </a:endParaRPr>
                    </a:p>
                  </a:txBody>
                  <a:tcPr marL="68569" marR="6856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9ECDC-1BEA-B7D9-91A4-FD47CEBAF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pPr eaLnBrk="1" hangingPunct="1">
              <a:defRPr/>
            </a:pPr>
            <a:r>
              <a:rPr sz="7200" dirty="0" err="1">
                <a:solidFill>
                  <a:schemeClr val="bg1">
                    <a:lumMod val="95000"/>
                  </a:schemeClr>
                </a:solidFill>
                <a:latin typeface="Tw Cen MT Condensed Extra Bold" panose="020B0803020202020204" pitchFamily="34" charset="0"/>
              </a:rPr>
              <a:t>Fungsi</a:t>
            </a:r>
            <a:r>
              <a:rPr sz="7200" dirty="0">
                <a:solidFill>
                  <a:schemeClr val="bg1">
                    <a:lumMod val="95000"/>
                  </a:schemeClr>
                </a:solidFill>
                <a:latin typeface="Tw Cen MT Condensed Extra Bold" panose="020B0803020202020204" pitchFamily="34" charset="0"/>
              </a:rPr>
              <a:t> </a:t>
            </a:r>
            <a:r>
              <a:rPr sz="7200" dirty="0" err="1">
                <a:solidFill>
                  <a:schemeClr val="bg1">
                    <a:lumMod val="95000"/>
                  </a:schemeClr>
                </a:solidFill>
                <a:latin typeface="Tw Cen MT Condensed Extra Bold" panose="020B0803020202020204" pitchFamily="34" charset="0"/>
              </a:rPr>
              <a:t>Keanggotaan</a:t>
            </a:r>
            <a:endParaRPr sz="7200" dirty="0">
              <a:solidFill>
                <a:schemeClr val="bg1">
                  <a:lumMod val="95000"/>
                </a:schemeClr>
              </a:solidFill>
              <a:latin typeface="Tw Cen MT Condensed Extra Bold" panose="020B0803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C7EA51-67C4-2F2D-7739-82A0FE2EAD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 rtlCol="0">
            <a:normAutofit/>
          </a:bodyPr>
          <a:lstStyle/>
          <a:p>
            <a:pPr eaLnBrk="1" hangingPunct="1">
              <a:defRPr/>
            </a:pPr>
            <a:endParaRPr lang="en-US"/>
          </a:p>
        </p:txBody>
      </p:sp>
    </p:spTree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>
            <a:extLst>
              <a:ext uri="{FF2B5EF4-FFF2-40B4-BE49-F238E27FC236}">
                <a16:creationId xmlns:a16="http://schemas.microsoft.com/office/drawing/2014/main" id="{38A69535-C45A-42A5-7398-9FD5CB4FFE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fi-FI" altLang="en-US" sz="6600"/>
              <a:t>Fungsi Keanggotaan</a:t>
            </a:r>
            <a:r>
              <a:rPr lang="en-US" altLang="en-US" sz="660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599AE7-256B-1319-F369-8C24314838E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rtlCol="0">
            <a:normAutofit/>
          </a:bodyPr>
          <a:lstStyle/>
          <a:p>
            <a:pPr eaLnBrk="1" hangingPunct="1">
              <a:defRPr/>
            </a:pPr>
            <a:r>
              <a:rPr lang="fi-FI" altLang="en-US" sz="2000" dirty="0">
                <a:solidFill>
                  <a:srgbClr val="FF3300"/>
                </a:solidFill>
                <a:latin typeface="+mn-lt"/>
              </a:rPr>
              <a:t>Fungsi keanggotaan</a:t>
            </a:r>
            <a:r>
              <a:rPr lang="fi-FI" altLang="en-US" sz="2000" dirty="0">
                <a:latin typeface="+mn-lt"/>
              </a:rPr>
              <a:t> adalah </a:t>
            </a:r>
            <a:r>
              <a:rPr lang="fi-FI" altLang="en-US" sz="2000" dirty="0">
                <a:solidFill>
                  <a:srgbClr val="FF3300"/>
                </a:solidFill>
                <a:latin typeface="+mn-lt"/>
              </a:rPr>
              <a:t>grafik</a:t>
            </a:r>
            <a:r>
              <a:rPr lang="fi-FI" altLang="en-US" sz="2000" dirty="0">
                <a:latin typeface="+mn-lt"/>
              </a:rPr>
              <a:t> yang mewakili besar dari derajat keanggotaan masing-masing variabel input yang berada dalam interval antara 0 dan 1. </a:t>
            </a:r>
          </a:p>
          <a:p>
            <a:pPr eaLnBrk="1" hangingPunct="1">
              <a:defRPr/>
            </a:pPr>
            <a:r>
              <a:rPr lang="sv-SE" altLang="en-US" sz="2000" dirty="0">
                <a:solidFill>
                  <a:srgbClr val="FF3300"/>
                </a:solidFill>
                <a:latin typeface="+mn-lt"/>
              </a:rPr>
              <a:t>Derajat keanggotaan</a:t>
            </a:r>
            <a:r>
              <a:rPr lang="sv-SE" altLang="en-US" sz="2000" dirty="0">
                <a:latin typeface="+mn-lt"/>
              </a:rPr>
              <a:t> sebuah variabel </a:t>
            </a:r>
            <a:r>
              <a:rPr lang="sv-SE" altLang="en-US" sz="2000" i="1" dirty="0">
                <a:latin typeface="+mn-lt"/>
              </a:rPr>
              <a:t>x</a:t>
            </a:r>
            <a:r>
              <a:rPr lang="sv-SE" altLang="en-US" sz="2000" dirty="0">
                <a:latin typeface="+mn-lt"/>
              </a:rPr>
              <a:t> dilambangkan dengan simbol µ(</a:t>
            </a:r>
            <a:r>
              <a:rPr lang="sv-SE" altLang="en-US" sz="2000" i="1" dirty="0">
                <a:latin typeface="+mn-lt"/>
              </a:rPr>
              <a:t>x</a:t>
            </a:r>
            <a:r>
              <a:rPr lang="sv-SE" altLang="en-US" sz="2000" dirty="0">
                <a:latin typeface="+mn-lt"/>
              </a:rPr>
              <a:t>).</a:t>
            </a:r>
            <a:endParaRPr lang="en-US" sz="2000" dirty="0">
              <a:latin typeface="+mn-lt"/>
            </a:endParaRPr>
          </a:p>
        </p:txBody>
      </p:sp>
      <p:pic>
        <p:nvPicPr>
          <p:cNvPr id="36868" name="Picture 6" descr="Membership function (mathematics) - Wikipedia">
            <a:extLst>
              <a:ext uri="{FF2B5EF4-FFF2-40B4-BE49-F238E27FC236}">
                <a16:creationId xmlns:a16="http://schemas.microsoft.com/office/drawing/2014/main" id="{6532AADD-A78A-C9FF-5A28-FB2DD8E75609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22325" y="3581400"/>
            <a:ext cx="4489450" cy="2362200"/>
          </a:xfrm>
          <a:noFill/>
        </p:spPr>
      </p:pic>
      <p:pic>
        <p:nvPicPr>
          <p:cNvPr id="36869" name="Picture 8" descr="Evaluation of membership functions for fuzzy logic controlled induction  motor drive | Semantic Scholar">
            <a:extLst>
              <a:ext uri="{FF2B5EF4-FFF2-40B4-BE49-F238E27FC236}">
                <a16:creationId xmlns:a16="http://schemas.microsoft.com/office/drawing/2014/main" id="{A474C8CA-6439-FFF8-31C3-75B991621E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97"/>
          <a:stretch>
            <a:fillRect/>
          </a:stretch>
        </p:blipFill>
        <p:spPr bwMode="auto">
          <a:xfrm>
            <a:off x="7162800" y="233363"/>
            <a:ext cx="3900488" cy="594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0" name="Picture 42">
            <a:extLst>
              <a:ext uri="{FF2B5EF4-FFF2-40B4-BE49-F238E27FC236}">
                <a16:creationId xmlns:a16="http://schemas.microsoft.com/office/drawing/2014/main" id="{D0E0B140-0CE1-C4B4-E9F6-5594B2A201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99" b="18179"/>
          <a:stretch>
            <a:fillRect/>
          </a:stretch>
        </p:blipFill>
        <p:spPr bwMode="auto">
          <a:xfrm>
            <a:off x="914400" y="2325688"/>
            <a:ext cx="4003675" cy="195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1" name="Rectangle 45">
            <a:extLst>
              <a:ext uri="{FF2B5EF4-FFF2-40B4-BE49-F238E27FC236}">
                <a16:creationId xmlns:a16="http://schemas.microsoft.com/office/drawing/2014/main" id="{D161FCBA-60DB-8B44-125A-CF2E83DD23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2781300"/>
            <a:ext cx="1841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9pPr>
          </a:lstStyle>
          <a:p>
            <a:pPr eaLnBrk="1" hangingPunct="1"/>
            <a:endParaRPr lang="id-ID" altLang="en-US" sz="2800">
              <a:latin typeface="Arial" panose="020B0604020202020204" pitchFamily="34" charset="0"/>
            </a:endParaRPr>
          </a:p>
        </p:txBody>
      </p:sp>
      <p:sp>
        <p:nvSpPr>
          <p:cNvPr id="37892" name="Title 1">
            <a:extLst>
              <a:ext uri="{FF2B5EF4-FFF2-40B4-BE49-F238E27FC236}">
                <a16:creationId xmlns:a16="http://schemas.microsoft.com/office/drawing/2014/main" id="{F208D8B2-7646-36E1-4831-2801A98B11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eaLnBrk="1" hangingPunct="1"/>
            <a:r>
              <a:rPr lang="fi-FI" altLang="en-US" sz="6600"/>
              <a:t>Fungsi Keanggotaan</a:t>
            </a:r>
            <a:r>
              <a:rPr lang="en-US" altLang="en-US" sz="6600"/>
              <a:t> 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2429E82-139B-A711-5F15-18A67BD5A8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rtlCol="0" anchor="t">
            <a:normAutofit/>
          </a:bodyPr>
          <a:lstStyle/>
          <a:p>
            <a:pPr eaLnBrk="1" hangingPunct="1">
              <a:defRPr/>
            </a:pPr>
            <a:r>
              <a:rPr lang="sv-SE" altLang="en-US" sz="2800" u="sng" dirty="0">
                <a:latin typeface="+mn-lt"/>
              </a:rPr>
              <a:t>Kurva Linear Naik</a:t>
            </a:r>
            <a:endParaRPr lang="en-US" sz="2800" u="sng" dirty="0"/>
          </a:p>
        </p:txBody>
      </p:sp>
      <p:graphicFrame>
        <p:nvGraphicFramePr>
          <p:cNvPr id="37894" name="Object 46">
            <a:extLst>
              <a:ext uri="{FF2B5EF4-FFF2-40B4-BE49-F238E27FC236}">
                <a16:creationId xmlns:a16="http://schemas.microsoft.com/office/drawing/2014/main" id="{ADF34D76-85FC-E4EB-701D-4EA3858C0316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869950" y="4560888"/>
          <a:ext cx="3921125" cy="1292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159000" imgH="711200" progId="Equation.3">
                  <p:embed/>
                </p:oleObj>
              </mc:Choice>
              <mc:Fallback>
                <p:oleObj name="Equation" r:id="rId3" imgW="2159000" imgH="711200" progId="Equation.3">
                  <p:embed/>
                  <p:pic>
                    <p:nvPicPr>
                      <p:cNvPr id="0" name="Object 46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9950" y="4560888"/>
                        <a:ext cx="3921125" cy="1292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5" name="Text Placeholder 2">
            <a:extLst>
              <a:ext uri="{FF2B5EF4-FFF2-40B4-BE49-F238E27FC236}">
                <a16:creationId xmlns:a16="http://schemas.microsoft.com/office/drawing/2014/main" id="{4F3D7801-40A7-AB44-A09B-DFF7333881BD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>
          <a:xfrm>
            <a:off x="6194425" y="2316163"/>
            <a:ext cx="5183188" cy="376237"/>
          </a:xfrm>
        </p:spPr>
        <p:txBody>
          <a:bodyPr/>
          <a:lstStyle/>
          <a:p>
            <a:pPr eaLnBrk="1" hangingPunct="1"/>
            <a:r>
              <a:rPr lang="en-US" altLang="en-US" i="1">
                <a:solidFill>
                  <a:srgbClr val="FF0000"/>
                </a:solidFill>
              </a:rPr>
              <a:t>Contoh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2C6876-BE92-9796-1704-2138F823DBBA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ph sz="quarter" idx="4"/>
          </p:nvPr>
        </p:nvSpPr>
        <p:spPr>
          <a:xfrm>
            <a:off x="6172201" y="2781300"/>
            <a:ext cx="5183188" cy="3071524"/>
          </a:xfrm>
          <a:blipFill>
            <a:blip r:embed="rId5"/>
            <a:stretch>
              <a:fillRect l="-1294" t="-1786"/>
            </a:stretch>
          </a:blipFill>
        </p:spPr>
        <p:txBody>
          <a:bodyPr/>
          <a:lstStyle/>
          <a:p>
            <a:r>
              <a:rPr lang="en-US">
                <a:noFill/>
              </a:rPr>
              <a:t> </a:t>
            </a:r>
          </a:p>
        </p:txBody>
      </p:sp>
      <p:pic>
        <p:nvPicPr>
          <p:cNvPr id="37897" name="Picture 34">
            <a:extLst>
              <a:ext uri="{FF2B5EF4-FFF2-40B4-BE49-F238E27FC236}">
                <a16:creationId xmlns:a16="http://schemas.microsoft.com/office/drawing/2014/main" id="{0C2D059E-934D-78CC-2E2A-5E7857BD83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00"/>
          <a:stretch>
            <a:fillRect/>
          </a:stretch>
        </p:blipFill>
        <p:spPr bwMode="auto">
          <a:xfrm>
            <a:off x="7597775" y="365125"/>
            <a:ext cx="3962400" cy="236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45">
            <a:extLst>
              <a:ext uri="{FF2B5EF4-FFF2-40B4-BE49-F238E27FC236}">
                <a16:creationId xmlns:a16="http://schemas.microsoft.com/office/drawing/2014/main" id="{F3F9767C-6570-5AC7-F50D-9219335A08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2781300"/>
            <a:ext cx="1841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9pPr>
          </a:lstStyle>
          <a:p>
            <a:pPr eaLnBrk="1" hangingPunct="1"/>
            <a:endParaRPr lang="id-ID" altLang="en-US" sz="2800">
              <a:latin typeface="Arial" panose="020B0604020202020204" pitchFamily="34" charset="0"/>
            </a:endParaRPr>
          </a:p>
        </p:txBody>
      </p:sp>
      <p:sp>
        <p:nvSpPr>
          <p:cNvPr id="38915" name="Title 1">
            <a:extLst>
              <a:ext uri="{FF2B5EF4-FFF2-40B4-BE49-F238E27FC236}">
                <a16:creationId xmlns:a16="http://schemas.microsoft.com/office/drawing/2014/main" id="{6E754CBF-1C26-E876-CF1F-F379051AC5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eaLnBrk="1" hangingPunct="1"/>
            <a:r>
              <a:rPr lang="fi-FI" altLang="en-US" sz="6600"/>
              <a:t>Fungsi Keanggotaan</a:t>
            </a:r>
            <a:r>
              <a:rPr lang="en-US" altLang="en-US" sz="6600"/>
              <a:t> 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14C79E1-6B77-8BC4-2FA3-BB7813EED4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rtlCol="0" anchor="t">
            <a:normAutofit/>
          </a:bodyPr>
          <a:lstStyle/>
          <a:p>
            <a:pPr eaLnBrk="1" hangingPunct="1">
              <a:defRPr/>
            </a:pPr>
            <a:r>
              <a:rPr lang="sv-SE" altLang="en-US" sz="2800" u="sng" dirty="0">
                <a:latin typeface="+mn-lt"/>
              </a:rPr>
              <a:t>Kurva Linear Turun</a:t>
            </a:r>
            <a:endParaRPr lang="en-US" sz="2800" u="sng" dirty="0"/>
          </a:p>
        </p:txBody>
      </p:sp>
      <p:pic>
        <p:nvPicPr>
          <p:cNvPr id="38917" name="Content Placeholder 13">
            <a:extLst>
              <a:ext uri="{FF2B5EF4-FFF2-40B4-BE49-F238E27FC236}">
                <a16:creationId xmlns:a16="http://schemas.microsoft.com/office/drawing/2014/main" id="{BEBB35B1-93F5-CCCE-E49C-AE56F5189599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151"/>
          <a:stretch>
            <a:fillRect/>
          </a:stretch>
        </p:blipFill>
        <p:spPr>
          <a:xfrm>
            <a:off x="836613" y="2362200"/>
            <a:ext cx="8485187" cy="3438525"/>
          </a:xfrm>
        </p:spPr>
      </p:pic>
      <p:sp>
        <p:nvSpPr>
          <p:cNvPr id="38918" name="Text Placeholder 15">
            <a:extLst>
              <a:ext uri="{FF2B5EF4-FFF2-40B4-BE49-F238E27FC236}">
                <a16:creationId xmlns:a16="http://schemas.microsoft.com/office/drawing/2014/main" id="{C25A576B-D0F1-DE92-CC25-E288F6FFB0A5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45">
            <a:extLst>
              <a:ext uri="{FF2B5EF4-FFF2-40B4-BE49-F238E27FC236}">
                <a16:creationId xmlns:a16="http://schemas.microsoft.com/office/drawing/2014/main" id="{D9DE5163-5B5F-7320-6C6B-87AA302D52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2781300"/>
            <a:ext cx="1841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9pPr>
          </a:lstStyle>
          <a:p>
            <a:pPr eaLnBrk="1" hangingPunct="1"/>
            <a:endParaRPr lang="id-ID" altLang="en-US" sz="2800">
              <a:latin typeface="Arial" panose="020B0604020202020204" pitchFamily="34" charset="0"/>
            </a:endParaRPr>
          </a:p>
        </p:txBody>
      </p:sp>
      <p:sp>
        <p:nvSpPr>
          <p:cNvPr id="39939" name="Title 1">
            <a:extLst>
              <a:ext uri="{FF2B5EF4-FFF2-40B4-BE49-F238E27FC236}">
                <a16:creationId xmlns:a16="http://schemas.microsoft.com/office/drawing/2014/main" id="{933B0F98-1502-954C-DE63-47AE167B6A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eaLnBrk="1" hangingPunct="1"/>
            <a:r>
              <a:rPr lang="fi-FI" altLang="en-US" sz="6600"/>
              <a:t>Fungsi Keanggotaan</a:t>
            </a:r>
            <a:r>
              <a:rPr lang="en-US" altLang="en-US" sz="6600"/>
              <a:t> 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C9BF18-ACE8-8B97-8089-9DF9492BAD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rtlCol="0" anchor="t">
            <a:normAutofit/>
          </a:bodyPr>
          <a:lstStyle/>
          <a:p>
            <a:pPr eaLnBrk="1" hangingPunct="1">
              <a:defRPr/>
            </a:pPr>
            <a:r>
              <a:rPr lang="sv-SE" altLang="en-US" sz="2800" u="sng" dirty="0">
                <a:latin typeface="+mn-lt"/>
              </a:rPr>
              <a:t>Kurva Segitiga</a:t>
            </a:r>
            <a:endParaRPr lang="en-US" sz="2800" u="sng" dirty="0"/>
          </a:p>
        </p:txBody>
      </p:sp>
      <p:sp>
        <p:nvSpPr>
          <p:cNvPr id="39941" name="Text Placeholder 2">
            <a:extLst>
              <a:ext uri="{FF2B5EF4-FFF2-40B4-BE49-F238E27FC236}">
                <a16:creationId xmlns:a16="http://schemas.microsoft.com/office/drawing/2014/main" id="{67679597-F51C-3840-C97C-8C0FB24A74FC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>
          <a:xfrm>
            <a:off x="6216650" y="1673225"/>
            <a:ext cx="5183188" cy="376238"/>
          </a:xfrm>
        </p:spPr>
        <p:txBody>
          <a:bodyPr/>
          <a:lstStyle/>
          <a:p>
            <a:pPr eaLnBrk="1" hangingPunct="1"/>
            <a:r>
              <a:rPr lang="en-US" altLang="en-US" i="1">
                <a:solidFill>
                  <a:srgbClr val="FF0000"/>
                </a:solidFill>
              </a:rPr>
              <a:t>Contoh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68ABB0-AC93-E22D-032D-8E8E8B409C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94425" y="2138363"/>
            <a:ext cx="5183188" cy="3071812"/>
          </a:xfrm>
        </p:spPr>
        <p:txBody>
          <a:bodyPr rtlCol="0">
            <a:normAutofit/>
          </a:bodyPr>
          <a:lstStyle/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sv-SE" altLang="en-US" sz="2000" dirty="0">
                <a:latin typeface="+mn-lt"/>
              </a:rPr>
              <a:t>Fungsi keanggotaan untuk himpunan DINGIN pada variabel temperatur ruangan seperti terlihat pada Gambar. Berapa derajat keanggotaan 32 dan 25 pada himpunan DINGIN tersebut ?</a:t>
            </a:r>
          </a:p>
        </p:txBody>
      </p:sp>
      <p:graphicFrame>
        <p:nvGraphicFramePr>
          <p:cNvPr id="39943" name="Object 38">
            <a:extLst>
              <a:ext uri="{FF2B5EF4-FFF2-40B4-BE49-F238E27FC236}">
                <a16:creationId xmlns:a16="http://schemas.microsoft.com/office/drawing/2014/main" id="{9FEA6183-0053-D099-A55F-E2F03167B7E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9775" y="4518025"/>
          <a:ext cx="4121150" cy="941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16200" imgH="596900" progId="Equation.3">
                  <p:embed/>
                </p:oleObj>
              </mc:Choice>
              <mc:Fallback>
                <p:oleObj name="Equation" r:id="rId2" imgW="2616200" imgH="596900" progId="Equation.3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775" y="4518025"/>
                        <a:ext cx="4121150" cy="941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9944" name="Picture 37">
            <a:extLst>
              <a:ext uri="{FF2B5EF4-FFF2-40B4-BE49-F238E27FC236}">
                <a16:creationId xmlns:a16="http://schemas.microsoft.com/office/drawing/2014/main" id="{EADBAACD-628A-541E-F68F-940E88BFE973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96" b="17120"/>
          <a:stretch>
            <a:fillRect/>
          </a:stretch>
        </p:blipFill>
        <p:spPr>
          <a:xfrm>
            <a:off x="912813" y="2185988"/>
            <a:ext cx="3681412" cy="2030412"/>
          </a:xfrm>
          <a:noFill/>
        </p:spPr>
      </p:pic>
      <p:pic>
        <p:nvPicPr>
          <p:cNvPr id="39945" name="Picture 30">
            <a:extLst>
              <a:ext uri="{FF2B5EF4-FFF2-40B4-BE49-F238E27FC236}">
                <a16:creationId xmlns:a16="http://schemas.microsoft.com/office/drawing/2014/main" id="{11525A9C-48E5-0B05-43D7-EFCDA2F5F1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285"/>
          <a:stretch>
            <a:fillRect/>
          </a:stretch>
        </p:blipFill>
        <p:spPr bwMode="auto">
          <a:xfrm>
            <a:off x="6624638" y="3673475"/>
            <a:ext cx="4367212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45">
            <a:extLst>
              <a:ext uri="{FF2B5EF4-FFF2-40B4-BE49-F238E27FC236}">
                <a16:creationId xmlns:a16="http://schemas.microsoft.com/office/drawing/2014/main" id="{A3B830D1-96D5-3BC9-DEE3-F683D4E14F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2781300"/>
            <a:ext cx="1841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9pPr>
          </a:lstStyle>
          <a:p>
            <a:pPr eaLnBrk="1" hangingPunct="1"/>
            <a:endParaRPr lang="id-ID" altLang="en-US" sz="2800">
              <a:latin typeface="Arial" panose="020B0604020202020204" pitchFamily="34" charset="0"/>
            </a:endParaRPr>
          </a:p>
        </p:txBody>
      </p:sp>
      <p:sp>
        <p:nvSpPr>
          <p:cNvPr id="40963" name="Title 1">
            <a:extLst>
              <a:ext uri="{FF2B5EF4-FFF2-40B4-BE49-F238E27FC236}">
                <a16:creationId xmlns:a16="http://schemas.microsoft.com/office/drawing/2014/main" id="{02221F68-0114-CE84-1A6A-59333B1242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eaLnBrk="1" hangingPunct="1"/>
            <a:r>
              <a:rPr lang="fi-FI" altLang="en-US" sz="6600"/>
              <a:t>Fungsi Keanggotaan</a:t>
            </a:r>
            <a:r>
              <a:rPr lang="en-US" altLang="en-US" sz="6600"/>
              <a:t> 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FB6BEBC-D2E3-0BB0-5F2A-A55E9ED9C1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rtlCol="0" anchor="t">
            <a:normAutofit/>
          </a:bodyPr>
          <a:lstStyle/>
          <a:p>
            <a:pPr eaLnBrk="1" hangingPunct="1">
              <a:defRPr/>
            </a:pPr>
            <a:r>
              <a:rPr lang="sv-SE" altLang="en-US" sz="2800" u="sng" dirty="0">
                <a:latin typeface="+mn-lt"/>
              </a:rPr>
              <a:t>Kurva Trapesium </a:t>
            </a:r>
            <a:endParaRPr lang="en-US" sz="2800" u="sng" dirty="0"/>
          </a:p>
        </p:txBody>
      </p:sp>
      <p:sp>
        <p:nvSpPr>
          <p:cNvPr id="40965" name="Text Placeholder 2">
            <a:extLst>
              <a:ext uri="{FF2B5EF4-FFF2-40B4-BE49-F238E27FC236}">
                <a16:creationId xmlns:a16="http://schemas.microsoft.com/office/drawing/2014/main" id="{60BB9D24-0D34-F2A3-A299-156B3ACE0F5D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>
          <a:xfrm>
            <a:off x="6216650" y="1673225"/>
            <a:ext cx="5183188" cy="376238"/>
          </a:xfrm>
        </p:spPr>
        <p:txBody>
          <a:bodyPr/>
          <a:lstStyle/>
          <a:p>
            <a:pPr eaLnBrk="1" hangingPunct="1"/>
            <a:r>
              <a:rPr lang="en-US" altLang="en-US" i="1">
                <a:solidFill>
                  <a:srgbClr val="FF0000"/>
                </a:solidFill>
              </a:rPr>
              <a:t>Contoh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93DC8E-A817-D4FA-BF01-9B5E4A11DD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94425" y="2138363"/>
            <a:ext cx="5183188" cy="3071812"/>
          </a:xfrm>
        </p:spPr>
        <p:txBody>
          <a:bodyPr rtlCol="0">
            <a:normAutofit/>
          </a:bodyPr>
          <a:lstStyle/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sv-SE" altLang="en-US" sz="2000" dirty="0">
                <a:latin typeface="+mn-lt"/>
              </a:rPr>
              <a:t>Fungsi keanggotaan untuk himpunan DINGIN pada variabel temperatur ruangan seperti terlihat pada Gambar. Berapa derajat keanggotaan 32 dan 25 pada himpunan DINGIN tersebut ?</a:t>
            </a:r>
          </a:p>
        </p:txBody>
      </p:sp>
      <p:pic>
        <p:nvPicPr>
          <p:cNvPr id="40967" name="Picture 114">
            <a:extLst>
              <a:ext uri="{FF2B5EF4-FFF2-40B4-BE49-F238E27FC236}">
                <a16:creationId xmlns:a16="http://schemas.microsoft.com/office/drawing/2014/main" id="{C5E0CBDB-5D0C-38B1-8FB7-20732B24C543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000"/>
          <a:stretch>
            <a:fillRect/>
          </a:stretch>
        </p:blipFill>
        <p:spPr>
          <a:xfrm>
            <a:off x="1057275" y="2339975"/>
            <a:ext cx="3732213" cy="1622425"/>
          </a:xfrm>
          <a:noFill/>
        </p:spPr>
      </p:pic>
      <p:graphicFrame>
        <p:nvGraphicFramePr>
          <p:cNvPr id="40968" name="Object 115">
            <a:extLst>
              <a:ext uri="{FF2B5EF4-FFF2-40B4-BE49-F238E27FC236}">
                <a16:creationId xmlns:a16="http://schemas.microsoft.com/office/drawing/2014/main" id="{F1C2C20B-B5A8-7558-53B9-B75D2AF7D3D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4388" y="4352925"/>
          <a:ext cx="3733800" cy="1093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501900" imgH="914400" progId="Equation.3">
                  <p:embed/>
                </p:oleObj>
              </mc:Choice>
              <mc:Fallback>
                <p:oleObj name="Equation" r:id="rId3" imgW="2501900" imgH="914400" progId="Equation.3">
                  <p:embed/>
                  <p:pic>
                    <p:nvPicPr>
                      <p:cNvPr id="0" name="Object 1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4388" y="4352925"/>
                        <a:ext cx="3733800" cy="1093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0969" name="Picture 148">
            <a:extLst>
              <a:ext uri="{FF2B5EF4-FFF2-40B4-BE49-F238E27FC236}">
                <a16:creationId xmlns:a16="http://schemas.microsoft.com/office/drawing/2014/main" id="{2FD00016-59C3-B26F-96B7-54DCAB8FE0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570"/>
          <a:stretch>
            <a:fillRect/>
          </a:stretch>
        </p:blipFill>
        <p:spPr bwMode="auto">
          <a:xfrm>
            <a:off x="5845175" y="3751263"/>
            <a:ext cx="5584825" cy="227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45">
            <a:extLst>
              <a:ext uri="{FF2B5EF4-FFF2-40B4-BE49-F238E27FC236}">
                <a16:creationId xmlns:a16="http://schemas.microsoft.com/office/drawing/2014/main" id="{706520D3-59EC-4F5F-28B3-0D36825DE0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2781300"/>
            <a:ext cx="1841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9pPr>
          </a:lstStyle>
          <a:p>
            <a:pPr eaLnBrk="1" hangingPunct="1"/>
            <a:endParaRPr lang="id-ID" altLang="en-US" sz="2800">
              <a:latin typeface="Arial" panose="020B0604020202020204" pitchFamily="34" charset="0"/>
            </a:endParaRPr>
          </a:p>
        </p:txBody>
      </p:sp>
      <p:sp>
        <p:nvSpPr>
          <p:cNvPr id="41987" name="Title 1">
            <a:extLst>
              <a:ext uri="{FF2B5EF4-FFF2-40B4-BE49-F238E27FC236}">
                <a16:creationId xmlns:a16="http://schemas.microsoft.com/office/drawing/2014/main" id="{DAC80804-AD0F-1285-E60F-1F15EF8744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eaLnBrk="1" hangingPunct="1"/>
            <a:r>
              <a:rPr lang="fi-FI" altLang="en-US" sz="6600"/>
              <a:t>Fungsi Keanggotaan</a:t>
            </a:r>
            <a:r>
              <a:rPr lang="en-US" altLang="en-US" sz="6600"/>
              <a:t> 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EDFA098-A0B4-1A65-601B-7CDF35FF08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rtlCol="0" anchor="t">
            <a:normAutofit/>
          </a:bodyPr>
          <a:lstStyle/>
          <a:p>
            <a:pPr eaLnBrk="1" hangingPunct="1">
              <a:defRPr/>
            </a:pPr>
            <a:r>
              <a:rPr lang="sv-SE" altLang="en-US" sz="2800" u="sng" dirty="0">
                <a:latin typeface="+mn-lt"/>
              </a:rPr>
              <a:t>Kurva Bentuk Bahu</a:t>
            </a:r>
            <a:endParaRPr lang="en-US" sz="2800" u="sng" dirty="0"/>
          </a:p>
        </p:txBody>
      </p:sp>
      <p:pic>
        <p:nvPicPr>
          <p:cNvPr id="41989" name="Picture 196">
            <a:extLst>
              <a:ext uri="{FF2B5EF4-FFF2-40B4-BE49-F238E27FC236}">
                <a16:creationId xmlns:a16="http://schemas.microsoft.com/office/drawing/2014/main" id="{6A8B47E6-0E71-4B70-88D6-B2B128F3F4FA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849"/>
          <a:stretch>
            <a:fillRect/>
          </a:stretch>
        </p:blipFill>
        <p:spPr>
          <a:xfrm>
            <a:off x="947738" y="2468563"/>
            <a:ext cx="5091112" cy="3048000"/>
          </a:xfrm>
          <a:noFill/>
        </p:spPr>
      </p:pic>
      <p:sp>
        <p:nvSpPr>
          <p:cNvPr id="41990" name="Text Placeholder 17">
            <a:extLst>
              <a:ext uri="{FF2B5EF4-FFF2-40B4-BE49-F238E27FC236}">
                <a16:creationId xmlns:a16="http://schemas.microsoft.com/office/drawing/2014/main" id="{C07221F5-754D-DCCC-1386-8E89E67037A4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/>
          <a:lstStyle/>
          <a:p>
            <a:pPr eaLnBrk="1" hangingPunct="1"/>
            <a:endParaRPr lang="en-US" altLang="en-US"/>
          </a:p>
        </p:txBody>
      </p:sp>
      <p:graphicFrame>
        <p:nvGraphicFramePr>
          <p:cNvPr id="41991" name="Object 139">
            <a:extLst>
              <a:ext uri="{FF2B5EF4-FFF2-40B4-BE49-F238E27FC236}">
                <a16:creationId xmlns:a16="http://schemas.microsoft.com/office/drawing/2014/main" id="{EC2EC78D-B307-81DA-2071-8B4AA0DFA216}"/>
              </a:ext>
            </a:extLst>
          </p:cNvPr>
          <p:cNvGraphicFramePr>
            <a:graphicFrameLocks noGrp="1" noChangeAspect="1"/>
          </p:cNvGraphicFramePr>
          <p:nvPr>
            <p:ph sz="quarter" idx="4"/>
          </p:nvPr>
        </p:nvGraphicFramePr>
        <p:xfrm>
          <a:off x="6172200" y="2781300"/>
          <a:ext cx="5041900" cy="1211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959100" imgH="711200" progId="Equation.3">
                  <p:embed/>
                </p:oleObj>
              </mc:Choice>
              <mc:Fallback>
                <p:oleObj name="Equation" r:id="rId3" imgW="2959100" imgH="711200" progId="Equation.3">
                  <p:embed/>
                  <p:pic>
                    <p:nvPicPr>
                      <p:cNvPr id="0" name="Object 139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2200" y="2781300"/>
                        <a:ext cx="5041900" cy="1211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45">
            <a:extLst>
              <a:ext uri="{FF2B5EF4-FFF2-40B4-BE49-F238E27FC236}">
                <a16:creationId xmlns:a16="http://schemas.microsoft.com/office/drawing/2014/main" id="{FC27D813-495C-E8EB-24FF-1A78CA2E1B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2781300"/>
            <a:ext cx="1841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9pPr>
          </a:lstStyle>
          <a:p>
            <a:pPr eaLnBrk="1" hangingPunct="1"/>
            <a:endParaRPr lang="id-ID" altLang="en-US" sz="2800">
              <a:latin typeface="Arial" panose="020B0604020202020204" pitchFamily="34" charset="0"/>
            </a:endParaRPr>
          </a:p>
        </p:txBody>
      </p:sp>
      <p:sp>
        <p:nvSpPr>
          <p:cNvPr id="43011" name="Title 1">
            <a:extLst>
              <a:ext uri="{FF2B5EF4-FFF2-40B4-BE49-F238E27FC236}">
                <a16:creationId xmlns:a16="http://schemas.microsoft.com/office/drawing/2014/main" id="{A9EAB2EB-E60F-4DCA-4769-DFEDB295EA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eaLnBrk="1" hangingPunct="1"/>
            <a:r>
              <a:rPr lang="fi-FI" altLang="en-US" sz="6600"/>
              <a:t>Fungsi Keanggotaan</a:t>
            </a:r>
            <a:r>
              <a:rPr lang="en-US" altLang="en-US" sz="6600"/>
              <a:t> 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1CB2DE4-CB03-F241-5027-99500A03F4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6925" y="1681163"/>
            <a:ext cx="5157788" cy="823912"/>
          </a:xfrm>
        </p:spPr>
        <p:txBody>
          <a:bodyPr rtlCol="0" anchor="t">
            <a:normAutofit/>
          </a:bodyPr>
          <a:lstStyle/>
          <a:p>
            <a:pPr eaLnBrk="1" hangingPunct="1">
              <a:defRPr/>
            </a:pPr>
            <a:r>
              <a:rPr lang="sv-SE" altLang="en-US" sz="2800" u="sng" dirty="0">
                <a:latin typeface="+mn-lt"/>
              </a:rPr>
              <a:t>Kurva S-Pertumbuhan</a:t>
            </a:r>
            <a:endParaRPr lang="en-US" sz="2800" u="sng" dirty="0"/>
          </a:p>
        </p:txBody>
      </p:sp>
      <p:graphicFrame>
        <p:nvGraphicFramePr>
          <p:cNvPr id="43013" name="Object 32">
            <a:extLst>
              <a:ext uri="{FF2B5EF4-FFF2-40B4-BE49-F238E27FC236}">
                <a16:creationId xmlns:a16="http://schemas.microsoft.com/office/drawing/2014/main" id="{78CED215-3817-564E-DF68-DCF5C8826CD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7088" y="4802188"/>
          <a:ext cx="4159250" cy="1268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263900" imgH="914400" progId="Equation.3">
                  <p:embed/>
                </p:oleObj>
              </mc:Choice>
              <mc:Fallback>
                <p:oleObj name="Equation" r:id="rId2" imgW="3263900" imgH="914400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4802188"/>
                        <a:ext cx="4159250" cy="1268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52F24A20-BCB5-5EA2-4AED-B315207DD9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35688" y="1585913"/>
            <a:ext cx="5675312" cy="3684587"/>
          </a:xfrm>
        </p:spPr>
        <p:txBody>
          <a:bodyPr rtlCol="0">
            <a:normAutofit/>
          </a:bodyPr>
          <a:lstStyle/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fi-FI" altLang="en-US" sz="2000" b="1" dirty="0">
                <a:latin typeface="+mn-lt"/>
              </a:rPr>
              <a:t>Contoh: </a:t>
            </a:r>
            <a:r>
              <a:rPr lang="fi-FI" altLang="en-US" sz="2000" dirty="0">
                <a:latin typeface="+mn-lt"/>
              </a:rPr>
              <a:t>Berapa derajat keanggotaan PANAS pada variabel temperatur, bila sebuah benda mempunyai temperatur 50 </a:t>
            </a:r>
            <a:r>
              <a:rPr lang="fi-FI" altLang="en-US" sz="2000" baseline="30000" dirty="0">
                <a:latin typeface="+mn-lt"/>
              </a:rPr>
              <a:t>o</a:t>
            </a:r>
            <a:r>
              <a:rPr lang="fi-FI" altLang="en-US" sz="2000" dirty="0">
                <a:latin typeface="+mn-lt"/>
              </a:rPr>
              <a:t>C dan grafik kurva keanggotaan untuk himpunan fuzzy PANAS terlihat pada Gambar</a:t>
            </a:r>
            <a:endParaRPr lang="en-US" sz="2000" dirty="0">
              <a:latin typeface="+mn-lt"/>
            </a:endParaRPr>
          </a:p>
        </p:txBody>
      </p:sp>
      <p:pic>
        <p:nvPicPr>
          <p:cNvPr id="43015" name="Picture 32">
            <a:extLst>
              <a:ext uri="{FF2B5EF4-FFF2-40B4-BE49-F238E27FC236}">
                <a16:creationId xmlns:a16="http://schemas.microsoft.com/office/drawing/2014/main" id="{77D7EDA4-AA23-3CF1-6B0B-57ED3FA1BFAC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867"/>
          <a:stretch>
            <a:fillRect/>
          </a:stretch>
        </p:blipFill>
        <p:spPr>
          <a:xfrm>
            <a:off x="836613" y="2230438"/>
            <a:ext cx="4200525" cy="2397125"/>
          </a:xfrm>
          <a:noFill/>
        </p:spPr>
      </p:pic>
      <p:pic>
        <p:nvPicPr>
          <p:cNvPr id="43016" name="Picture 28">
            <a:extLst>
              <a:ext uri="{FF2B5EF4-FFF2-40B4-BE49-F238E27FC236}">
                <a16:creationId xmlns:a16="http://schemas.microsoft.com/office/drawing/2014/main" id="{179B754C-7015-CB78-810C-C33DF5C335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542"/>
          <a:stretch>
            <a:fillRect/>
          </a:stretch>
        </p:blipFill>
        <p:spPr bwMode="auto">
          <a:xfrm>
            <a:off x="6327775" y="3124200"/>
            <a:ext cx="4630738" cy="3030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45">
            <a:extLst>
              <a:ext uri="{FF2B5EF4-FFF2-40B4-BE49-F238E27FC236}">
                <a16:creationId xmlns:a16="http://schemas.microsoft.com/office/drawing/2014/main" id="{C690A3E3-FA32-2C9F-8400-5AEA314EA3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2781300"/>
            <a:ext cx="1841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9pPr>
          </a:lstStyle>
          <a:p>
            <a:pPr eaLnBrk="1" hangingPunct="1"/>
            <a:endParaRPr lang="id-ID" altLang="en-US" sz="2800">
              <a:latin typeface="Arial" panose="020B0604020202020204" pitchFamily="34" charset="0"/>
            </a:endParaRPr>
          </a:p>
        </p:txBody>
      </p:sp>
      <p:sp>
        <p:nvSpPr>
          <p:cNvPr id="44035" name="Title 1">
            <a:extLst>
              <a:ext uri="{FF2B5EF4-FFF2-40B4-BE49-F238E27FC236}">
                <a16:creationId xmlns:a16="http://schemas.microsoft.com/office/drawing/2014/main" id="{FA8F8D7E-695C-9EE4-FBF1-61C6D384B6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eaLnBrk="1" hangingPunct="1"/>
            <a:r>
              <a:rPr lang="fi-FI" altLang="en-US" sz="6600"/>
              <a:t>Fungsi Keanggotaan</a:t>
            </a:r>
            <a:r>
              <a:rPr lang="en-US" altLang="en-US" sz="6600"/>
              <a:t> 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F2508A5-4E68-DEF2-D3F4-7DF637B337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rtlCol="0" anchor="t">
            <a:normAutofit/>
          </a:bodyPr>
          <a:lstStyle/>
          <a:p>
            <a:pPr eaLnBrk="1" hangingPunct="1">
              <a:defRPr/>
            </a:pPr>
            <a:r>
              <a:rPr lang="fi-FI" altLang="en-US" sz="2800" u="sng" dirty="0">
                <a:latin typeface="+mn-lt"/>
              </a:rPr>
              <a:t>Kurva </a:t>
            </a:r>
            <a:r>
              <a:rPr lang="sv-SE" altLang="en-US" sz="2800" u="sng" dirty="0">
                <a:latin typeface="+mn-lt"/>
              </a:rPr>
              <a:t>S-Penyusutan</a:t>
            </a:r>
            <a:endParaRPr lang="fi-FI" altLang="en-US" sz="2800" u="sng" dirty="0">
              <a:latin typeface="+mn-lt"/>
            </a:endParaRPr>
          </a:p>
          <a:p>
            <a:pPr eaLnBrk="1" hangingPunct="1">
              <a:defRPr/>
            </a:pPr>
            <a:endParaRPr lang="en-US" sz="2800" u="sng" dirty="0">
              <a:latin typeface="+mn-lt"/>
            </a:endParaRPr>
          </a:p>
        </p:txBody>
      </p:sp>
      <p:pic>
        <p:nvPicPr>
          <p:cNvPr id="44037" name="Content Placeholder 4">
            <a:extLst>
              <a:ext uri="{FF2B5EF4-FFF2-40B4-BE49-F238E27FC236}">
                <a16:creationId xmlns:a16="http://schemas.microsoft.com/office/drawing/2014/main" id="{99CCFB4D-FEDC-0C28-1363-22391072DF7E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305"/>
          <a:stretch>
            <a:fillRect/>
          </a:stretch>
        </p:blipFill>
        <p:spPr>
          <a:xfrm>
            <a:off x="6111875" y="2286000"/>
            <a:ext cx="4505325" cy="2439988"/>
          </a:xfrm>
          <a:noFill/>
        </p:spPr>
      </p:pic>
      <p:graphicFrame>
        <p:nvGraphicFramePr>
          <p:cNvPr id="44038" name="Object 34">
            <a:extLst>
              <a:ext uri="{FF2B5EF4-FFF2-40B4-BE49-F238E27FC236}">
                <a16:creationId xmlns:a16="http://schemas.microsoft.com/office/drawing/2014/main" id="{657B78C8-F398-6C33-6B3F-AA5467177683}"/>
              </a:ext>
            </a:extLst>
          </p:cNvPr>
          <p:cNvGraphicFramePr>
            <a:graphicFrameLocks noGrp="1" noChangeAspect="1"/>
          </p:cNvGraphicFramePr>
          <p:nvPr>
            <p:ph sz="quarter" idx="4"/>
          </p:nvPr>
        </p:nvGraphicFramePr>
        <p:xfrm>
          <a:off x="6705600" y="4803775"/>
          <a:ext cx="4525963" cy="1266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263900" imgH="914400" progId="Equation.3">
                  <p:embed/>
                </p:oleObj>
              </mc:Choice>
              <mc:Fallback>
                <p:oleObj name="Equation" r:id="rId3" imgW="3263900" imgH="914400" progId="Equation.3">
                  <p:embed/>
                  <p:pic>
                    <p:nvPicPr>
                      <p:cNvPr id="0" name="Object 3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0" y="4803775"/>
                        <a:ext cx="4525963" cy="1266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4039" name="Picture 6">
            <a:extLst>
              <a:ext uri="{FF2B5EF4-FFF2-40B4-BE49-F238E27FC236}">
                <a16:creationId xmlns:a16="http://schemas.microsoft.com/office/drawing/2014/main" id="{A98D8462-833D-856C-E367-50CA2BAD92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245" r="7245" b="17708"/>
          <a:stretch>
            <a:fillRect/>
          </a:stretch>
        </p:blipFill>
        <p:spPr bwMode="auto">
          <a:xfrm>
            <a:off x="1166813" y="3333750"/>
            <a:ext cx="4206875" cy="2636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F4FF5F5-CBE5-B2FB-28E1-C4A99B61D7B5}"/>
              </a:ext>
            </a:extLst>
          </p:cNvPr>
          <p:cNvSpPr txBox="1"/>
          <p:nvPr/>
        </p:nvSpPr>
        <p:spPr>
          <a:xfrm>
            <a:off x="935038" y="1766888"/>
            <a:ext cx="4878387" cy="14763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fi-FI" altLang="en-US" b="1" dirty="0">
                <a:latin typeface="+mn-lt"/>
              </a:rPr>
              <a:t>Contoh: </a:t>
            </a:r>
            <a:r>
              <a:rPr lang="fi-FI" altLang="en-US" dirty="0">
                <a:latin typeface="+mn-lt"/>
              </a:rPr>
              <a:t>Berapa derajat keanggotaan PANAS pada variabel temperatur, bila sebuah benda mempunyai temperatur 37 </a:t>
            </a:r>
            <a:r>
              <a:rPr lang="fi-FI" altLang="en-US" baseline="30000" dirty="0">
                <a:latin typeface="+mn-lt"/>
              </a:rPr>
              <a:t>o</a:t>
            </a:r>
            <a:r>
              <a:rPr lang="fi-FI" altLang="en-US" dirty="0">
                <a:latin typeface="+mn-lt"/>
              </a:rPr>
              <a:t>C dan grafik kurva keanggotaan untuk himpunan fuzzy PANAS terlihat pada Gambar</a:t>
            </a:r>
            <a:endParaRPr lang="en-US" dirty="0">
              <a:latin typeface="+mn-lt"/>
            </a:endParaRPr>
          </a:p>
        </p:txBody>
      </p:sp>
    </p:spTree>
  </p:cSld>
  <p:clrMapOvr>
    <a:masterClrMapping/>
  </p:clrMapOvr>
  <p:transition spd="slow">
    <p:wip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8" name="Picture 6">
            <a:extLst>
              <a:ext uri="{FF2B5EF4-FFF2-40B4-BE49-F238E27FC236}">
                <a16:creationId xmlns:a16="http://schemas.microsoft.com/office/drawing/2014/main" id="{3EE21706-BF7D-CDD7-CE39-FC74E3D0D4D7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79625" y="2039938"/>
            <a:ext cx="3684588" cy="3103562"/>
          </a:xfrm>
          <a:noFill/>
        </p:spPr>
      </p:pic>
      <p:sp>
        <p:nvSpPr>
          <p:cNvPr id="45059" name="Rectangle 45">
            <a:extLst>
              <a:ext uri="{FF2B5EF4-FFF2-40B4-BE49-F238E27FC236}">
                <a16:creationId xmlns:a16="http://schemas.microsoft.com/office/drawing/2014/main" id="{318E0DC5-6425-5E07-AC3F-B8E5EC01F5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2781300"/>
            <a:ext cx="1841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9pPr>
          </a:lstStyle>
          <a:p>
            <a:pPr eaLnBrk="1" hangingPunct="1"/>
            <a:endParaRPr lang="id-ID" altLang="en-US" sz="2800">
              <a:latin typeface="Arial" panose="020B0604020202020204" pitchFamily="34" charset="0"/>
            </a:endParaRPr>
          </a:p>
        </p:txBody>
      </p:sp>
      <p:sp>
        <p:nvSpPr>
          <p:cNvPr id="45060" name="Title 1">
            <a:extLst>
              <a:ext uri="{FF2B5EF4-FFF2-40B4-BE49-F238E27FC236}">
                <a16:creationId xmlns:a16="http://schemas.microsoft.com/office/drawing/2014/main" id="{33B4DE4F-D403-D068-9F96-BC30C444ED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eaLnBrk="1" hangingPunct="1"/>
            <a:r>
              <a:rPr lang="fi-FI" altLang="en-US" sz="6600"/>
              <a:t>Fungsi Keanggotaan</a:t>
            </a:r>
            <a:r>
              <a:rPr lang="en-US" altLang="en-US" sz="6600"/>
              <a:t> 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BEBD179-F317-31C7-32F1-A569F0105F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6925" y="1681163"/>
            <a:ext cx="5157788" cy="823912"/>
          </a:xfrm>
        </p:spPr>
        <p:txBody>
          <a:bodyPr rtlCol="0" anchor="t">
            <a:normAutofit lnSpcReduction="10000"/>
          </a:bodyPr>
          <a:lstStyle/>
          <a:p>
            <a:pPr eaLnBrk="1" hangingPunct="1">
              <a:defRPr/>
            </a:pPr>
            <a:r>
              <a:rPr lang="sv-SE" altLang="en-US" sz="2400" u="sng" dirty="0">
                <a:latin typeface="+mn-lt"/>
              </a:rPr>
              <a:t>Kurva Lonceng (Bell Curve)</a:t>
            </a:r>
            <a:endParaRPr lang="en-US" altLang="en-US" sz="2400" u="sng" dirty="0">
              <a:latin typeface="+mn-lt"/>
            </a:endParaRPr>
          </a:p>
          <a:p>
            <a:pPr marL="457200" indent="-457200" eaLnBrk="1" hangingPunct="1">
              <a:buFont typeface="+mj-lt"/>
              <a:buAutoNum type="alphaUcPeriod"/>
              <a:defRPr/>
            </a:pPr>
            <a:r>
              <a:rPr lang="en-US" altLang="en-US" sz="2400" u="sng" dirty="0" err="1">
                <a:latin typeface="+mn-lt"/>
              </a:rPr>
              <a:t>Kurva</a:t>
            </a:r>
            <a:r>
              <a:rPr lang="en-US" altLang="en-US" sz="2400" u="sng" dirty="0">
                <a:latin typeface="+mn-lt"/>
              </a:rPr>
              <a:t> Pi</a:t>
            </a:r>
            <a:endParaRPr lang="en-US" sz="2400" u="sng" dirty="0">
              <a:latin typeface="+mn-lt"/>
            </a:endParaRP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B4F552C7-14B3-54E0-E280-1DC4407FFE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35688" y="1585913"/>
            <a:ext cx="5675312" cy="3684587"/>
          </a:xfrm>
        </p:spPr>
        <p:txBody>
          <a:bodyPr rtlCol="0">
            <a:normAutofit/>
          </a:bodyPr>
          <a:lstStyle/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fi-FI" altLang="en-US" sz="2000" b="1" dirty="0">
                <a:latin typeface="+mn-lt"/>
              </a:rPr>
              <a:t>Contoh: </a:t>
            </a:r>
            <a:r>
              <a:rPr lang="fi-FI" altLang="en-US" sz="2000" dirty="0">
                <a:latin typeface="+mn-lt"/>
              </a:rPr>
              <a:t>Berapa derajat keanggotaan PANAS pada variabel temperatur, bila sebuah benda mempunyai temperatur 42 </a:t>
            </a:r>
            <a:r>
              <a:rPr lang="fi-FI" altLang="en-US" sz="2000" baseline="30000" dirty="0">
                <a:latin typeface="+mn-lt"/>
              </a:rPr>
              <a:t>o</a:t>
            </a:r>
            <a:r>
              <a:rPr lang="fi-FI" altLang="en-US" sz="2000" dirty="0">
                <a:latin typeface="+mn-lt"/>
              </a:rPr>
              <a:t>C dan 51 </a:t>
            </a:r>
            <a:r>
              <a:rPr lang="fi-FI" altLang="en-US" sz="2000" baseline="30000" dirty="0">
                <a:latin typeface="+mn-lt"/>
              </a:rPr>
              <a:t>o</a:t>
            </a:r>
            <a:r>
              <a:rPr lang="fi-FI" altLang="en-US" sz="2000" dirty="0">
                <a:latin typeface="+mn-lt"/>
              </a:rPr>
              <a:t>C dan grafik kurva keanggotaan untuk himpunan fuzzy PANAS dengan pusat 45 </a:t>
            </a:r>
            <a:r>
              <a:rPr lang="fi-FI" altLang="en-US" sz="2000" baseline="30000" dirty="0">
                <a:latin typeface="+mn-lt"/>
              </a:rPr>
              <a:t>o</a:t>
            </a:r>
            <a:r>
              <a:rPr lang="fi-FI" altLang="en-US" sz="2000" dirty="0">
                <a:latin typeface="+mn-lt"/>
              </a:rPr>
              <a:t>C dan lebar 10 </a:t>
            </a:r>
            <a:r>
              <a:rPr lang="fi-FI" altLang="en-US" sz="2000" baseline="30000" dirty="0">
                <a:latin typeface="+mn-lt"/>
              </a:rPr>
              <a:t>o</a:t>
            </a:r>
            <a:r>
              <a:rPr lang="fi-FI" altLang="en-US" sz="2000" dirty="0">
                <a:latin typeface="+mn-lt"/>
              </a:rPr>
              <a:t>C </a:t>
            </a:r>
            <a:endParaRPr lang="en-US" sz="2000" dirty="0">
              <a:latin typeface="+mn-lt"/>
            </a:endParaRPr>
          </a:p>
        </p:txBody>
      </p:sp>
      <p:graphicFrame>
        <p:nvGraphicFramePr>
          <p:cNvPr id="45063" name="Object 5">
            <a:extLst>
              <a:ext uri="{FF2B5EF4-FFF2-40B4-BE49-F238E27FC236}">
                <a16:creationId xmlns:a16="http://schemas.microsoft.com/office/drawing/2014/main" id="{00F8CB84-C3F9-DD8F-0858-68496440368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5625" y="5124450"/>
          <a:ext cx="3048000" cy="887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933700" imgH="863600" progId="Equation.3">
                  <p:embed/>
                </p:oleObj>
              </mc:Choice>
              <mc:Fallback>
                <p:oleObj name="Equation" r:id="rId3" imgW="2933700" imgH="863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5625" y="5124450"/>
                        <a:ext cx="3048000" cy="887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wip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2" name="Picture 6">
            <a:extLst>
              <a:ext uri="{FF2B5EF4-FFF2-40B4-BE49-F238E27FC236}">
                <a16:creationId xmlns:a16="http://schemas.microsoft.com/office/drawing/2014/main" id="{F5F93E5B-85C5-1D1C-CC41-8F7CC00A090C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335213" y="2124075"/>
            <a:ext cx="3619500" cy="3381375"/>
          </a:xfrm>
          <a:noFill/>
        </p:spPr>
      </p:pic>
      <p:sp>
        <p:nvSpPr>
          <p:cNvPr id="46083" name="Rectangle 45">
            <a:extLst>
              <a:ext uri="{FF2B5EF4-FFF2-40B4-BE49-F238E27FC236}">
                <a16:creationId xmlns:a16="http://schemas.microsoft.com/office/drawing/2014/main" id="{2D090633-D455-9B26-04B8-468000E2C5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2781300"/>
            <a:ext cx="1841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9pPr>
          </a:lstStyle>
          <a:p>
            <a:pPr eaLnBrk="1" hangingPunct="1"/>
            <a:endParaRPr lang="id-ID" altLang="en-US" sz="2800">
              <a:latin typeface="Arial" panose="020B0604020202020204" pitchFamily="34" charset="0"/>
            </a:endParaRPr>
          </a:p>
        </p:txBody>
      </p:sp>
      <p:sp>
        <p:nvSpPr>
          <p:cNvPr id="46084" name="Title 1">
            <a:extLst>
              <a:ext uri="{FF2B5EF4-FFF2-40B4-BE49-F238E27FC236}">
                <a16:creationId xmlns:a16="http://schemas.microsoft.com/office/drawing/2014/main" id="{4D67DFA4-2217-F592-9FCD-4615B707B0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eaLnBrk="1" hangingPunct="1"/>
            <a:r>
              <a:rPr lang="fi-FI" altLang="en-US" sz="6600"/>
              <a:t>Fungsi Keanggotaan</a:t>
            </a:r>
            <a:r>
              <a:rPr lang="en-US" altLang="en-US" sz="6600"/>
              <a:t> 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EB95BDD-4430-C1DF-FBFF-BBDA45E575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6925" y="1681163"/>
            <a:ext cx="5157788" cy="823912"/>
          </a:xfrm>
        </p:spPr>
        <p:txBody>
          <a:bodyPr rtlCol="0" anchor="t">
            <a:normAutofit lnSpcReduction="10000"/>
          </a:bodyPr>
          <a:lstStyle/>
          <a:p>
            <a:pPr eaLnBrk="1" hangingPunct="1">
              <a:defRPr/>
            </a:pPr>
            <a:r>
              <a:rPr lang="sv-SE" altLang="en-US" sz="2400" u="sng" dirty="0">
                <a:latin typeface="+mn-lt"/>
              </a:rPr>
              <a:t>Kurva Lonceng (Bell Curve)</a:t>
            </a:r>
            <a:endParaRPr lang="en-US" altLang="en-US" sz="2400" u="sng" dirty="0">
              <a:latin typeface="+mn-lt"/>
            </a:endParaRPr>
          </a:p>
          <a:p>
            <a:pPr marL="457200" indent="-457200" eaLnBrk="1" hangingPunct="1">
              <a:buFont typeface="+mj-lt"/>
              <a:buAutoNum type="alphaUcPeriod"/>
              <a:defRPr/>
            </a:pPr>
            <a:r>
              <a:rPr lang="en-US" altLang="en-US" sz="2400" u="sng" dirty="0" err="1">
                <a:latin typeface="+mn-lt"/>
              </a:rPr>
              <a:t>Kurva</a:t>
            </a:r>
            <a:r>
              <a:rPr lang="en-US" altLang="en-US" sz="2400" u="sng" dirty="0">
                <a:latin typeface="+mn-lt"/>
              </a:rPr>
              <a:t> Beta</a:t>
            </a:r>
            <a:endParaRPr lang="en-US" sz="2400" u="sng" dirty="0">
              <a:latin typeface="+mn-lt"/>
            </a:endParaRP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742C564D-8001-F35A-129C-9837CA494F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35688" y="1585913"/>
            <a:ext cx="5675312" cy="3684587"/>
          </a:xfrm>
        </p:spPr>
        <p:txBody>
          <a:bodyPr rtlCol="0">
            <a:normAutofit/>
          </a:bodyPr>
          <a:lstStyle/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fi-FI" altLang="en-US" sz="2000" b="1" dirty="0">
                <a:latin typeface="+mn-lt"/>
              </a:rPr>
              <a:t>Contoh: </a:t>
            </a:r>
            <a:r>
              <a:rPr lang="fi-FI" altLang="en-US" sz="2000" dirty="0">
                <a:latin typeface="+mn-lt"/>
              </a:rPr>
              <a:t>Berapa derajat keanggotaan PANAS pada variabel temperatur, bila sebuah benda mempunyai temperatur 42 </a:t>
            </a:r>
            <a:r>
              <a:rPr lang="fi-FI" altLang="en-US" sz="2000" baseline="30000" dirty="0">
                <a:latin typeface="+mn-lt"/>
              </a:rPr>
              <a:t>o</a:t>
            </a:r>
            <a:r>
              <a:rPr lang="fi-FI" altLang="en-US" sz="2000" dirty="0">
                <a:latin typeface="+mn-lt"/>
              </a:rPr>
              <a:t>C dan 51 </a:t>
            </a:r>
            <a:r>
              <a:rPr lang="fi-FI" altLang="en-US" sz="2000" baseline="30000" dirty="0">
                <a:latin typeface="+mn-lt"/>
              </a:rPr>
              <a:t>o</a:t>
            </a:r>
            <a:r>
              <a:rPr lang="fi-FI" altLang="en-US" sz="2000" dirty="0">
                <a:latin typeface="+mn-lt"/>
              </a:rPr>
              <a:t>C dan grafik kurva keanggotaan untuk himpunan fuzzy PANAS seperti pada Gambar</a:t>
            </a:r>
            <a:endParaRPr lang="en-US" sz="2000" dirty="0">
              <a:latin typeface="+mn-lt"/>
            </a:endParaRPr>
          </a:p>
        </p:txBody>
      </p:sp>
      <p:graphicFrame>
        <p:nvGraphicFramePr>
          <p:cNvPr id="46087" name="Object 7">
            <a:extLst>
              <a:ext uri="{FF2B5EF4-FFF2-40B4-BE49-F238E27FC236}">
                <a16:creationId xmlns:a16="http://schemas.microsoft.com/office/drawing/2014/main" id="{96C1FEED-8C9D-18A9-B41E-9CBD7A93E6F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6088" y="4803775"/>
          <a:ext cx="2351087" cy="1122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498600" imgH="660400" progId="Equation.3">
                  <p:embed/>
                </p:oleObj>
              </mc:Choice>
              <mc:Fallback>
                <p:oleObj name="Equation" r:id="rId3" imgW="1498600" imgH="6604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6088" y="4803775"/>
                        <a:ext cx="2351087" cy="1122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6088" name="Picture 8">
            <a:extLst>
              <a:ext uri="{FF2B5EF4-FFF2-40B4-BE49-F238E27FC236}">
                <a16:creationId xmlns:a16="http://schemas.microsoft.com/office/drawing/2014/main" id="{AF964139-F895-A300-2E91-76F7CE64A8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8875" y="3305175"/>
            <a:ext cx="4981575" cy="2474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wip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06" name="Picture 6">
            <a:extLst>
              <a:ext uri="{FF2B5EF4-FFF2-40B4-BE49-F238E27FC236}">
                <a16:creationId xmlns:a16="http://schemas.microsoft.com/office/drawing/2014/main" id="{AA6EC76A-8BCA-30EC-805F-05A18DAEC545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28825" y="2054225"/>
            <a:ext cx="3619500" cy="3105150"/>
          </a:xfrm>
          <a:noFill/>
        </p:spPr>
      </p:pic>
      <p:sp>
        <p:nvSpPr>
          <p:cNvPr id="47107" name="Rectangle 45">
            <a:extLst>
              <a:ext uri="{FF2B5EF4-FFF2-40B4-BE49-F238E27FC236}">
                <a16:creationId xmlns:a16="http://schemas.microsoft.com/office/drawing/2014/main" id="{91D4FDCF-48D9-5740-C169-5E35455D57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2781300"/>
            <a:ext cx="1841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9pPr>
          </a:lstStyle>
          <a:p>
            <a:pPr eaLnBrk="1" hangingPunct="1"/>
            <a:endParaRPr lang="id-ID" altLang="en-US" sz="2800">
              <a:latin typeface="Arial" panose="020B0604020202020204" pitchFamily="34" charset="0"/>
            </a:endParaRPr>
          </a:p>
        </p:txBody>
      </p:sp>
      <p:sp>
        <p:nvSpPr>
          <p:cNvPr id="47108" name="Title 1">
            <a:extLst>
              <a:ext uri="{FF2B5EF4-FFF2-40B4-BE49-F238E27FC236}">
                <a16:creationId xmlns:a16="http://schemas.microsoft.com/office/drawing/2014/main" id="{AEC758BC-F9ED-45E0-E7AA-56702A620F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eaLnBrk="1" hangingPunct="1"/>
            <a:r>
              <a:rPr lang="fi-FI" altLang="en-US" sz="6600"/>
              <a:t>Fungsi Keanggotaan</a:t>
            </a:r>
            <a:r>
              <a:rPr lang="en-US" altLang="en-US" sz="6600"/>
              <a:t> 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FED10CA-6D11-0D6B-6C65-E892297D2A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6925" y="1681163"/>
            <a:ext cx="5157788" cy="823912"/>
          </a:xfrm>
        </p:spPr>
        <p:txBody>
          <a:bodyPr rtlCol="0" anchor="t">
            <a:normAutofit lnSpcReduction="10000"/>
          </a:bodyPr>
          <a:lstStyle/>
          <a:p>
            <a:pPr eaLnBrk="1" hangingPunct="1">
              <a:defRPr/>
            </a:pPr>
            <a:r>
              <a:rPr lang="sv-SE" altLang="en-US" sz="2400" u="sng" dirty="0">
                <a:latin typeface="+mn-lt"/>
              </a:rPr>
              <a:t>Kurva Lonceng (Bell Curve)</a:t>
            </a:r>
            <a:endParaRPr lang="en-US" altLang="en-US" sz="2400" u="sng" dirty="0">
              <a:latin typeface="+mn-lt"/>
            </a:endParaRPr>
          </a:p>
          <a:p>
            <a:pPr marL="457200" indent="-457200" eaLnBrk="1" hangingPunct="1">
              <a:buFont typeface="+mj-lt"/>
              <a:buAutoNum type="alphaUcPeriod"/>
              <a:defRPr/>
            </a:pPr>
            <a:r>
              <a:rPr lang="en-US" altLang="en-US" sz="2400" u="sng" dirty="0" err="1">
                <a:latin typeface="+mn-lt"/>
              </a:rPr>
              <a:t>Kurva</a:t>
            </a:r>
            <a:r>
              <a:rPr lang="en-US" altLang="en-US" sz="2400" u="sng" dirty="0">
                <a:latin typeface="+mn-lt"/>
              </a:rPr>
              <a:t> </a:t>
            </a:r>
            <a:r>
              <a:rPr lang="en-US" altLang="en-US" sz="2400" u="sng" dirty="0" err="1">
                <a:latin typeface="+mn-lt"/>
              </a:rPr>
              <a:t>Gaus</a:t>
            </a:r>
            <a:endParaRPr lang="en-US" sz="2400" u="sng" dirty="0">
              <a:latin typeface="+mn-lt"/>
            </a:endParaRPr>
          </a:p>
        </p:txBody>
      </p:sp>
      <p:graphicFrame>
        <p:nvGraphicFramePr>
          <p:cNvPr id="47110" name="Object 7">
            <a:extLst>
              <a:ext uri="{FF2B5EF4-FFF2-40B4-BE49-F238E27FC236}">
                <a16:creationId xmlns:a16="http://schemas.microsoft.com/office/drawing/2014/main" id="{D04B149A-59E2-6B7D-EC63-1F6077F3B5D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6925" y="5176838"/>
          <a:ext cx="3581400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231366" imgH="253890" progId="Equation.3">
                  <p:embed/>
                </p:oleObj>
              </mc:Choice>
              <mc:Fallback>
                <p:oleObj name="Equation" r:id="rId3" imgW="1231366" imgH="25389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6925" y="5176838"/>
                        <a:ext cx="3581400" cy="74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11" name="Content Placeholder 9">
            <a:extLst>
              <a:ext uri="{FF2B5EF4-FFF2-40B4-BE49-F238E27FC236}">
                <a16:creationId xmlns:a16="http://schemas.microsoft.com/office/drawing/2014/main" id="{964E896A-77D1-CE64-43D5-8E4C3526585D}"/>
              </a:ext>
            </a:extLst>
          </p:cNvPr>
          <p:cNvSpPr>
            <a:spLocks noGrp="1" noChangeArrowheads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  <p:transition spd="slow">
    <p:wip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8">
            <a:extLst>
              <a:ext uri="{FF2B5EF4-FFF2-40B4-BE49-F238E27FC236}">
                <a16:creationId xmlns:a16="http://schemas.microsoft.com/office/drawing/2014/main" id="{68AE311C-7735-4479-411B-E172AF2AB2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826"/>
          <a:stretch>
            <a:fillRect/>
          </a:stretch>
        </p:blipFill>
        <p:spPr bwMode="auto">
          <a:xfrm>
            <a:off x="685800" y="2089150"/>
            <a:ext cx="6172200" cy="352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131" name="Text Box 10">
            <a:extLst>
              <a:ext uri="{FF2B5EF4-FFF2-40B4-BE49-F238E27FC236}">
                <a16:creationId xmlns:a16="http://schemas.microsoft.com/office/drawing/2014/main" id="{B5CC33A9-1543-28CC-7D12-94703D8746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1676400"/>
            <a:ext cx="4343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800" dirty="0">
                <a:solidFill>
                  <a:srgbClr val="FF3300"/>
                </a:solidFill>
                <a:latin typeface="Arial" panose="020B0604020202020204" pitchFamily="34" charset="0"/>
              </a:rPr>
              <a:t>Basis data</a:t>
            </a:r>
          </a:p>
        </p:txBody>
      </p:sp>
      <p:sp>
        <p:nvSpPr>
          <p:cNvPr id="48132" name="Title 2">
            <a:extLst>
              <a:ext uri="{FF2B5EF4-FFF2-40B4-BE49-F238E27FC236}">
                <a16:creationId xmlns:a16="http://schemas.microsoft.com/office/drawing/2014/main" id="{98766214-0C41-F294-C20D-E5E1EB2268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6600"/>
              <a:t>STUDI KASUS</a:t>
            </a:r>
          </a:p>
        </p:txBody>
      </p:sp>
      <p:pic>
        <p:nvPicPr>
          <p:cNvPr id="48133" name="Picture 9">
            <a:extLst>
              <a:ext uri="{FF2B5EF4-FFF2-40B4-BE49-F238E27FC236}">
                <a16:creationId xmlns:a16="http://schemas.microsoft.com/office/drawing/2014/main" id="{56C79F2E-0557-B586-1220-D8634408C7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122238"/>
            <a:ext cx="4754563" cy="1997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>
            <a:extLst>
              <a:ext uri="{FF2B5EF4-FFF2-40B4-BE49-F238E27FC236}">
                <a16:creationId xmlns:a16="http://schemas.microsoft.com/office/drawing/2014/main" id="{8C55082B-296B-971C-EFD9-270AA990FE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7900" y="2195513"/>
            <a:ext cx="4284663" cy="206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48135" name="Object 1">
            <a:extLst>
              <a:ext uri="{FF2B5EF4-FFF2-40B4-BE49-F238E27FC236}">
                <a16:creationId xmlns:a16="http://schemas.microsoft.com/office/drawing/2014/main" id="{452BEF00-680B-EEE7-9EA4-45EEAD825DA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27900" y="4495800"/>
          <a:ext cx="4613275" cy="169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4809366" imgH="1763679" progId="">
                  <p:embed/>
                </p:oleObj>
              </mc:Choice>
              <mc:Fallback>
                <p:oleObj name="Visio" r:id="rId5" imgW="4809366" imgH="1763679" progId="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27900" y="4495800"/>
                        <a:ext cx="4613275" cy="1690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FFAF7-83EC-A5D0-DB9B-25EE7B1FEA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pPr eaLnBrk="1" hangingPunct="1">
              <a:defRPr/>
            </a:pPr>
            <a:r>
              <a:rPr sz="7200" dirty="0" err="1">
                <a:solidFill>
                  <a:schemeClr val="bg1">
                    <a:lumMod val="95000"/>
                  </a:schemeClr>
                </a:solidFill>
                <a:latin typeface="Tw Cen MT Condensed Extra Bold" panose="020B0803020202020204" pitchFamily="34" charset="0"/>
              </a:rPr>
              <a:t>Operasi</a:t>
            </a:r>
            <a:r>
              <a:rPr sz="7200" dirty="0">
                <a:solidFill>
                  <a:schemeClr val="bg1">
                    <a:lumMod val="95000"/>
                  </a:schemeClr>
                </a:solidFill>
                <a:latin typeface="Tw Cen MT Condensed Extra Bold" panose="020B0803020202020204" pitchFamily="34" charset="0"/>
              </a:rPr>
              <a:t> Dasar </a:t>
            </a:r>
            <a:r>
              <a:rPr sz="7200" dirty="0" err="1">
                <a:solidFill>
                  <a:schemeClr val="bg1">
                    <a:lumMod val="95000"/>
                  </a:schemeClr>
                </a:solidFill>
                <a:latin typeface="Tw Cen MT Condensed Extra Bold" panose="020B0803020202020204" pitchFamily="34" charset="0"/>
              </a:rPr>
              <a:t>Himpunan</a:t>
            </a:r>
            <a:r>
              <a:rPr sz="7200" dirty="0">
                <a:solidFill>
                  <a:schemeClr val="bg1">
                    <a:lumMod val="95000"/>
                  </a:schemeClr>
                </a:solidFill>
                <a:latin typeface="Tw Cen MT Condensed Extra Bold" panose="020B0803020202020204" pitchFamily="34" charset="0"/>
              </a:rPr>
              <a:t> Fuzzy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C001AF-4E6E-6B40-58B9-0AEFBD9ECD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 rtlCol="0">
            <a:normAutofit/>
          </a:bodyPr>
          <a:lstStyle/>
          <a:p>
            <a:pPr eaLnBrk="1" hangingPunct="1">
              <a:defRPr/>
            </a:pPr>
            <a:endParaRPr lang="en-US"/>
          </a:p>
        </p:txBody>
      </p:sp>
    </p:spTree>
  </p:cSld>
  <p:clrMapOvr>
    <a:masterClrMapping/>
  </p:clrMapOvr>
  <p:transition spd="slow">
    <p:wip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34BE5E2E-F5CC-F75C-4CE0-46CC000DC1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sz="6600" dirty="0" err="1"/>
              <a:t>Operasi</a:t>
            </a:r>
            <a:r>
              <a:rPr lang="en-US" altLang="en-US" sz="6600" dirty="0"/>
              <a:t> </a:t>
            </a:r>
            <a:r>
              <a:rPr lang="en-US" altLang="en-US" sz="6600" dirty="0" err="1"/>
              <a:t>Himpunan</a:t>
            </a:r>
            <a:r>
              <a:rPr lang="en-US" altLang="en-US" sz="6600" dirty="0"/>
              <a:t> Fuzzy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112B0529-E1B2-EA08-6664-DFDC967B155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839789" y="1681163"/>
            <a:ext cx="5157787" cy="4508500"/>
          </a:xfrm>
        </p:spPr>
        <p:txBody>
          <a:bodyPr anchor="ctr"/>
          <a:lstStyle/>
          <a:p>
            <a:pPr marL="182563" indent="-182563">
              <a:lnSpc>
                <a:spcPct val="80000"/>
              </a:lnSpc>
              <a:tabLst>
                <a:tab pos="1343025" algn="l"/>
              </a:tabLst>
            </a:pPr>
            <a:r>
              <a:rPr lang="pt-BR" altLang="en-US" sz="2000" dirty="0">
                <a:latin typeface="+mn-lt"/>
              </a:rPr>
              <a:t>Operasi logika adalah operasi yang mengkombinasikan dan memodifikasi 2 atau lebih himpunan fuzzy. </a:t>
            </a:r>
          </a:p>
          <a:p>
            <a:pPr marL="182563" indent="-182563">
              <a:lnSpc>
                <a:spcPct val="80000"/>
              </a:lnSpc>
              <a:tabLst>
                <a:tab pos="1343025" algn="l"/>
              </a:tabLst>
            </a:pPr>
            <a:r>
              <a:rPr lang="pt-BR" altLang="en-US" sz="2000" dirty="0">
                <a:latin typeface="+mn-lt"/>
              </a:rPr>
              <a:t>Nilai keanggotaan baru hasil operasi dua himpunan disebut </a:t>
            </a:r>
            <a:r>
              <a:rPr lang="pt-BR" altLang="en-US" sz="2000" i="1" dirty="0">
                <a:latin typeface="+mn-lt"/>
              </a:rPr>
              <a:t>firing strength</a:t>
            </a:r>
            <a:r>
              <a:rPr lang="pt-BR" altLang="en-US" sz="2000" dirty="0">
                <a:latin typeface="+mn-lt"/>
              </a:rPr>
              <a:t> atau </a:t>
            </a:r>
            <a:r>
              <a:rPr lang="en-US" altLang="en-US" sz="2000" dirty="0">
                <a:latin typeface="+mn-lt"/>
                <a:sym typeface="Symbol" panose="05050102010706020507" pitchFamily="18" charset="2"/>
              </a:rPr>
              <a:t></a:t>
            </a:r>
            <a:r>
              <a:rPr lang="pt-BR" altLang="en-US" sz="2000" dirty="0">
                <a:latin typeface="+mn-lt"/>
              </a:rPr>
              <a:t>-predikat, terdapat 3 operasi dasar pada himpunan fuzzy :</a:t>
            </a:r>
          </a:p>
          <a:p>
            <a:pPr marL="800100" lvl="2" indent="-457200">
              <a:lnSpc>
                <a:spcPct val="80000"/>
              </a:lnSpc>
              <a:buFont typeface="+mj-lt"/>
              <a:buAutoNum type="alphaUcPeriod"/>
              <a:tabLst>
                <a:tab pos="1343025" algn="l"/>
              </a:tabLst>
            </a:pPr>
            <a:r>
              <a:rPr lang="pt-BR" altLang="en-US" sz="2000" dirty="0">
                <a:latin typeface="+mn-lt"/>
              </a:rPr>
              <a:t>OR (Union)</a:t>
            </a:r>
          </a:p>
          <a:p>
            <a:pPr marL="800100" lvl="2" indent="-457200">
              <a:lnSpc>
                <a:spcPct val="80000"/>
              </a:lnSpc>
              <a:buFont typeface="+mj-lt"/>
              <a:buAutoNum type="alphaUcPeriod"/>
              <a:tabLst>
                <a:tab pos="1343025" algn="l"/>
              </a:tabLst>
            </a:pPr>
            <a:r>
              <a:rPr lang="pt-BR" altLang="en-US" sz="2000" dirty="0">
                <a:latin typeface="+mn-lt"/>
              </a:rPr>
              <a:t>AND (Intersection)</a:t>
            </a:r>
          </a:p>
          <a:p>
            <a:pPr marL="800100" lvl="2" indent="-457200">
              <a:lnSpc>
                <a:spcPct val="80000"/>
              </a:lnSpc>
              <a:buFont typeface="+mj-lt"/>
              <a:buAutoNum type="alphaUcPeriod"/>
              <a:tabLst>
                <a:tab pos="1343025" algn="l"/>
              </a:tabLst>
            </a:pPr>
            <a:r>
              <a:rPr lang="pt-BR" altLang="en-US" sz="2000" dirty="0">
                <a:latin typeface="+mn-lt"/>
              </a:rPr>
              <a:t>NOT (Complement)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75CD11-3D57-CD99-D865-9B23FE6E37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 altLang="en-US" sz="1800" dirty="0">
                <a:latin typeface="+mn-lt"/>
              </a:rPr>
              <a:t>OR (Union)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551A940-E826-87B8-92B3-E79600449981}"/>
                  </a:ext>
                </a:extLst>
              </p:cNvPr>
              <p:cNvSpPr>
                <a:spLocks noGrp="1"/>
              </p:cNvSpPr>
              <p:nvPr>
                <p:ph sz="quarter" idx="4"/>
              </p:nvPr>
            </p:nvSpPr>
            <p:spPr>
              <a:xfrm>
                <a:off x="6172200" y="2505074"/>
                <a:ext cx="5791199" cy="3209925"/>
              </a:xfr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82563" indent="-182563">
                  <a:lnSpc>
                    <a:spcPct val="80000"/>
                  </a:lnSpc>
                  <a:tabLst>
                    <a:tab pos="1343025" algn="l"/>
                  </a:tabLst>
                </a:pPr>
                <a:r>
                  <a:rPr lang="en-US" altLang="zh-CN" sz="2000" dirty="0">
                    <a:latin typeface="+mn-lt"/>
                  </a:rPr>
                  <a:t>Fuzzy union (</a:t>
                </a:r>
                <a14:m>
                  <m:oMath xmlns:m="http://schemas.openxmlformats.org/officeDocument/2006/math">
                    <m:r>
                      <a:rPr lang="en-US" altLang="zh-CN" sz="2000" dirty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∪</m:t>
                    </m:r>
                  </m:oMath>
                </a14:m>
                <a:r>
                  <a:rPr lang="en-US" altLang="zh-CN" sz="2000" dirty="0">
                    <a:latin typeface="+mn-lt"/>
                  </a:rPr>
                  <a:t>): union </a:t>
                </a:r>
                <a:r>
                  <a:rPr lang="en-US" altLang="zh-CN" sz="2000" dirty="0" err="1">
                    <a:latin typeface="+mn-lt"/>
                  </a:rPr>
                  <a:t>dari</a:t>
                </a:r>
                <a:r>
                  <a:rPr lang="en-US" altLang="zh-CN" sz="2000" dirty="0">
                    <a:latin typeface="+mn-lt"/>
                  </a:rPr>
                  <a:t> 2 </a:t>
                </a:r>
                <a:r>
                  <a:rPr lang="en-US" altLang="zh-CN" sz="2000" dirty="0" err="1">
                    <a:latin typeface="+mn-lt"/>
                  </a:rPr>
                  <a:t>himpunan</a:t>
                </a:r>
                <a:r>
                  <a:rPr lang="en-US" altLang="zh-CN" sz="2000" dirty="0">
                    <a:latin typeface="+mn-lt"/>
                  </a:rPr>
                  <a:t> </a:t>
                </a:r>
                <a:r>
                  <a:rPr lang="en-US" altLang="zh-CN" sz="2000" dirty="0" err="1">
                    <a:latin typeface="+mn-lt"/>
                  </a:rPr>
                  <a:t>adalah</a:t>
                </a:r>
                <a:r>
                  <a:rPr lang="en-US" altLang="zh-CN" sz="2000" dirty="0">
                    <a:latin typeface="+mn-lt"/>
                  </a:rPr>
                  <a:t> </a:t>
                </a:r>
                <a:r>
                  <a:rPr lang="en-US" altLang="zh-CN" sz="2000" b="1" dirty="0" err="1">
                    <a:latin typeface="+mn-lt"/>
                  </a:rPr>
                  <a:t>maksimum</a:t>
                </a:r>
                <a:r>
                  <a:rPr lang="en-US" altLang="zh-CN" sz="2000" b="1" dirty="0">
                    <a:latin typeface="+mn-lt"/>
                  </a:rPr>
                  <a:t> </a:t>
                </a:r>
                <a:r>
                  <a:rPr lang="en-US" altLang="zh-CN" sz="2000" dirty="0" err="1">
                    <a:latin typeface="+mn-lt"/>
                  </a:rPr>
                  <a:t>dari</a:t>
                </a:r>
                <a:r>
                  <a:rPr lang="en-US" altLang="zh-CN" sz="2000" dirty="0">
                    <a:latin typeface="+mn-lt"/>
                  </a:rPr>
                  <a:t> </a:t>
                </a:r>
                <a:r>
                  <a:rPr lang="en-US" altLang="zh-CN" sz="2000" dirty="0" err="1">
                    <a:latin typeface="+mn-lt"/>
                  </a:rPr>
                  <a:t>tiap</a:t>
                </a:r>
                <a:r>
                  <a:rPr lang="en-US" altLang="zh-CN" sz="2000" dirty="0">
                    <a:latin typeface="+mn-lt"/>
                  </a:rPr>
                  <a:t> pasang </a:t>
                </a:r>
                <a:r>
                  <a:rPr lang="en-US" altLang="zh-CN" sz="2000" dirty="0" err="1">
                    <a:latin typeface="+mn-lt"/>
                  </a:rPr>
                  <a:t>elemen</a:t>
                </a:r>
                <a:r>
                  <a:rPr lang="en-US" altLang="zh-CN" sz="2000" dirty="0">
                    <a:latin typeface="+mn-lt"/>
                  </a:rPr>
                  <a:t> element pada </a:t>
                </a:r>
                <a:r>
                  <a:rPr lang="en-US" altLang="zh-CN" sz="2000" dirty="0" err="1">
                    <a:latin typeface="+mn-lt"/>
                  </a:rPr>
                  <a:t>kedua</a:t>
                </a:r>
                <a:r>
                  <a:rPr lang="en-US" altLang="zh-CN" sz="2000" dirty="0">
                    <a:latin typeface="+mn-lt"/>
                  </a:rPr>
                  <a:t> </a:t>
                </a:r>
                <a:r>
                  <a:rPr lang="en-US" altLang="zh-CN" sz="2000" dirty="0" err="1">
                    <a:latin typeface="+mn-lt"/>
                  </a:rPr>
                  <a:t>himpunan</a:t>
                </a:r>
                <a:endParaRPr lang="en-US" altLang="zh-CN" sz="2000" dirty="0">
                  <a:latin typeface="+mn-lt"/>
                </a:endParaRPr>
              </a:p>
              <a:p>
                <a:pPr marL="182563" indent="-182563">
                  <a:lnSpc>
                    <a:spcPct val="80000"/>
                  </a:lnSpc>
                  <a:tabLst>
                    <a:tab pos="1343025" algn="l"/>
                  </a:tabLst>
                </a:pPr>
                <a:endParaRPr lang="en-US" altLang="zh-CN" sz="2000" dirty="0">
                  <a:latin typeface="+mn-lt"/>
                </a:endParaRPr>
              </a:p>
              <a:p>
                <a:pPr marL="0" indent="0">
                  <a:lnSpc>
                    <a:spcPct val="80000"/>
                  </a:lnSpc>
                  <a:buNone/>
                  <a:tabLst>
                    <a:tab pos="1343025" algn="l"/>
                  </a:tabLst>
                </a:pPr>
                <a:r>
                  <a:rPr lang="en-US" altLang="zh-CN" sz="2000" dirty="0" err="1">
                    <a:latin typeface="+mn-lt"/>
                  </a:rPr>
                  <a:t>Misalkan</a:t>
                </a:r>
                <a:endParaRPr lang="en-US" altLang="zh-CN" sz="2000" dirty="0">
                  <a:latin typeface="+mn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800" i="1" dirty="0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zh-CN" sz="1800" b="0" i="1" dirty="0" smtClean="0">
                              <a:latin typeface="Cambria Math" panose="02040503050406030204" pitchFamily="18" charset="0"/>
                            </a:rPr>
                            <m:t>𝑈𝑆𝐼𝐴𝑀𝑈𝐷𝐴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CN" sz="18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800" b="0" i="1" dirty="0" smtClean="0">
                              <a:latin typeface="Cambria Math" panose="02040503050406030204" pitchFamily="18" charset="0"/>
                            </a:rPr>
                            <m:t>27</m:t>
                          </m:r>
                        </m:e>
                      </m:d>
                      <m:r>
                        <a:rPr lang="en-US" altLang="zh-CN" sz="1800" b="0" i="1" dirty="0" smtClean="0">
                          <a:latin typeface="Cambria Math" panose="02040503050406030204" pitchFamily="18" charset="0"/>
                        </a:rPr>
                        <m:t>=0.6</m:t>
                      </m:r>
                    </m:oMath>
                  </m:oMathPara>
                </a14:m>
                <a:endParaRPr lang="en-US" altLang="zh-CN" sz="18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800" i="1" dirty="0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zh-CN" sz="1800" b="0" i="1" dirty="0" smtClean="0">
                              <a:latin typeface="Cambria Math" panose="02040503050406030204" pitchFamily="18" charset="0"/>
                            </a:rPr>
                            <m:t>𝐺𝐴𝐽𝐼𝑇𝐼𝑁𝐺𝐺𝐼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CN" sz="18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sz="1800" b="0" i="1" dirty="0" smtClean="0">
                              <a:latin typeface="Cambria Math" panose="02040503050406030204" pitchFamily="18" charset="0"/>
                            </a:rPr>
                            <m:t>𝑗𝑢𝑡𝑎</m:t>
                          </m:r>
                        </m:e>
                      </m:d>
                      <m:r>
                        <a:rPr lang="en-US" altLang="zh-CN" sz="1800" b="0" i="1" dirty="0" smtClean="0">
                          <a:latin typeface="Cambria Math" panose="02040503050406030204" pitchFamily="18" charset="0"/>
                        </a:rPr>
                        <m:t>=0.8</m:t>
                      </m:r>
                    </m:oMath>
                  </m:oMathPara>
                </a14:m>
                <a:endParaRPr lang="en-US" altLang="zh-CN" sz="1800" dirty="0">
                  <a:latin typeface="+mn-lt"/>
                </a:endParaRPr>
              </a:p>
              <a:p>
                <a:pPr marL="0" indent="0">
                  <a:buNone/>
                </a:pPr>
                <a:endParaRPr lang="en-US" altLang="zh-CN" sz="1800" dirty="0">
                  <a:latin typeface="+mn-lt"/>
                </a:endParaRPr>
              </a:p>
              <a:p>
                <a:pPr marL="0" indent="0">
                  <a:buNone/>
                </a:pPr>
                <a:r>
                  <a:rPr lang="en-US" altLang="en-US" sz="1800" dirty="0">
                    <a:latin typeface="+mn-lt"/>
                    <a:sym typeface="Symbol" panose="05050102010706020507" pitchFamily="18" charset="2"/>
                  </a:rPr>
                  <a:t> </a:t>
                </a:r>
                <a:r>
                  <a:rPr lang="en-US" altLang="zh-CN" sz="1800" dirty="0">
                    <a:latin typeface="+mn-lt"/>
                  </a:rPr>
                  <a:t>-</a:t>
                </a:r>
                <a:r>
                  <a:rPr lang="en-US" altLang="zh-CN" sz="1800" dirty="0" err="1">
                    <a:latin typeface="+mn-lt"/>
                  </a:rPr>
                  <a:t>predikat</a:t>
                </a:r>
                <a:r>
                  <a:rPr lang="en-US" altLang="zh-CN" sz="1800" dirty="0">
                    <a:latin typeface="+mn-lt"/>
                  </a:rPr>
                  <a:t> </a:t>
                </a:r>
                <a:r>
                  <a:rPr lang="en-US" altLang="zh-CN" sz="1800" dirty="0" err="1">
                    <a:latin typeface="+mn-lt"/>
                  </a:rPr>
                  <a:t>untuk</a:t>
                </a:r>
                <a:r>
                  <a:rPr lang="en-US" altLang="zh-CN" sz="1800" dirty="0">
                    <a:latin typeface="+mn-lt"/>
                  </a:rPr>
                  <a:t> </a:t>
                </a:r>
                <a:r>
                  <a:rPr lang="en-US" altLang="zh-CN" sz="1800" dirty="0" err="1">
                    <a:latin typeface="+mn-lt"/>
                  </a:rPr>
                  <a:t>usia</a:t>
                </a:r>
                <a:r>
                  <a:rPr lang="en-US" altLang="zh-CN" sz="1800" dirty="0">
                    <a:latin typeface="+mn-lt"/>
                  </a:rPr>
                  <a:t> MUDA </a:t>
                </a:r>
                <a:r>
                  <a:rPr lang="en-US" altLang="zh-CN" sz="1800" dirty="0" err="1">
                    <a:latin typeface="+mn-lt"/>
                  </a:rPr>
                  <a:t>atau</a:t>
                </a:r>
                <a:r>
                  <a:rPr lang="en-US" altLang="zh-CN" sz="1800" dirty="0">
                    <a:latin typeface="+mn-lt"/>
                  </a:rPr>
                  <a:t> </a:t>
                </a:r>
                <a:r>
                  <a:rPr lang="en-US" altLang="zh-CN" sz="1800" dirty="0" err="1">
                    <a:latin typeface="+mn-lt"/>
                  </a:rPr>
                  <a:t>gaji</a:t>
                </a:r>
                <a:r>
                  <a:rPr lang="en-US" altLang="zh-CN" sz="1800" dirty="0">
                    <a:latin typeface="+mn-lt"/>
                  </a:rPr>
                  <a:t> TINGGI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800" i="1" dirty="0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zh-CN" sz="1800" b="0" i="1" dirty="0" smtClean="0">
                              <a:latin typeface="Cambria Math" panose="02040503050406030204" pitchFamily="18" charset="0"/>
                            </a:rPr>
                            <m:t>𝑈𝑆𝐼𝐴𝑀𝑈𝐷𝐴</m:t>
                          </m:r>
                          <m:r>
                            <a:rPr lang="en-US" altLang="zh-CN" sz="1800" b="0" i="1" dirty="0" smtClean="0">
                              <a:latin typeface="Cambria Math" panose="02040503050406030204" pitchFamily="18" charset="0"/>
                            </a:rPr>
                            <m:t> ∪</m:t>
                          </m:r>
                          <m:r>
                            <a:rPr lang="en-US" altLang="zh-CN" sz="1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𝐺𝐴𝐽𝐼𝑇𝐼𝑁𝐺𝐺𝐼</m:t>
                          </m:r>
                        </m:sub>
                      </m:sSub>
                      <m:r>
                        <a:rPr lang="en-US" altLang="zh-CN" sz="1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1800" b="0" i="0" dirty="0" smtClean="0"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altLang="zh-CN" sz="1800" b="0" i="1" dirty="0" smtClean="0">
                          <a:latin typeface="Cambria Math" panose="02040503050406030204" pitchFamily="18" charset="0"/>
                        </a:rPr>
                        <m:t>⁡{</m:t>
                      </m:r>
                      <m:sSub>
                        <m:sSubPr>
                          <m:ctrlPr>
                            <a:rPr lang="en-US" altLang="zh-CN" sz="1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800" i="1" dirty="0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zh-CN" sz="1800" b="0" i="1" dirty="0" smtClean="0">
                              <a:latin typeface="Cambria Math" panose="02040503050406030204" pitchFamily="18" charset="0"/>
                            </a:rPr>
                            <m:t>𝑈𝑆𝐼𝐴𝑀𝑈𝐷𝐴</m:t>
                          </m:r>
                        </m:sub>
                      </m:sSub>
                      <m:r>
                        <a:rPr lang="en-US" altLang="zh-CN" sz="1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800" i="1" dirty="0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zh-CN" sz="1800" b="0" i="1" dirty="0" smtClean="0">
                              <a:latin typeface="Cambria Math" panose="02040503050406030204" pitchFamily="18" charset="0"/>
                            </a:rPr>
                            <m:t>𝐺𝐴𝐽𝐼𝑇𝐼𝑁𝐺𝐺𝐼</m:t>
                          </m:r>
                        </m:sub>
                      </m:sSub>
                      <m:r>
                        <a:rPr lang="en-US" altLang="zh-CN" sz="1800" b="0" i="1" dirty="0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1800" dirty="0">
                  <a:latin typeface="+mn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800" i="1" dirty="0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zh-CN" sz="1800" b="0" i="1" dirty="0" smtClean="0">
                              <a:latin typeface="Cambria Math" panose="02040503050406030204" pitchFamily="18" charset="0"/>
                            </a:rPr>
                            <m:t>𝑈𝑆𝐼𝐴𝑀𝑈𝐷𝐴</m:t>
                          </m:r>
                          <m:r>
                            <a:rPr lang="en-US" altLang="zh-CN" sz="1800" b="0" i="1" dirty="0" smtClean="0">
                              <a:latin typeface="Cambria Math" panose="02040503050406030204" pitchFamily="18" charset="0"/>
                            </a:rPr>
                            <m:t> ∪</m:t>
                          </m:r>
                          <m:r>
                            <a:rPr lang="en-US" altLang="zh-CN" sz="1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𝐺𝐴𝐽𝐼𝑇𝐼𝑁𝐺𝐺𝐼</m:t>
                          </m:r>
                        </m:sub>
                      </m:sSub>
                      <m:r>
                        <a:rPr lang="en-US" altLang="zh-CN" sz="1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sz="1800" b="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1800" b="0" i="0" dirty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altLang="zh-CN" sz="1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80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CN" sz="1800" b="0" i="1" dirty="0" smtClean="0">
                                  <a:latin typeface="Cambria Math" panose="02040503050406030204" pitchFamily="18" charset="0"/>
                                </a:rPr>
                                <m:t>.6,</m:t>
                              </m:r>
                              <m:r>
                                <a:rPr lang="en-US" altLang="zh-CN" sz="180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CN" sz="1800" b="0" i="1" dirty="0" smtClean="0">
                                  <a:latin typeface="Cambria Math" panose="02040503050406030204" pitchFamily="18" charset="0"/>
                                </a:rPr>
                                <m:t>.8</m:t>
                              </m:r>
                            </m:e>
                          </m:d>
                        </m:e>
                      </m:func>
                      <m:r>
                        <a:rPr lang="en-US" altLang="zh-CN" sz="1800" b="0" i="0" dirty="0" smtClean="0">
                          <a:latin typeface="Cambria Math" panose="02040503050406030204" pitchFamily="18" charset="0"/>
                        </a:rPr>
                        <m:t>=0.8</m:t>
                      </m:r>
                    </m:oMath>
                  </m:oMathPara>
                </a14:m>
                <a:endParaRPr lang="en-US" sz="1800" dirty="0">
                  <a:latin typeface="+mn-lt"/>
                </a:endParaRP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551A940-E826-87B8-92B3-E796004499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xfrm>
                <a:off x="6172200" y="2505074"/>
                <a:ext cx="5791199" cy="3209925"/>
              </a:xfrm>
              <a:blipFill>
                <a:blip r:embed="rId2"/>
                <a:stretch>
                  <a:fillRect l="-1052" t="-2652" b="-2273"/>
                </a:stretch>
              </a:blipFill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C9D98-D1AA-C3D5-019A-B6D7DD01CA69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sz="6600" dirty="0" err="1"/>
              <a:t>Operasi</a:t>
            </a:r>
            <a:r>
              <a:rPr lang="en-US" sz="6600" dirty="0"/>
              <a:t> </a:t>
            </a:r>
            <a:r>
              <a:rPr lang="en-US" sz="6600" dirty="0" err="1"/>
              <a:t>Himpunan</a:t>
            </a:r>
            <a:r>
              <a:rPr lang="en-US" sz="6600" dirty="0"/>
              <a:t> Fuzzy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FDE833-67B6-24F9-2178-57FF8B5067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altLang="en-US" sz="1800" dirty="0">
                <a:latin typeface="+mn-lt"/>
              </a:rPr>
              <a:t>AND (Intersection)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02B03B0-5975-966F-94C8-BB37B4CF1297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839789" y="2505075"/>
                <a:ext cx="5157787" cy="3362325"/>
              </a:xfr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82563" indent="-182563">
                  <a:lnSpc>
                    <a:spcPct val="80000"/>
                  </a:lnSpc>
                  <a:tabLst>
                    <a:tab pos="1343025" algn="l"/>
                  </a:tabLst>
                </a:pPr>
                <a:r>
                  <a:rPr lang="en-US" altLang="zh-CN" sz="1800" dirty="0">
                    <a:latin typeface="+mn-lt"/>
                  </a:rPr>
                  <a:t>Fuzzy intersection (</a:t>
                </a:r>
                <a14:m>
                  <m:oMath xmlns:m="http://schemas.openxmlformats.org/officeDocument/2006/math">
                    <m:r>
                      <a:rPr lang="en-US" altLang="zh-CN" sz="1800" dirty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∩</m:t>
                    </m:r>
                  </m:oMath>
                </a14:m>
                <a:r>
                  <a:rPr lang="en-US" altLang="zh-CN" sz="1800" dirty="0">
                    <a:latin typeface="+mn-lt"/>
                  </a:rPr>
                  <a:t>): </a:t>
                </a:r>
                <a:r>
                  <a:rPr lang="en-US" altLang="zh-CN" sz="1800" dirty="0" err="1">
                    <a:latin typeface="+mn-lt"/>
                  </a:rPr>
                  <a:t>irisan</a:t>
                </a:r>
                <a:r>
                  <a:rPr lang="en-US" altLang="zh-CN" sz="1800" dirty="0">
                    <a:latin typeface="+mn-lt"/>
                  </a:rPr>
                  <a:t> </a:t>
                </a:r>
                <a:r>
                  <a:rPr lang="en-US" altLang="zh-CN" sz="1800" dirty="0" err="1">
                    <a:latin typeface="+mn-lt"/>
                  </a:rPr>
                  <a:t>dari</a:t>
                </a:r>
                <a:r>
                  <a:rPr lang="en-US" altLang="zh-CN" sz="1800" dirty="0">
                    <a:latin typeface="+mn-lt"/>
                  </a:rPr>
                  <a:t> 2 </a:t>
                </a:r>
                <a:r>
                  <a:rPr lang="en-US" altLang="zh-CN" sz="1800" dirty="0" err="1">
                    <a:latin typeface="+mn-lt"/>
                  </a:rPr>
                  <a:t>himpunan</a:t>
                </a:r>
                <a:r>
                  <a:rPr lang="en-US" altLang="zh-CN" sz="1800" dirty="0">
                    <a:latin typeface="+mn-lt"/>
                  </a:rPr>
                  <a:t> fuzzy </a:t>
                </a:r>
                <a:r>
                  <a:rPr lang="en-US" altLang="zh-CN" sz="1800" dirty="0" err="1">
                    <a:latin typeface="+mn-lt"/>
                  </a:rPr>
                  <a:t>adalah</a:t>
                </a:r>
                <a:r>
                  <a:rPr lang="en-US" altLang="zh-CN" sz="1800" dirty="0">
                    <a:latin typeface="+mn-lt"/>
                  </a:rPr>
                  <a:t> minimum </a:t>
                </a:r>
                <a:r>
                  <a:rPr lang="en-US" altLang="zh-CN" sz="1800" dirty="0" err="1">
                    <a:latin typeface="+mn-lt"/>
                  </a:rPr>
                  <a:t>dari</a:t>
                </a:r>
                <a:r>
                  <a:rPr lang="en-US" altLang="zh-CN" sz="1800" dirty="0">
                    <a:latin typeface="+mn-lt"/>
                  </a:rPr>
                  <a:t> </a:t>
                </a:r>
                <a:r>
                  <a:rPr lang="en-US" altLang="zh-CN" sz="1800" dirty="0" err="1">
                    <a:latin typeface="+mn-lt"/>
                  </a:rPr>
                  <a:t>tiap</a:t>
                </a:r>
                <a:r>
                  <a:rPr lang="en-US" altLang="zh-CN" sz="1800" dirty="0">
                    <a:latin typeface="+mn-lt"/>
                  </a:rPr>
                  <a:t> pasang </a:t>
                </a:r>
                <a:r>
                  <a:rPr lang="en-US" altLang="zh-CN" sz="1800" dirty="0" err="1">
                    <a:latin typeface="+mn-lt"/>
                  </a:rPr>
                  <a:t>elemen</a:t>
                </a:r>
                <a:r>
                  <a:rPr lang="en-US" altLang="zh-CN" sz="1800" dirty="0">
                    <a:latin typeface="+mn-lt"/>
                  </a:rPr>
                  <a:t> pada </a:t>
                </a:r>
                <a:r>
                  <a:rPr lang="en-US" altLang="zh-CN" sz="1800" dirty="0" err="1">
                    <a:latin typeface="+mn-lt"/>
                  </a:rPr>
                  <a:t>kedua</a:t>
                </a:r>
                <a:r>
                  <a:rPr lang="en-US" altLang="zh-CN" sz="1800" dirty="0">
                    <a:latin typeface="+mn-lt"/>
                  </a:rPr>
                  <a:t> </a:t>
                </a:r>
                <a:r>
                  <a:rPr lang="en-US" altLang="zh-CN" sz="1800" dirty="0" err="1">
                    <a:latin typeface="+mn-lt"/>
                  </a:rPr>
                  <a:t>himpunan</a:t>
                </a:r>
                <a:r>
                  <a:rPr lang="en-US" altLang="zh-CN" sz="1800" dirty="0">
                    <a:latin typeface="+mn-lt"/>
                  </a:rPr>
                  <a:t>.</a:t>
                </a:r>
              </a:p>
              <a:p>
                <a:pPr marL="0" indent="0">
                  <a:lnSpc>
                    <a:spcPct val="80000"/>
                  </a:lnSpc>
                  <a:buNone/>
                  <a:tabLst>
                    <a:tab pos="1343025" algn="l"/>
                  </a:tabLst>
                </a:pPr>
                <a:endParaRPr lang="en-US" altLang="zh-CN" sz="1800" dirty="0">
                  <a:latin typeface="+mn-lt"/>
                </a:endParaRPr>
              </a:p>
              <a:p>
                <a:pPr marL="0" indent="0">
                  <a:lnSpc>
                    <a:spcPct val="80000"/>
                  </a:lnSpc>
                  <a:buNone/>
                  <a:tabLst>
                    <a:tab pos="1343025" algn="l"/>
                  </a:tabLst>
                </a:pPr>
                <a:r>
                  <a:rPr lang="en-US" altLang="zh-CN" sz="1800" dirty="0">
                    <a:latin typeface="+mn-lt"/>
                  </a:rPr>
                  <a:t>Misalkan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800" i="1" dirty="0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zh-CN" sz="1800" b="0" i="1" dirty="0" smtClean="0">
                              <a:latin typeface="Cambria Math" panose="02040503050406030204" pitchFamily="18" charset="0"/>
                            </a:rPr>
                            <m:t>𝑈𝑆𝐼𝐴𝑀𝑈𝐷𝐴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CN" sz="18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800" b="0" i="1" dirty="0" smtClean="0">
                              <a:latin typeface="Cambria Math" panose="02040503050406030204" pitchFamily="18" charset="0"/>
                            </a:rPr>
                            <m:t>27</m:t>
                          </m:r>
                        </m:e>
                      </m:d>
                      <m:r>
                        <a:rPr lang="en-US" altLang="zh-CN" sz="1800" b="0" i="1" dirty="0" smtClean="0">
                          <a:latin typeface="Cambria Math" panose="02040503050406030204" pitchFamily="18" charset="0"/>
                        </a:rPr>
                        <m:t>=0.6</m:t>
                      </m:r>
                    </m:oMath>
                  </m:oMathPara>
                </a14:m>
                <a:endParaRPr lang="en-US" altLang="zh-CN" sz="18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800" i="1" dirty="0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zh-CN" sz="1800" b="0" i="1" dirty="0" smtClean="0">
                              <a:latin typeface="Cambria Math" panose="02040503050406030204" pitchFamily="18" charset="0"/>
                            </a:rPr>
                            <m:t>𝐺𝐴𝐽𝐼𝑇𝐼𝑁𝐺𝐺𝐼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CN" sz="18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sz="1800" b="0" i="1" dirty="0" smtClean="0">
                              <a:latin typeface="Cambria Math" panose="02040503050406030204" pitchFamily="18" charset="0"/>
                            </a:rPr>
                            <m:t>𝑗𝑢𝑡𝑎</m:t>
                          </m:r>
                        </m:e>
                      </m:d>
                      <m:r>
                        <a:rPr lang="en-US" altLang="zh-CN" sz="1800" b="0" i="1" dirty="0" smtClean="0">
                          <a:latin typeface="Cambria Math" panose="02040503050406030204" pitchFamily="18" charset="0"/>
                        </a:rPr>
                        <m:t>=0.8</m:t>
                      </m:r>
                    </m:oMath>
                  </m:oMathPara>
                </a14:m>
                <a:endParaRPr lang="en-US" altLang="zh-CN" sz="1800" dirty="0">
                  <a:latin typeface="+mn-lt"/>
                </a:endParaRPr>
              </a:p>
              <a:p>
                <a:pPr marL="0" indent="0">
                  <a:buNone/>
                </a:pPr>
                <a:endParaRPr lang="en-US" altLang="zh-CN" sz="1800" dirty="0">
                  <a:latin typeface="+mn-lt"/>
                </a:endParaRPr>
              </a:p>
              <a:p>
                <a:pPr marL="0" indent="0">
                  <a:buNone/>
                </a:pPr>
                <a:r>
                  <a:rPr lang="en-US" altLang="en-US" sz="1800" dirty="0">
                    <a:latin typeface="+mn-lt"/>
                    <a:sym typeface="Symbol" panose="05050102010706020507" pitchFamily="18" charset="2"/>
                  </a:rPr>
                  <a:t> </a:t>
                </a:r>
                <a:r>
                  <a:rPr lang="en-US" altLang="zh-CN" sz="1800" dirty="0">
                    <a:latin typeface="+mn-lt"/>
                  </a:rPr>
                  <a:t>-</a:t>
                </a:r>
                <a:r>
                  <a:rPr lang="en-US" altLang="zh-CN" sz="1800" dirty="0" err="1">
                    <a:latin typeface="+mn-lt"/>
                  </a:rPr>
                  <a:t>predikat</a:t>
                </a:r>
                <a:r>
                  <a:rPr lang="en-US" altLang="zh-CN" sz="1800" dirty="0">
                    <a:latin typeface="+mn-lt"/>
                  </a:rPr>
                  <a:t> </a:t>
                </a:r>
                <a:r>
                  <a:rPr lang="en-US" altLang="zh-CN" sz="1800" dirty="0" err="1">
                    <a:latin typeface="+mn-lt"/>
                  </a:rPr>
                  <a:t>untuk</a:t>
                </a:r>
                <a:r>
                  <a:rPr lang="en-US" altLang="zh-CN" sz="1800" dirty="0">
                    <a:latin typeface="+mn-lt"/>
                  </a:rPr>
                  <a:t> </a:t>
                </a:r>
                <a:r>
                  <a:rPr lang="en-US" altLang="zh-CN" sz="1800" dirty="0" err="1">
                    <a:latin typeface="+mn-lt"/>
                  </a:rPr>
                  <a:t>usia</a:t>
                </a:r>
                <a:r>
                  <a:rPr lang="en-US" altLang="zh-CN" sz="1800" dirty="0">
                    <a:latin typeface="+mn-lt"/>
                  </a:rPr>
                  <a:t> MUDA dan </a:t>
                </a:r>
                <a:r>
                  <a:rPr lang="en-US" altLang="zh-CN" sz="1800" dirty="0" err="1">
                    <a:latin typeface="+mn-lt"/>
                  </a:rPr>
                  <a:t>gaji</a:t>
                </a:r>
                <a:r>
                  <a:rPr lang="en-US" altLang="zh-CN" sz="1800" dirty="0">
                    <a:latin typeface="+mn-lt"/>
                  </a:rPr>
                  <a:t> TINGGI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600" i="1" dirty="0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𝑈𝑆𝐼𝐴𝑀𝑈𝐷𝐴</m:t>
                          </m:r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∩</m:t>
                          </m:r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𝐺𝐴𝐽𝐼𝑇𝐼𝑁𝐺𝐺𝐼</m:t>
                          </m:r>
                        </m:sub>
                      </m:sSub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1600" b="0" i="0" dirty="0" smtClean="0">
                          <a:latin typeface="Cambria Math" panose="02040503050406030204" pitchFamily="18" charset="0"/>
                        </a:rPr>
                        <m:t>min</m:t>
                      </m:r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</a:rPr>
                        <m:t>⁡{</m:t>
                      </m:r>
                      <m:sSub>
                        <m:sSubPr>
                          <m:ctrlPr>
                            <a:rPr lang="en-US" altLang="zh-CN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600" i="1" dirty="0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𝑈𝑆𝐼𝐴𝑀𝑈𝐷𝐴</m:t>
                          </m:r>
                        </m:sub>
                      </m:sSub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600" i="1" dirty="0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𝐺𝐴𝐽𝐼𝑇𝐼𝑁𝐺𝐺𝐼</m:t>
                          </m:r>
                        </m:sub>
                      </m:sSub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1800" dirty="0">
                  <a:latin typeface="+mn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600" i="1" dirty="0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𝑈𝑆𝐼𝐴𝑀𝑈𝐷𝐴</m:t>
                          </m:r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∩</m:t>
                          </m:r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𝐺𝐴𝐽𝐼𝑇𝐼𝑁𝐺𝐺𝐼</m:t>
                          </m:r>
                        </m:sub>
                      </m:sSub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1600" b="0" i="0" dirty="0" smtClean="0">
                              <a:latin typeface="Cambria Math" panose="02040503050406030204" pitchFamily="18" charset="0"/>
                            </a:rPr>
                            <m:t>mi</m:t>
                          </m:r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60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.6,</m:t>
                              </m:r>
                              <m:r>
                                <a:rPr lang="en-US" altLang="zh-CN" sz="160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.8</m:t>
                              </m:r>
                            </m:e>
                          </m:d>
                        </m:e>
                      </m:func>
                      <m:r>
                        <a:rPr lang="en-US" altLang="zh-CN" sz="1600" b="0" i="0" dirty="0" smtClean="0">
                          <a:latin typeface="Cambria Math" panose="02040503050406030204" pitchFamily="18" charset="0"/>
                        </a:rPr>
                        <m:t>=0.6</m:t>
                      </m:r>
                    </m:oMath>
                  </m:oMathPara>
                </a14:m>
                <a:endParaRPr lang="en-US" altLang="zh-CN" sz="1800" dirty="0">
                  <a:latin typeface="+mn-lt"/>
                </a:endParaRPr>
              </a:p>
              <a:p>
                <a:pPr marL="182563" indent="-182563">
                  <a:lnSpc>
                    <a:spcPct val="80000"/>
                  </a:lnSpc>
                  <a:tabLst>
                    <a:tab pos="1343025" algn="l"/>
                  </a:tabLst>
                </a:pPr>
                <a:endParaRPr lang="en-US" sz="1800" dirty="0">
                  <a:latin typeface="+mn-lt"/>
                </a:endParaRP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02B03B0-5975-966F-94C8-BB37B4CF12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839789" y="2505075"/>
                <a:ext cx="5157787" cy="3362325"/>
              </a:xfrm>
              <a:blipFill>
                <a:blip r:embed="rId2"/>
                <a:stretch>
                  <a:fillRect l="-943" t="-2347" r="-354"/>
                </a:stretch>
              </a:blipFill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8230AA-A94E-BDA1-4466-770318D39B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 altLang="en-US" sz="1800" dirty="0">
                <a:latin typeface="+mn-lt"/>
              </a:rPr>
              <a:t>NOT (Complement)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EC1C51BA-7B7D-763C-F8D1-7CCD6E2F9DD8}"/>
                  </a:ext>
                </a:extLst>
              </p:cNvPr>
              <p:cNvSpPr>
                <a:spLocks noGrp="1"/>
              </p:cNvSpPr>
              <p:nvPr>
                <p:ph sz="quarter" idx="4"/>
              </p:nvPr>
            </p:nvSpPr>
            <p:spPr>
              <a:xfrm>
                <a:off x="6172201" y="2505075"/>
                <a:ext cx="5183188" cy="3362325"/>
              </a:xfr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82563" indent="-182563">
                  <a:lnSpc>
                    <a:spcPct val="80000"/>
                  </a:lnSpc>
                  <a:tabLst>
                    <a:tab pos="1343025" algn="l"/>
                  </a:tabLst>
                </a:pPr>
                <a:r>
                  <a:rPr lang="en-US" altLang="zh-CN" sz="1800" dirty="0"/>
                  <a:t>Fuzzy </a:t>
                </a:r>
                <a:r>
                  <a:rPr lang="en-US" altLang="zh-CN" sz="1800" dirty="0" err="1"/>
                  <a:t>komplemen</a:t>
                </a:r>
                <a:r>
                  <a:rPr lang="en-US" altLang="zh-CN" sz="1800" dirty="0">
                    <a:sym typeface="Wingdings" charset="2"/>
                  </a:rPr>
                  <a:t> ( </a:t>
                </a:r>
                <a:r>
                  <a:rPr lang="en-US" altLang="zh-CN" sz="1800" dirty="0"/>
                  <a:t>_c</a:t>
                </a:r>
                <a:r>
                  <a:rPr lang="en-US" altLang="zh-CN" sz="1800" dirty="0">
                    <a:sym typeface="Wingdings" charset="2"/>
                  </a:rPr>
                  <a:t>):</a:t>
                </a:r>
                <a:r>
                  <a:rPr lang="en-US" altLang="zh-CN" sz="1800" dirty="0"/>
                  <a:t> </a:t>
                </a:r>
                <a:r>
                  <a:rPr lang="en-US" altLang="zh-CN" sz="1800" dirty="0" err="1"/>
                  <a:t>komplemen</a:t>
                </a:r>
                <a:r>
                  <a:rPr lang="en-US" altLang="zh-CN" sz="1800" dirty="0"/>
                  <a:t> </a:t>
                </a:r>
                <a:r>
                  <a:rPr lang="en-US" altLang="zh-CN" sz="1800" dirty="0" err="1"/>
                  <a:t>dari</a:t>
                </a:r>
                <a:r>
                  <a:rPr lang="en-US" altLang="zh-CN" sz="1800" dirty="0"/>
                  <a:t> </a:t>
                </a:r>
                <a:r>
                  <a:rPr lang="en-US" altLang="zh-CN" sz="1800" dirty="0" err="1"/>
                  <a:t>himpunan</a:t>
                </a:r>
                <a:r>
                  <a:rPr lang="en-US" altLang="zh-CN" sz="1800" dirty="0"/>
                  <a:t> fuzzy </a:t>
                </a:r>
                <a:r>
                  <a:rPr lang="en-US" altLang="zh-CN" sz="1800" dirty="0" err="1"/>
                  <a:t>terdisi</a:t>
                </a:r>
                <a:r>
                  <a:rPr lang="en-US" altLang="zh-CN" sz="1800" dirty="0"/>
                  <a:t> </a:t>
                </a:r>
                <a:r>
                  <a:rPr lang="en-US" altLang="zh-CN" sz="1800" dirty="0" err="1"/>
                  <a:t>dari</a:t>
                </a:r>
                <a:r>
                  <a:rPr lang="en-US" altLang="zh-CN" sz="1800" dirty="0"/>
                  <a:t> </a:t>
                </a:r>
                <a:r>
                  <a:rPr lang="en-US" altLang="zh-CN" sz="1800" dirty="0" err="1"/>
                  <a:t>semua</a:t>
                </a:r>
                <a:r>
                  <a:rPr lang="en-US" altLang="zh-CN" sz="1800" dirty="0"/>
                  <a:t> </a:t>
                </a:r>
                <a:r>
                  <a:rPr lang="en-US" altLang="zh-CN" sz="1800" dirty="0" err="1"/>
                  <a:t>komplemen</a:t>
                </a:r>
                <a:r>
                  <a:rPr lang="en-US" altLang="zh-CN" sz="1800" dirty="0"/>
                  <a:t> </a:t>
                </a:r>
                <a:r>
                  <a:rPr lang="en-US" altLang="zh-CN" sz="1800" dirty="0" err="1"/>
                  <a:t>elemen</a:t>
                </a:r>
                <a:r>
                  <a:rPr lang="en-US" altLang="zh-CN" sz="1800" dirty="0"/>
                  <a:t>.</a:t>
                </a:r>
              </a:p>
              <a:p>
                <a:pPr marL="182563" indent="-182563">
                  <a:lnSpc>
                    <a:spcPct val="80000"/>
                  </a:lnSpc>
                  <a:tabLst>
                    <a:tab pos="1343025" algn="l"/>
                  </a:tabLst>
                </a:pPr>
                <a:r>
                  <a:rPr lang="en-US" altLang="zh-CN" sz="1800" dirty="0" err="1">
                    <a:latin typeface="+mn-lt"/>
                  </a:rPr>
                  <a:t>Komplemen</a:t>
                </a:r>
                <a:r>
                  <a:rPr lang="en-US" altLang="zh-CN" sz="1800" dirty="0">
                    <a:latin typeface="+mn-lt"/>
                  </a:rPr>
                  <a:t> </a:t>
                </a:r>
                <a:r>
                  <a:rPr lang="en-US" altLang="zh-CN" sz="1800" dirty="0" err="1">
                    <a:latin typeface="+mn-lt"/>
                  </a:rPr>
                  <a:t>dari</a:t>
                </a:r>
                <a:r>
                  <a:rPr lang="en-US" altLang="zh-CN" sz="1800" dirty="0">
                    <a:latin typeface="+mn-lt"/>
                  </a:rPr>
                  <a:t> </a:t>
                </a:r>
                <a:r>
                  <a:rPr lang="en-US" altLang="zh-CN" sz="1800" dirty="0" err="1">
                    <a:latin typeface="+mn-lt"/>
                  </a:rPr>
                  <a:t>variabel</a:t>
                </a:r>
                <a:r>
                  <a:rPr lang="en-US" altLang="zh-CN" sz="1800" dirty="0">
                    <a:latin typeface="+mn-lt"/>
                  </a:rPr>
                  <a:t> fuzzy </a:t>
                </a:r>
                <a:r>
                  <a:rPr lang="en-US" altLang="zh-CN" sz="1800" dirty="0" err="1">
                    <a:latin typeface="+mn-lt"/>
                  </a:rPr>
                  <a:t>dengan</a:t>
                </a:r>
                <a:r>
                  <a:rPr lang="en-US" altLang="zh-CN" sz="1800" dirty="0">
                    <a:latin typeface="+mn-lt"/>
                  </a:rPr>
                  <a:t> </a:t>
                </a:r>
                <a:r>
                  <a:rPr lang="en-US" altLang="zh-CN" sz="1800" dirty="0" err="1">
                    <a:latin typeface="+mn-lt"/>
                  </a:rPr>
                  <a:t>derajat</a:t>
                </a:r>
                <a:r>
                  <a:rPr lang="en-US" altLang="zh-CN" sz="1800" dirty="0">
                    <a:latin typeface="+mn-lt"/>
                  </a:rPr>
                  <a:t> </a:t>
                </a:r>
                <a:r>
                  <a:rPr lang="en-US" altLang="zh-CN" sz="1800" dirty="0" err="1">
                    <a:latin typeface="+mn-lt"/>
                  </a:rPr>
                  <a:t>keanggotaan</a:t>
                </a:r>
                <a:r>
                  <a:rPr lang="en-US" altLang="zh-CN" sz="1800" dirty="0">
                    <a:latin typeface="+mn-lt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800" i="1" dirty="0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zh-CN" sz="18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altLang="zh-CN" sz="1800" dirty="0">
                    <a:latin typeface="+mn-lt"/>
                  </a:rPr>
                  <a:t> </a:t>
                </a:r>
                <a:r>
                  <a:rPr lang="en-US" altLang="zh-CN" sz="1800" dirty="0" err="1">
                    <a:latin typeface="+mn-lt"/>
                  </a:rPr>
                  <a:t>adalah</a:t>
                </a:r>
                <a:r>
                  <a:rPr lang="en-US" altLang="zh-CN" sz="1800" dirty="0">
                    <a:latin typeface="+mn-lt"/>
                  </a:rPr>
                  <a:t> (1-</a:t>
                </a:r>
                <a:r>
                  <a:rPr lang="en-US" altLang="zh-CN" sz="1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800" i="1" dirty="0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zh-CN" sz="18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altLang="zh-CN" sz="1800" dirty="0"/>
                  <a:t> </a:t>
                </a:r>
                <a:r>
                  <a:rPr lang="en-US" altLang="zh-CN" sz="1800" dirty="0">
                    <a:latin typeface="+mn-lt"/>
                  </a:rPr>
                  <a:t>).</a:t>
                </a:r>
              </a:p>
              <a:p>
                <a:pPr marL="0" indent="0">
                  <a:lnSpc>
                    <a:spcPct val="80000"/>
                  </a:lnSpc>
                  <a:buNone/>
                  <a:tabLst>
                    <a:tab pos="1343025" algn="l"/>
                  </a:tabLst>
                </a:pPr>
                <a:endParaRPr lang="en-US" altLang="zh-CN" sz="1800" dirty="0">
                  <a:latin typeface="+mn-lt"/>
                </a:endParaRPr>
              </a:p>
              <a:p>
                <a:pPr marL="0" indent="0">
                  <a:lnSpc>
                    <a:spcPct val="80000"/>
                  </a:lnSpc>
                  <a:buNone/>
                  <a:tabLst>
                    <a:tab pos="1343025" algn="l"/>
                  </a:tabLst>
                </a:pPr>
                <a:r>
                  <a:rPr lang="en-US" altLang="zh-CN" sz="1800" dirty="0" err="1">
                    <a:latin typeface="+mn-lt"/>
                  </a:rPr>
                  <a:t>Misalkan</a:t>
                </a:r>
                <a:endParaRPr lang="en-US" altLang="zh-CN" sz="1800" dirty="0">
                  <a:latin typeface="+mn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800" i="1" dirty="0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zh-CN" sz="1800" b="0" i="1" dirty="0" smtClean="0">
                              <a:latin typeface="Cambria Math" panose="02040503050406030204" pitchFamily="18" charset="0"/>
                            </a:rPr>
                            <m:t>𝑈𝑆𝐼𝐴𝑀𝑈𝐷𝐴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CN" sz="18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800" b="0" i="1" dirty="0" smtClean="0">
                              <a:latin typeface="Cambria Math" panose="02040503050406030204" pitchFamily="18" charset="0"/>
                            </a:rPr>
                            <m:t>27</m:t>
                          </m:r>
                        </m:e>
                      </m:d>
                      <m:r>
                        <a:rPr lang="en-US" altLang="zh-CN" sz="1800" b="0" i="1" dirty="0" smtClean="0">
                          <a:latin typeface="Cambria Math" panose="02040503050406030204" pitchFamily="18" charset="0"/>
                        </a:rPr>
                        <m:t>=0.6</m:t>
                      </m:r>
                    </m:oMath>
                  </m:oMathPara>
                </a14:m>
                <a:endParaRPr lang="en-US" altLang="zh-CN" sz="180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80000"/>
                  </a:lnSpc>
                  <a:buNone/>
                  <a:tabLst>
                    <a:tab pos="1343025" algn="l"/>
                  </a:tabLst>
                </a:pPr>
                <a:endParaRPr lang="sv-SE" altLang="zh-CN" sz="1800" dirty="0"/>
              </a:p>
              <a:p>
                <a:pPr marL="0" indent="0">
                  <a:lnSpc>
                    <a:spcPct val="80000"/>
                  </a:lnSpc>
                  <a:buNone/>
                  <a:tabLst>
                    <a:tab pos="1343025" algn="l"/>
                  </a:tabLst>
                </a:pPr>
                <a:r>
                  <a:rPr lang="en-US" altLang="zh-CN" sz="1800" dirty="0">
                    <a:sym typeface="Symbol" pitchFamily="18" charset="2"/>
                  </a:rPr>
                  <a:t> </a:t>
                </a:r>
                <a:r>
                  <a:rPr lang="sv-SE" altLang="zh-CN" sz="1800" dirty="0"/>
                  <a:t>-predikat untuk usia TIDAK MUDA adalah :</a:t>
                </a:r>
              </a:p>
              <a:p>
                <a:pPr marL="0" indent="0">
                  <a:lnSpc>
                    <a:spcPct val="80000"/>
                  </a:lnSpc>
                  <a:buNone/>
                  <a:tabLst>
                    <a:tab pos="1343025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800" i="1" dirty="0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sSup>
                            <m:sSupPr>
                              <m:ctrlPr>
                                <a:rPr lang="en-US" altLang="zh-CN" sz="18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800" b="0" i="1" dirty="0" smtClean="0">
                                  <a:latin typeface="Cambria Math" panose="02040503050406030204" pitchFamily="18" charset="0"/>
                                </a:rPr>
                                <m:t>𝑈𝑆𝐼𝐴𝑀𝑈𝐷𝐴</m:t>
                              </m:r>
                            </m:e>
                            <m:sup>
                              <m:r>
                                <a:rPr lang="en-US" altLang="zh-CN" sz="1800" b="0" i="1" dirty="0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p>
                          </m:sSup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CN" sz="18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800" b="0" i="1" dirty="0" smtClean="0">
                              <a:latin typeface="Cambria Math" panose="02040503050406030204" pitchFamily="18" charset="0"/>
                            </a:rPr>
                            <m:t>27</m:t>
                          </m:r>
                        </m:e>
                      </m:d>
                      <m:r>
                        <a:rPr lang="en-US" altLang="zh-CN" sz="1800" b="0" i="1" dirty="0" smtClean="0">
                          <a:latin typeface="Cambria Math" panose="02040503050406030204" pitchFamily="18" charset="0"/>
                        </a:rPr>
                        <m:t>=1−</m:t>
                      </m:r>
                      <m:sSub>
                        <m:sSubPr>
                          <m:ctrlPr>
                            <a:rPr lang="en-US" altLang="zh-CN" sz="1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800" i="1" dirty="0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zh-CN" sz="1800" b="0" i="1" dirty="0" smtClean="0">
                              <a:latin typeface="Cambria Math" panose="02040503050406030204" pitchFamily="18" charset="0"/>
                            </a:rPr>
                            <m:t>𝑈𝑆𝐼𝐴𝑀𝑈𝐷𝐴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CN" sz="18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800" b="0" i="1" dirty="0" smtClean="0">
                              <a:latin typeface="Cambria Math" panose="02040503050406030204" pitchFamily="18" charset="0"/>
                            </a:rPr>
                            <m:t>27</m:t>
                          </m:r>
                        </m:e>
                      </m:d>
                    </m:oMath>
                  </m:oMathPara>
                </a14:m>
                <a:endParaRPr lang="en-US" altLang="zh-CN" sz="180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80000"/>
                  </a:lnSpc>
                  <a:buNone/>
                  <a:tabLst>
                    <a:tab pos="1343025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800" i="1" dirty="0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sSup>
                            <m:sSupPr>
                              <m:ctrlPr>
                                <a:rPr lang="en-US" altLang="zh-CN" sz="18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800" b="0" i="1" dirty="0" smtClean="0">
                                  <a:latin typeface="Cambria Math" panose="02040503050406030204" pitchFamily="18" charset="0"/>
                                </a:rPr>
                                <m:t>𝑈𝑆𝐼𝐴𝑀𝑈𝐷𝐴</m:t>
                              </m:r>
                            </m:e>
                            <m:sup>
                              <m:r>
                                <a:rPr lang="en-US" altLang="zh-CN" sz="1800" b="0" i="1" dirty="0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p>
                          </m:sSup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CN" sz="18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800" b="0" i="1" dirty="0" smtClean="0">
                              <a:latin typeface="Cambria Math" panose="02040503050406030204" pitchFamily="18" charset="0"/>
                            </a:rPr>
                            <m:t>27</m:t>
                          </m:r>
                        </m:e>
                      </m:d>
                      <m:r>
                        <a:rPr lang="en-US" altLang="zh-CN" sz="1800" b="0" i="1" dirty="0" smtClean="0">
                          <a:latin typeface="Cambria Math" panose="02040503050406030204" pitchFamily="18" charset="0"/>
                        </a:rPr>
                        <m:t>=1−</m:t>
                      </m:r>
                      <m:r>
                        <a:rPr lang="en-US" altLang="zh-CN" sz="1800" i="1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CN" sz="1800" b="0" i="1" dirty="0" smtClean="0">
                          <a:latin typeface="Cambria Math" panose="02040503050406030204" pitchFamily="18" charset="0"/>
                        </a:rPr>
                        <m:t>.6=0.4</m:t>
                      </m:r>
                    </m:oMath>
                  </m:oMathPara>
                </a14:m>
                <a:endParaRPr lang="en-US" sz="1800" dirty="0">
                  <a:latin typeface="+mn-lt"/>
                </a:endParaRPr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EC1C51BA-7B7D-763C-F8D1-7CCD6E2F9D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xfrm>
                <a:off x="6172201" y="2505075"/>
                <a:ext cx="5183188" cy="3362325"/>
              </a:xfrm>
              <a:blipFill>
                <a:blip r:embed="rId3"/>
                <a:stretch>
                  <a:fillRect l="-939" t="-2347"/>
                </a:stretch>
              </a:blipFill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709460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80" name="Title 1">
            <a:extLst>
              <a:ext uri="{FF2B5EF4-FFF2-40B4-BE49-F238E27FC236}">
                <a16:creationId xmlns:a16="http://schemas.microsoft.com/office/drawing/2014/main" id="{7E15AD95-4F46-4897-1B97-5D2BA9F462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fi-FI" altLang="en-US" sz="6600"/>
              <a:t>Operasi Himpunan Fuzzy</a:t>
            </a:r>
            <a:r>
              <a:rPr lang="en-US" altLang="en-US" sz="6600"/>
              <a:t> 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57EE74D6-26D2-B3F4-08A3-0C5FBA155AF7}"/>
              </a:ext>
            </a:extLst>
          </p:cNvPr>
          <p:cNvSpPr txBox="1">
            <a:spLocks noChangeArrowheads="1"/>
          </p:cNvSpPr>
          <p:nvPr/>
        </p:nvSpPr>
        <p:spPr>
          <a:xfrm>
            <a:off x="1905000" y="914400"/>
            <a:ext cx="7772400" cy="4800600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Gadugi" panose="020B0502040204020203" pitchFamily="34" charset="0"/>
                <a:ea typeface="Gadugi" panose="020B0502040204020203" pitchFamily="34" charset="0"/>
                <a:cs typeface="Gadugi" panose="020B0502040204020203" pitchFamily="34" charset="0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Gadugi" panose="020B0502040204020203" pitchFamily="34" charset="0"/>
                <a:ea typeface="Gadugi" panose="020B0502040204020203" pitchFamily="34" charset="0"/>
                <a:cs typeface="Gadugi" panose="020B0502040204020203" pitchFamily="34" charset="0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Gadugi" panose="020B0502040204020203" pitchFamily="34" charset="0"/>
                <a:ea typeface="Gadugi" panose="020B0502040204020203" pitchFamily="34" charset="0"/>
                <a:cs typeface="Gadugi" panose="020B0502040204020203" pitchFamily="34" charset="0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Gadugi" panose="020B0502040204020203" pitchFamily="34" charset="0"/>
                <a:ea typeface="Gadugi" panose="020B0502040204020203" pitchFamily="34" charset="0"/>
                <a:cs typeface="Gadugi" panose="020B0502040204020203" pitchFamily="34" charset="0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Gadugi" panose="020B0502040204020203" pitchFamily="34" charset="0"/>
                <a:ea typeface="Gadugi" panose="020B0502040204020203" pitchFamily="34" charset="0"/>
                <a:cs typeface="Gadugi" panose="020B050204020402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US" altLang="en-US" dirty="0"/>
              <a:t> </a:t>
            </a:r>
          </a:p>
        </p:txBody>
      </p:sp>
      <p:pic>
        <p:nvPicPr>
          <p:cNvPr id="3" name="Picture 5" descr="C:\WINDOWS\Desktop\fuzzy\FLLL - Operations on Fuzzy Sets_files\fuzzy_fig3.1.gif">
            <a:extLst>
              <a:ext uri="{FF2B5EF4-FFF2-40B4-BE49-F238E27FC236}">
                <a16:creationId xmlns:a16="http://schemas.microsoft.com/office/drawing/2014/main" id="{5A1E28D3-9FFA-6672-5B02-15CE01C5A36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608" r="4779"/>
          <a:stretch/>
        </p:blipFill>
        <p:spPr bwMode="auto">
          <a:xfrm>
            <a:off x="1917700" y="1667668"/>
            <a:ext cx="3479800" cy="2046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6" descr="C:\WINDOWS\Desktop\fuzzy\FLLL - Operations on Fuzzy Sets_files\fuzzy_fig3.2.gif">
            <a:extLst>
              <a:ext uri="{FF2B5EF4-FFF2-40B4-BE49-F238E27FC236}">
                <a16:creationId xmlns:a16="http://schemas.microsoft.com/office/drawing/2014/main" id="{BAD988C3-FC89-C2C9-B968-52931513EEE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0788" r="5079"/>
          <a:stretch/>
        </p:blipFill>
        <p:spPr bwMode="auto">
          <a:xfrm>
            <a:off x="6139996" y="1645443"/>
            <a:ext cx="3733800" cy="2046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7" descr="C:\WINDOWS\Desktop\fuzzy\FLLL - Operations on Fuzzy Sets_files\fuzzy_fig3.3.gif">
            <a:extLst>
              <a:ext uri="{FF2B5EF4-FFF2-40B4-BE49-F238E27FC236}">
                <a16:creationId xmlns:a16="http://schemas.microsoft.com/office/drawing/2014/main" id="{6D4D1733-D485-1092-1903-BB585B7C78C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263" r="5263"/>
          <a:stretch/>
        </p:blipFill>
        <p:spPr bwMode="auto">
          <a:xfrm>
            <a:off x="420007" y="4064796"/>
            <a:ext cx="3309686" cy="18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8" descr="C:\WINDOWS\Desktop\fuzzy\FLLL - Operations on Fuzzy Sets_files\fuzzy_fig3.4.gif">
            <a:extLst>
              <a:ext uri="{FF2B5EF4-FFF2-40B4-BE49-F238E27FC236}">
                <a16:creationId xmlns:a16="http://schemas.microsoft.com/office/drawing/2014/main" id="{31FDEE9C-6894-6B0E-4920-10A42BC4ACB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046" r="5128"/>
          <a:stretch/>
        </p:blipFill>
        <p:spPr bwMode="auto">
          <a:xfrm>
            <a:off x="4484497" y="4064796"/>
            <a:ext cx="3204811" cy="18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9" descr="C:\WINDOWS\Desktop\fuzzy\FLLL - Operations on Fuzzy Sets_files\fuzzy_fig3.5.gif">
            <a:extLst>
              <a:ext uri="{FF2B5EF4-FFF2-40B4-BE49-F238E27FC236}">
                <a16:creationId xmlns:a16="http://schemas.microsoft.com/office/drawing/2014/main" id="{476C0D33-7141-8F49-B0C4-FC0CE6E2D50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" t="3463" r="-6090" b="-9317"/>
          <a:stretch/>
        </p:blipFill>
        <p:spPr bwMode="auto">
          <a:xfrm>
            <a:off x="8444113" y="4064796"/>
            <a:ext cx="3105635" cy="18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A9304F6-4596-ED75-7D16-866C4F5B3832}"/>
              </a:ext>
            </a:extLst>
          </p:cNvPr>
          <p:cNvSpPr txBox="1"/>
          <p:nvPr/>
        </p:nvSpPr>
        <p:spPr>
          <a:xfrm>
            <a:off x="5796586" y="5718733"/>
            <a:ext cx="15049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en-US" sz="1800" b="1" dirty="0">
                <a:latin typeface="+mn-lt"/>
              </a:rPr>
              <a:t>OR (Union)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46720E-BC40-073D-B719-920A4A8325BB}"/>
              </a:ext>
            </a:extLst>
          </p:cNvPr>
          <p:cNvSpPr txBox="1"/>
          <p:nvPr/>
        </p:nvSpPr>
        <p:spPr>
          <a:xfrm>
            <a:off x="1236117" y="5758934"/>
            <a:ext cx="2438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800" b="1">
                <a:latin typeface="+mn-lt"/>
              </a:defRPr>
            </a:lvl1pPr>
          </a:lstStyle>
          <a:p>
            <a:r>
              <a:rPr lang="pt-BR" altLang="en-US" dirty="0"/>
              <a:t>AND (Intersection)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7F5E33E-7EA9-8D70-4693-62FE665B4074}"/>
              </a:ext>
            </a:extLst>
          </p:cNvPr>
          <p:cNvSpPr txBox="1"/>
          <p:nvPr/>
        </p:nvSpPr>
        <p:spPr>
          <a:xfrm>
            <a:off x="9056474" y="5696507"/>
            <a:ext cx="24610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800" b="1">
                <a:latin typeface="+mn-lt"/>
              </a:defRPr>
            </a:lvl1pPr>
          </a:lstStyle>
          <a:p>
            <a:r>
              <a:rPr lang="pt-BR" altLang="en-US" dirty="0"/>
              <a:t>NOT (Complement)</a:t>
            </a:r>
          </a:p>
        </p:txBody>
      </p:sp>
    </p:spTree>
  </p:cSld>
  <p:clrMapOvr>
    <a:masterClrMapping/>
  </p:clrMapOvr>
  <p:transition spd="slow">
    <p:wip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4E35C91B-3EE3-C17D-BF84-E6113A60BF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sz="6600" dirty="0" err="1"/>
              <a:t>Penalaran</a:t>
            </a:r>
            <a:r>
              <a:rPr lang="en-US" altLang="en-US" sz="6600" dirty="0"/>
              <a:t> </a:t>
            </a:r>
            <a:r>
              <a:rPr lang="en-US" altLang="en-US" sz="6600" dirty="0" err="1"/>
              <a:t>Monoton</a:t>
            </a:r>
            <a:r>
              <a:rPr lang="en-US" altLang="en-US" sz="6600" dirty="0"/>
              <a:t> </a:t>
            </a:r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B99A155D-AD5E-AFAB-BD7B-48C6DBB52746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/>
        <p:txBody>
          <a:bodyPr rtlCol="0">
            <a:noAutofit/>
          </a:bodyPr>
          <a:lstStyle/>
          <a:p>
            <a:pPr marL="90488" indent="-90488" fontAlgn="auto">
              <a:lnSpc>
                <a:spcPct val="100000"/>
              </a:lnSpc>
              <a:defRPr/>
            </a:pP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Metode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penalaran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secara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monoton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digunakan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sebagai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dasar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untuk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en-US" altLang="en-US" sz="18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teknik</a:t>
            </a:r>
            <a:r>
              <a:rPr lang="en-US" alt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en-US" altLang="en-US" sz="18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implikasi</a:t>
            </a:r>
            <a:r>
              <a:rPr lang="en-US" alt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fuzzy.</a:t>
            </a:r>
          </a:p>
          <a:p>
            <a:pPr marL="90488" indent="-90488" fontAlgn="auto">
              <a:lnSpc>
                <a:spcPct val="100000"/>
              </a:lnSpc>
              <a:defRPr/>
            </a:pP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Sudah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jarang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digunakan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,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namun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kadang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masih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digunakan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untuk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penskalaan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fuzzy. </a:t>
            </a:r>
          </a:p>
          <a:p>
            <a:pPr marL="90488" indent="-90488" fontAlgn="auto">
              <a:lnSpc>
                <a:spcPct val="100000"/>
              </a:lnSpc>
              <a:defRPr/>
            </a:pP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Jika 2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variabel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fuzzy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direlasikan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dengan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implikasi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sederhana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sebagai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berikut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:</a:t>
            </a:r>
          </a:p>
          <a:p>
            <a:pPr marL="91440" indent="-91440" algn="ctr" fontAlgn="auto">
              <a:lnSpc>
                <a:spcPct val="100000"/>
              </a:lnSpc>
              <a:buNone/>
              <a:defRPr/>
            </a:pPr>
            <a:r>
              <a:rPr lang="en-US" altLang="en-US" sz="1800" dirty="0">
                <a:solidFill>
                  <a:srgbClr val="FF0000"/>
                </a:solidFill>
                <a:latin typeface="+mn-lt"/>
              </a:rPr>
              <a:t>IF X IS A THEN Y IS B</a:t>
            </a:r>
          </a:p>
          <a:p>
            <a:pPr marL="91440" indent="-91440" fontAlgn="auto">
              <a:lnSpc>
                <a:spcPct val="100000"/>
              </a:lnSpc>
              <a:buNone/>
              <a:defRPr/>
            </a:pP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	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atau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y=f((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x,A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),B)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dengan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x dan y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adalah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skalar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, A dan B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adalah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himpunan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fuzzy. </a:t>
            </a:r>
          </a:p>
          <a:p>
            <a:pPr marL="90488" indent="-90488" fontAlgn="auto">
              <a:lnSpc>
                <a:spcPct val="100000"/>
              </a:lnSpc>
              <a:defRPr/>
            </a:pP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Proposisi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yang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mengikuti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IF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disebut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en-US" altLang="en-US" sz="18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anteseden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,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sedangkan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proposisi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yang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mengikuti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THEN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disebut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en-US" altLang="en-US" sz="18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konsekuen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.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09B18F2-829A-AD4B-AEC5-4B19EA44E0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90488" indent="-90488" fontAlgn="auto">
              <a:lnSpc>
                <a:spcPct val="100000"/>
              </a:lnSpc>
            </a:pP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Sistem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fuzzy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dapat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berjalan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tanpa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harus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melalui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komposisi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dan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dekomposisi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fuzzy. </a:t>
            </a:r>
          </a:p>
          <a:p>
            <a:pPr marL="90488" indent="-90488" fontAlgn="auto">
              <a:lnSpc>
                <a:spcPct val="100000"/>
              </a:lnSpc>
            </a:pP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Nilai output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dapat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diestimasi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secara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langsung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dari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nilai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keanggotaan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yang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berhubungan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dengan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antesendennya</a:t>
            </a:r>
            <a:endParaRPr lang="en-US" altLang="en-US" sz="18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  <a:p>
            <a:pPr marL="90488" indent="-90488" fontAlgn="auto">
              <a:lnSpc>
                <a:spcPct val="100000"/>
              </a:lnSpc>
            </a:pP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Secara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umum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,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ada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dua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fungsi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implikasi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,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yaitu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:</a:t>
            </a:r>
          </a:p>
          <a:p>
            <a:pPr marL="342900" indent="-342900" fontAlgn="auto">
              <a:lnSpc>
                <a:spcPct val="100000"/>
              </a:lnSpc>
              <a:buFont typeface="+mj-lt"/>
              <a:buAutoNum type="arabicPeriod"/>
            </a:pPr>
            <a:r>
              <a:rPr lang="en-US" altLang="en-US" sz="1800" b="1" dirty="0">
                <a:solidFill>
                  <a:srgbClr val="FF0000"/>
                </a:solidFill>
                <a:latin typeface="+mn-lt"/>
              </a:rPr>
              <a:t>Min (minimum),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fungsi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ini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akan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memotong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output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himpunan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fuzzy</a:t>
            </a:r>
          </a:p>
          <a:p>
            <a:pPr marL="342900" indent="-342900" fontAlgn="auto">
              <a:lnSpc>
                <a:spcPct val="100000"/>
              </a:lnSpc>
              <a:buFont typeface="+mj-lt"/>
              <a:buAutoNum type="arabicPeriod"/>
            </a:pPr>
            <a:r>
              <a:rPr lang="en-US" altLang="en-US" sz="1800" b="1" dirty="0">
                <a:solidFill>
                  <a:srgbClr val="FF0000"/>
                </a:solidFill>
                <a:latin typeface="+mn-lt"/>
              </a:rPr>
              <a:t>Dot (product),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fungsi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ini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akan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menskala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output </a:t>
            </a:r>
            <a:r>
              <a:rPr lang="en-US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himpunan</a:t>
            </a: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fuzzy</a:t>
            </a:r>
          </a:p>
          <a:p>
            <a:pPr marL="90488" indent="-90488" fontAlgn="auto">
              <a:lnSpc>
                <a:spcPct val="100000"/>
              </a:lnSpc>
            </a:pPr>
            <a:endParaRPr lang="en-US" altLang="en-US" sz="18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301" name="Picture 22">
            <a:extLst>
              <a:ext uri="{FF2B5EF4-FFF2-40B4-BE49-F238E27FC236}">
                <a16:creationId xmlns:a16="http://schemas.microsoft.com/office/drawing/2014/main" id="{E291B279-1030-F062-B9B3-A31E5A0976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425" b="18919"/>
          <a:stretch>
            <a:fillRect/>
          </a:stretch>
        </p:blipFill>
        <p:spPr bwMode="auto">
          <a:xfrm>
            <a:off x="8077200" y="1690688"/>
            <a:ext cx="3498215" cy="20149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302" name="Title 1">
            <a:extLst>
              <a:ext uri="{FF2B5EF4-FFF2-40B4-BE49-F238E27FC236}">
                <a16:creationId xmlns:a16="http://schemas.microsoft.com/office/drawing/2014/main" id="{9CE9FFAA-651F-CED9-F963-C5496DF745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6600" dirty="0" err="1"/>
              <a:t>Penalaran</a:t>
            </a:r>
            <a:r>
              <a:rPr lang="en-US" altLang="en-US" sz="6600" dirty="0"/>
              <a:t> </a:t>
            </a:r>
            <a:r>
              <a:rPr lang="en-US" altLang="en-US" sz="6600" dirty="0" err="1"/>
              <a:t>Monoton</a:t>
            </a:r>
            <a:r>
              <a:rPr lang="en-US" altLang="en-US" sz="6600" dirty="0"/>
              <a:t> (</a:t>
            </a:r>
            <a:r>
              <a:rPr lang="en-US" altLang="en-US" sz="6600" dirty="0" err="1"/>
              <a:t>Implikasi</a:t>
            </a:r>
            <a:r>
              <a:rPr lang="en-US" altLang="en-US" sz="6600" dirty="0"/>
              <a:t>)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24A3BB2-C79C-3DEC-2C50-DA9946BA2E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6934200" cy="4351338"/>
          </a:xfrm>
        </p:spPr>
        <p:txBody>
          <a:bodyPr/>
          <a:lstStyle/>
          <a:p>
            <a:r>
              <a:rPr lang="fi-FI" altLang="en-US" sz="1800" dirty="0">
                <a:latin typeface="+mn-lt"/>
              </a:rPr>
              <a:t>Penalaran monoton digunakan untuk merelasikan himpunan fuzzy A pada variabel </a:t>
            </a:r>
            <a:r>
              <a:rPr lang="fi-FI" altLang="en-US" sz="1800" i="1" dirty="0">
                <a:latin typeface="+mn-lt"/>
              </a:rPr>
              <a:t>x </a:t>
            </a:r>
            <a:r>
              <a:rPr lang="fi-FI" altLang="en-US" sz="1800" dirty="0">
                <a:latin typeface="+mn-lt"/>
              </a:rPr>
              <a:t>dan himpunan fuzzy B pada variabel </a:t>
            </a:r>
            <a:r>
              <a:rPr lang="fi-FI" altLang="en-US" sz="1800" i="1" dirty="0">
                <a:latin typeface="+mn-lt"/>
              </a:rPr>
              <a:t>y</a:t>
            </a:r>
            <a:r>
              <a:rPr lang="fi-FI" altLang="en-US" sz="1800" dirty="0">
                <a:latin typeface="+mn-lt"/>
              </a:rPr>
              <a:t> dengan cara membuat implikasi berikut</a:t>
            </a:r>
            <a:endParaRPr lang="en-US" altLang="en-US" sz="1800" dirty="0">
              <a:latin typeface="+mn-lt"/>
            </a:endParaRPr>
          </a:p>
          <a:p>
            <a:pPr marL="0" indent="0" algn="ctr">
              <a:buNone/>
            </a:pPr>
            <a:r>
              <a:rPr lang="en-US" altLang="en-US" sz="1800" dirty="0">
                <a:solidFill>
                  <a:srgbClr val="FF3300"/>
                </a:solidFill>
                <a:latin typeface="+mn-lt"/>
              </a:rPr>
              <a:t>IF </a:t>
            </a:r>
            <a:r>
              <a:rPr lang="en-US" altLang="en-US" sz="1800" i="1" dirty="0">
                <a:solidFill>
                  <a:srgbClr val="FF3300"/>
                </a:solidFill>
                <a:latin typeface="+mn-lt"/>
              </a:rPr>
              <a:t>x</a:t>
            </a:r>
            <a:r>
              <a:rPr lang="en-US" altLang="en-US" sz="1800" dirty="0">
                <a:solidFill>
                  <a:srgbClr val="FF3300"/>
                </a:solidFill>
                <a:latin typeface="+mn-lt"/>
              </a:rPr>
              <a:t> is A THEN </a:t>
            </a:r>
            <a:r>
              <a:rPr lang="en-US" altLang="en-US" sz="1800" i="1" dirty="0">
                <a:solidFill>
                  <a:srgbClr val="FF3300"/>
                </a:solidFill>
                <a:latin typeface="+mn-lt"/>
              </a:rPr>
              <a:t>y </a:t>
            </a:r>
            <a:r>
              <a:rPr lang="en-US" altLang="en-US" sz="1800" dirty="0">
                <a:solidFill>
                  <a:srgbClr val="FF3300"/>
                </a:solidFill>
                <a:latin typeface="+mn-lt"/>
              </a:rPr>
              <a:t>is B</a:t>
            </a:r>
          </a:p>
          <a:p>
            <a:pPr marL="0" indent="0" eaLnBrk="1" hangingPunct="1">
              <a:spcBef>
                <a:spcPct val="50000"/>
              </a:spcBef>
              <a:buNone/>
            </a:pPr>
            <a:r>
              <a:rPr lang="en-US" altLang="en-US" sz="1800" b="1" dirty="0" err="1">
                <a:latin typeface="+mn-lt"/>
              </a:rPr>
              <a:t>Contoh</a:t>
            </a:r>
            <a:r>
              <a:rPr lang="en-US" altLang="en-US" sz="1800" b="1" dirty="0">
                <a:latin typeface="+mn-lt"/>
              </a:rPr>
              <a:t>: </a:t>
            </a:r>
            <a:r>
              <a:rPr lang="en-US" altLang="en-US" sz="1800" dirty="0" err="1">
                <a:latin typeface="+mn-lt"/>
              </a:rPr>
              <a:t>Diketahui</a:t>
            </a:r>
            <a:r>
              <a:rPr lang="en-US" altLang="en-US" sz="1800" dirty="0">
                <a:latin typeface="+mn-lt"/>
              </a:rPr>
              <a:t> dua </a:t>
            </a:r>
            <a:r>
              <a:rPr lang="en-US" altLang="en-US" sz="1800" dirty="0" err="1">
                <a:latin typeface="+mn-lt"/>
              </a:rPr>
              <a:t>himpunan</a:t>
            </a:r>
            <a:r>
              <a:rPr lang="en-US" altLang="en-US" sz="1800" dirty="0">
                <a:latin typeface="+mn-lt"/>
              </a:rPr>
              <a:t> fuzzy: TINGGI dan BERAT </a:t>
            </a:r>
            <a:r>
              <a:rPr lang="en-US" altLang="en-US" sz="1800" dirty="0" err="1">
                <a:latin typeface="+mn-lt"/>
              </a:rPr>
              <a:t>seperti</a:t>
            </a:r>
            <a:r>
              <a:rPr lang="en-US" altLang="en-US" sz="1800" dirty="0">
                <a:latin typeface="+mn-lt"/>
              </a:rPr>
              <a:t> </a:t>
            </a:r>
            <a:r>
              <a:rPr lang="en-US" altLang="en-US" sz="1800" dirty="0" err="1">
                <a:latin typeface="+mn-lt"/>
              </a:rPr>
              <a:t>terlihat</a:t>
            </a:r>
            <a:r>
              <a:rPr lang="en-US" altLang="en-US" sz="1800" dirty="0">
                <a:latin typeface="+mn-lt"/>
              </a:rPr>
              <a:t> pada Gambar. 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1800" dirty="0" err="1">
                <a:latin typeface="+mn-lt"/>
              </a:rPr>
              <a:t>Relasi</a:t>
            </a:r>
            <a:r>
              <a:rPr lang="en-US" altLang="en-US" sz="1800" dirty="0">
                <a:latin typeface="+mn-lt"/>
              </a:rPr>
              <a:t> </a:t>
            </a:r>
            <a:r>
              <a:rPr lang="en-US" altLang="en-US" sz="1800" dirty="0" err="1">
                <a:latin typeface="+mn-lt"/>
              </a:rPr>
              <a:t>antara</a:t>
            </a:r>
            <a:r>
              <a:rPr lang="en-US" altLang="en-US" sz="1800" dirty="0">
                <a:latin typeface="+mn-lt"/>
              </a:rPr>
              <a:t> </a:t>
            </a:r>
            <a:r>
              <a:rPr lang="en-US" altLang="en-US" sz="1800" dirty="0" err="1">
                <a:latin typeface="+mn-lt"/>
              </a:rPr>
              <a:t>kedua</a:t>
            </a:r>
            <a:r>
              <a:rPr lang="en-US" altLang="en-US" sz="1800" dirty="0">
                <a:latin typeface="+mn-lt"/>
              </a:rPr>
              <a:t> </a:t>
            </a:r>
            <a:r>
              <a:rPr lang="en-US" altLang="en-US" sz="1800" dirty="0" err="1">
                <a:latin typeface="+mn-lt"/>
              </a:rPr>
              <a:t>himpunan</a:t>
            </a:r>
            <a:r>
              <a:rPr lang="en-US" altLang="en-US" sz="1800" dirty="0">
                <a:latin typeface="+mn-lt"/>
              </a:rPr>
              <a:t> </a:t>
            </a:r>
            <a:r>
              <a:rPr lang="en-US" altLang="en-US" sz="1800" dirty="0" err="1">
                <a:latin typeface="+mn-lt"/>
              </a:rPr>
              <a:t>diatas</a:t>
            </a:r>
            <a:r>
              <a:rPr lang="en-US" altLang="en-US" sz="1800" dirty="0">
                <a:latin typeface="+mn-lt"/>
              </a:rPr>
              <a:t> </a:t>
            </a:r>
            <a:r>
              <a:rPr lang="en-US" altLang="en-US" sz="1800" dirty="0" err="1">
                <a:latin typeface="+mn-lt"/>
              </a:rPr>
              <a:t>diekspresikan</a:t>
            </a:r>
            <a:r>
              <a:rPr lang="en-US" altLang="en-US" sz="1800" dirty="0">
                <a:latin typeface="+mn-lt"/>
              </a:rPr>
              <a:t> </a:t>
            </a:r>
            <a:r>
              <a:rPr lang="en-US" altLang="en-US" sz="1800" dirty="0" err="1">
                <a:latin typeface="+mn-lt"/>
              </a:rPr>
              <a:t>dengan</a:t>
            </a:r>
            <a:r>
              <a:rPr lang="en-US" altLang="en-US" sz="1800" dirty="0">
                <a:latin typeface="+mn-lt"/>
              </a:rPr>
              <a:t> </a:t>
            </a:r>
            <a:r>
              <a:rPr lang="en-US" altLang="en-US" sz="1800" dirty="0" err="1">
                <a:latin typeface="+mn-lt"/>
              </a:rPr>
              <a:t>aturan</a:t>
            </a:r>
            <a:r>
              <a:rPr lang="en-US" altLang="en-US" sz="1800" dirty="0">
                <a:latin typeface="+mn-lt"/>
              </a:rPr>
              <a:t> </a:t>
            </a:r>
            <a:r>
              <a:rPr lang="en-US" altLang="en-US" sz="1800" dirty="0" err="1">
                <a:latin typeface="+mn-lt"/>
              </a:rPr>
              <a:t>tunggal</a:t>
            </a:r>
            <a:r>
              <a:rPr lang="en-US" altLang="en-US" sz="1800" dirty="0">
                <a:latin typeface="+mn-lt"/>
              </a:rPr>
              <a:t> </a:t>
            </a:r>
            <a:r>
              <a:rPr lang="en-US" altLang="en-US" sz="1800" dirty="0" err="1">
                <a:latin typeface="+mn-lt"/>
              </a:rPr>
              <a:t>berikut</a:t>
            </a:r>
            <a:r>
              <a:rPr lang="en-US" altLang="en-US" sz="1800" dirty="0">
                <a:latin typeface="+mn-lt"/>
              </a:rPr>
              <a:t>: </a:t>
            </a:r>
          </a:p>
          <a:p>
            <a:pPr marL="0" indent="0" algn="ctr" eaLnBrk="1" hangingPunct="1">
              <a:spcBef>
                <a:spcPct val="50000"/>
              </a:spcBef>
              <a:buNone/>
            </a:pPr>
            <a:r>
              <a:rPr lang="en-US" altLang="en-US" sz="1800" dirty="0">
                <a:solidFill>
                  <a:srgbClr val="FF3300"/>
                </a:solidFill>
                <a:latin typeface="+mn-lt"/>
              </a:rPr>
              <a:t>IF </a:t>
            </a:r>
            <a:r>
              <a:rPr lang="en-US" altLang="en-US" sz="1800" dirty="0" err="1">
                <a:solidFill>
                  <a:srgbClr val="FF3300"/>
                </a:solidFill>
                <a:latin typeface="+mn-lt"/>
              </a:rPr>
              <a:t>TinggiBadan</a:t>
            </a:r>
            <a:r>
              <a:rPr lang="en-US" altLang="en-US" sz="1800" dirty="0">
                <a:solidFill>
                  <a:srgbClr val="FF3300"/>
                </a:solidFill>
                <a:latin typeface="+mn-lt"/>
              </a:rPr>
              <a:t> is TINGGI THEN </a:t>
            </a:r>
            <a:r>
              <a:rPr lang="en-US" altLang="en-US" sz="1800" dirty="0" err="1">
                <a:solidFill>
                  <a:srgbClr val="FF3300"/>
                </a:solidFill>
                <a:latin typeface="+mn-lt"/>
              </a:rPr>
              <a:t>BeratBadan</a:t>
            </a:r>
            <a:r>
              <a:rPr lang="en-US" altLang="en-US" sz="1800" dirty="0">
                <a:solidFill>
                  <a:srgbClr val="FF3300"/>
                </a:solidFill>
                <a:latin typeface="+mn-lt"/>
              </a:rPr>
              <a:t> is BERAT IDEAL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1800" dirty="0">
                <a:latin typeface="+mn-lt"/>
              </a:rPr>
              <a:t>Jika </a:t>
            </a:r>
            <a:r>
              <a:rPr lang="en-US" altLang="en-US" sz="1800" dirty="0" err="1">
                <a:latin typeface="+mn-lt"/>
              </a:rPr>
              <a:t>Mawar</a:t>
            </a:r>
            <a:r>
              <a:rPr lang="en-US" altLang="en-US" sz="1800" dirty="0">
                <a:latin typeface="+mn-lt"/>
              </a:rPr>
              <a:t> </a:t>
            </a:r>
            <a:r>
              <a:rPr lang="en-US" altLang="en-US" sz="1800" dirty="0" err="1">
                <a:latin typeface="+mn-lt"/>
              </a:rPr>
              <a:t>mempunyai</a:t>
            </a:r>
            <a:r>
              <a:rPr lang="en-US" altLang="en-US" sz="1800" dirty="0">
                <a:latin typeface="+mn-lt"/>
              </a:rPr>
              <a:t> </a:t>
            </a:r>
            <a:r>
              <a:rPr lang="en-US" altLang="en-US" sz="1800" dirty="0" err="1">
                <a:latin typeface="+mn-lt"/>
              </a:rPr>
              <a:t>tinggi</a:t>
            </a:r>
            <a:r>
              <a:rPr lang="en-US" altLang="en-US" sz="1800" dirty="0">
                <a:latin typeface="+mn-lt"/>
              </a:rPr>
              <a:t> badan 168 cm </a:t>
            </a:r>
            <a:r>
              <a:rPr lang="en-US" altLang="en-US" sz="1800" dirty="0" err="1">
                <a:latin typeface="+mn-lt"/>
              </a:rPr>
              <a:t>dengan</a:t>
            </a:r>
            <a:r>
              <a:rPr lang="en-US" altLang="en-US" sz="1800" dirty="0">
                <a:latin typeface="+mn-lt"/>
              </a:rPr>
              <a:t> </a:t>
            </a:r>
            <a:r>
              <a:rPr lang="en-US" altLang="en-US" sz="1800" dirty="0" err="1">
                <a:latin typeface="+mn-lt"/>
              </a:rPr>
              <a:t>berat</a:t>
            </a:r>
            <a:r>
              <a:rPr lang="en-US" altLang="en-US" sz="1800" dirty="0">
                <a:latin typeface="+mn-lt"/>
              </a:rPr>
              <a:t> badan 55 kg, </a:t>
            </a:r>
            <a:r>
              <a:rPr lang="en-US" altLang="en-US" sz="1800" dirty="0" err="1">
                <a:latin typeface="+mn-lt"/>
              </a:rPr>
              <a:t>apakah</a:t>
            </a:r>
            <a:r>
              <a:rPr lang="en-US" altLang="en-US" sz="1800" dirty="0">
                <a:latin typeface="+mn-lt"/>
              </a:rPr>
              <a:t> </a:t>
            </a:r>
            <a:r>
              <a:rPr lang="en-US" altLang="en-US" sz="1800" dirty="0" err="1">
                <a:latin typeface="+mn-lt"/>
              </a:rPr>
              <a:t>Mawar</a:t>
            </a:r>
            <a:r>
              <a:rPr lang="en-US" altLang="en-US" sz="1800" dirty="0">
                <a:latin typeface="+mn-lt"/>
              </a:rPr>
              <a:t> </a:t>
            </a:r>
            <a:r>
              <a:rPr lang="en-US" altLang="en-US" sz="1800" dirty="0" err="1">
                <a:latin typeface="+mn-lt"/>
              </a:rPr>
              <a:t>termasuk</a:t>
            </a:r>
            <a:r>
              <a:rPr lang="en-US" altLang="en-US" sz="1800" dirty="0">
                <a:latin typeface="+mn-lt"/>
              </a:rPr>
              <a:t> orang yang </a:t>
            </a:r>
            <a:r>
              <a:rPr lang="en-US" altLang="en-US" sz="1800" dirty="0" err="1">
                <a:latin typeface="+mn-lt"/>
              </a:rPr>
              <a:t>mempunyai</a:t>
            </a:r>
            <a:r>
              <a:rPr lang="en-US" altLang="en-US" sz="1800" dirty="0">
                <a:latin typeface="+mn-lt"/>
              </a:rPr>
              <a:t> </a:t>
            </a:r>
            <a:r>
              <a:rPr lang="en-US" altLang="en-US" sz="1800" dirty="0" err="1">
                <a:latin typeface="+mn-lt"/>
              </a:rPr>
              <a:t>berat</a:t>
            </a:r>
            <a:r>
              <a:rPr lang="en-US" altLang="en-US" sz="1800" dirty="0">
                <a:latin typeface="+mn-lt"/>
              </a:rPr>
              <a:t> badan ideal, kurus </a:t>
            </a:r>
            <a:r>
              <a:rPr lang="en-US" altLang="en-US" sz="1800" dirty="0" err="1">
                <a:latin typeface="+mn-lt"/>
              </a:rPr>
              <a:t>atau</a:t>
            </a:r>
            <a:r>
              <a:rPr lang="en-US" altLang="en-US" sz="1800" dirty="0">
                <a:latin typeface="+mn-lt"/>
              </a:rPr>
              <a:t> </a:t>
            </a:r>
            <a:r>
              <a:rPr lang="en-US" altLang="en-US" sz="1800" dirty="0" err="1">
                <a:latin typeface="+mn-lt"/>
              </a:rPr>
              <a:t>gemuk</a:t>
            </a:r>
            <a:r>
              <a:rPr lang="en-US" altLang="en-US" sz="1800" dirty="0">
                <a:latin typeface="+mn-lt"/>
              </a:rPr>
              <a:t> ? </a:t>
            </a:r>
          </a:p>
          <a:p>
            <a:endParaRPr lang="en-US" altLang="en-US" sz="1800" dirty="0">
              <a:solidFill>
                <a:srgbClr val="FF3300"/>
              </a:solidFill>
              <a:latin typeface="+mn-lt"/>
            </a:endParaRPr>
          </a:p>
          <a:p>
            <a:endParaRPr lang="en-US" altLang="en-US" sz="1800" dirty="0">
              <a:latin typeface="+mn-lt"/>
            </a:endParaRPr>
          </a:p>
        </p:txBody>
      </p:sp>
      <p:pic>
        <p:nvPicPr>
          <p:cNvPr id="55303" name="Picture 22">
            <a:extLst>
              <a:ext uri="{FF2B5EF4-FFF2-40B4-BE49-F238E27FC236}">
                <a16:creationId xmlns:a16="http://schemas.microsoft.com/office/drawing/2014/main" id="{31643334-BBFC-512D-7066-5F122719F7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575" b="18919"/>
          <a:stretch>
            <a:fillRect/>
          </a:stretch>
        </p:blipFill>
        <p:spPr bwMode="auto">
          <a:xfrm>
            <a:off x="8117006" y="4001294"/>
            <a:ext cx="3418601" cy="20149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wip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5299" name="Text Box 45">
                <a:extLst>
                  <a:ext uri="{FF2B5EF4-FFF2-40B4-BE49-F238E27FC236}">
                    <a16:creationId xmlns:a16="http://schemas.microsoft.com/office/drawing/2014/main" id="{F24D2F94-A1F6-E4AF-729F-484125CA662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62000" y="1690688"/>
                <a:ext cx="11277600" cy="40934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Gadugi" panose="020B0502040204020203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Gadugi" panose="020B0502040204020203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Gadugi" panose="020B0502040204020203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Gadugi" panose="020B0502040204020203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Gadugi" panose="020B0502040204020203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dugi" panose="020B0502040204020203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dugi" panose="020B0502040204020203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dugi" panose="020B0502040204020203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dugi" panose="020B0502040204020203" pitchFamily="34" charset="0"/>
                  </a:defRPr>
                </a:lvl9pPr>
              </a:lstStyle>
              <a:p>
                <a:pPr eaLnBrk="1" hangingPunct="1">
                  <a:defRPr/>
                </a:pPr>
                <a:r>
                  <a:rPr lang="en-US" altLang="en-US" sz="2000" dirty="0">
                    <a:latin typeface="+mn-lt"/>
                  </a:rPr>
                  <a:t>Sebelumnya </a:t>
                </a:r>
                <a:r>
                  <a:rPr lang="en-US" altLang="en-US" sz="2000" dirty="0" err="1">
                    <a:latin typeface="+mn-lt"/>
                  </a:rPr>
                  <a:t>kita</a:t>
                </a:r>
                <a:r>
                  <a:rPr lang="en-US" altLang="en-US" sz="2000" dirty="0">
                    <a:latin typeface="+mn-lt"/>
                  </a:rPr>
                  <a:t> </a:t>
                </a:r>
                <a:r>
                  <a:rPr lang="en-US" altLang="en-US" sz="2000" dirty="0" err="1">
                    <a:latin typeface="+mn-lt"/>
                  </a:rPr>
                  <a:t>hitung</a:t>
                </a:r>
                <a:r>
                  <a:rPr lang="en-US" altLang="en-US" sz="2000" dirty="0">
                    <a:latin typeface="+mn-lt"/>
                  </a:rPr>
                  <a:t> </a:t>
                </a:r>
                <a:r>
                  <a:rPr lang="en-US" altLang="en-US" sz="2000" dirty="0" err="1">
                    <a:latin typeface="+mn-lt"/>
                  </a:rPr>
                  <a:t>dulu</a:t>
                </a:r>
                <a:r>
                  <a:rPr lang="en-US" altLang="en-US" sz="2000" dirty="0">
                    <a:latin typeface="+mn-lt"/>
                  </a:rPr>
                  <a:t> </a:t>
                </a:r>
                <a:r>
                  <a:rPr lang="en-US" altLang="en-US" sz="2000" dirty="0" err="1">
                    <a:latin typeface="+mn-lt"/>
                  </a:rPr>
                  <a:t>bagian</a:t>
                </a:r>
                <a:r>
                  <a:rPr lang="en-US" altLang="en-US" sz="2000" dirty="0">
                    <a:latin typeface="+mn-lt"/>
                  </a:rPr>
                  <a:t> IF, </a:t>
                </a:r>
                <a:r>
                  <a:rPr lang="en-US" altLang="en-US" sz="2000" dirty="0" err="1">
                    <a:latin typeface="+mn-lt"/>
                  </a:rPr>
                  <a:t>yaitu</a:t>
                </a:r>
                <a:r>
                  <a:rPr lang="en-US" altLang="en-US" sz="2000" dirty="0">
                    <a:latin typeface="+mn-lt"/>
                  </a:rPr>
                  <a:t> </a:t>
                </a:r>
                <a:r>
                  <a:rPr lang="en-US" altLang="en-US" sz="2000" dirty="0" err="1">
                    <a:latin typeface="+mn-lt"/>
                  </a:rPr>
                  <a:t>menghitung</a:t>
                </a:r>
                <a:r>
                  <a:rPr lang="en-US" altLang="en-US" sz="2000" dirty="0">
                    <a:latin typeface="+mn-lt"/>
                  </a:rPr>
                  <a:t> </a:t>
                </a:r>
                <a:r>
                  <a:rPr lang="en-US" altLang="en-US" sz="2000" dirty="0" err="1">
                    <a:latin typeface="+mn-lt"/>
                  </a:rPr>
                  <a:t>derajat</a:t>
                </a:r>
                <a:r>
                  <a:rPr lang="en-US" altLang="en-US" sz="2000" dirty="0">
                    <a:latin typeface="+mn-lt"/>
                  </a:rPr>
                  <a:t> </a:t>
                </a:r>
                <a:r>
                  <a:rPr lang="en-US" altLang="en-US" sz="2000" dirty="0" err="1">
                    <a:latin typeface="+mn-lt"/>
                  </a:rPr>
                  <a:t>tinggi</a:t>
                </a:r>
                <a:r>
                  <a:rPr lang="en-US" altLang="en-US" sz="2000" dirty="0">
                    <a:latin typeface="+mn-lt"/>
                  </a:rPr>
                  <a:t> badan </a:t>
                </a:r>
                <a:r>
                  <a:rPr lang="en-US" altLang="en-US" sz="2000" dirty="0" err="1">
                    <a:latin typeface="+mn-lt"/>
                  </a:rPr>
                  <a:t>sebagai</a:t>
                </a:r>
                <a:r>
                  <a:rPr lang="en-US" altLang="en-US" sz="2000" dirty="0">
                    <a:latin typeface="+mn-lt"/>
                  </a:rPr>
                  <a:t> </a:t>
                </a:r>
                <a:r>
                  <a:rPr lang="en-US" altLang="en-US" sz="2000" dirty="0" err="1">
                    <a:latin typeface="+mn-lt"/>
                  </a:rPr>
                  <a:t>berikut</a:t>
                </a:r>
                <a:r>
                  <a:rPr lang="en-US" altLang="en-US" sz="2000" dirty="0">
                    <a:latin typeface="+mn-lt"/>
                  </a:rPr>
                  <a:t>,</a:t>
                </a:r>
              </a:p>
              <a:p>
                <a:pPr eaLnBrk="1" hangingPunct="1"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 dirty="0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</a:rPr>
                            <m:t>𝑇𝐼𝑁𝐺𝐺𝐼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CN" sz="20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</a:rPr>
                            <m:t>168</m:t>
                          </m:r>
                        </m:e>
                      </m:d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i="1" dirty="0">
                          <a:latin typeface="Cambria Math" panose="02040503050406030204" pitchFamily="18" charset="0"/>
                        </a:rPr>
                        <m:t>(168 − 155)/( 175 − 155) = 0.65</m:t>
                      </m:r>
                    </m:oMath>
                  </m:oMathPara>
                </a14:m>
                <a:endParaRPr lang="en-US" altLang="en-US" sz="2000" dirty="0">
                  <a:latin typeface="+mn-lt"/>
                </a:endParaRPr>
              </a:p>
              <a:p>
                <a:pPr eaLnBrk="1" hangingPunct="1">
                  <a:defRPr/>
                </a:pPr>
                <a:endParaRPr lang="id-ID" altLang="en-US" sz="2000" dirty="0">
                  <a:latin typeface="+mn-lt"/>
                </a:endParaRPr>
              </a:p>
              <a:p>
                <a:pPr eaLnBrk="1" hangingPunct="1">
                  <a:defRPr/>
                </a:pPr>
                <a:r>
                  <a:rPr lang="id-ID" altLang="en-US" sz="2000" dirty="0">
                    <a:latin typeface="+mn-lt"/>
                  </a:rPr>
                  <a:t>Derajat Tinggi untuk merelasikan himpunan TINGGI dan BERAT IDEAL dengan cara menghitung bagian THEN, yaitu</a:t>
                </a:r>
                <a:endParaRPr lang="en-US" altLang="en-US" sz="2000" dirty="0">
                  <a:latin typeface="+mn-lt"/>
                </a:endParaRPr>
              </a:p>
              <a:p>
                <a:pPr eaLnBrk="1" hangingPunct="1"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i="1" dirty="0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</a:rPr>
                          <m:t>𝐵𝐸𝑅𝐴𝑇𝐼𝐷𝐸𝐴𝐿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CN" sz="2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=0.65 </m:t>
                    </m:r>
                  </m:oMath>
                </a14:m>
                <a:r>
                  <a:rPr lang="en-US" altLang="en-US" sz="2000" dirty="0">
                    <a:latin typeface="+mn-lt"/>
                    <a:sym typeface="Wingdings" panose="05000000000000000000" pitchFamily="2" charset="2"/>
                  </a:rPr>
                  <a:t>	</a:t>
                </a:r>
                <a:r>
                  <a:rPr lang="es-ES" altLang="en-US" sz="2000" dirty="0">
                    <a:latin typeface="+mn-lt"/>
                  </a:rPr>
                  <a:t>	1-2[(70-</a:t>
                </a:r>
                <a:r>
                  <a:rPr lang="es-ES" altLang="en-US" sz="2000" i="1" dirty="0">
                    <a:latin typeface="+mn-lt"/>
                  </a:rPr>
                  <a:t>y</a:t>
                </a:r>
                <a:r>
                  <a:rPr lang="es-ES" altLang="en-US" sz="2000" dirty="0">
                    <a:latin typeface="+mn-lt"/>
                  </a:rPr>
                  <a:t>)/(70-50)]</a:t>
                </a:r>
                <a:r>
                  <a:rPr lang="es-ES" altLang="en-US" sz="2000" baseline="30000" dirty="0">
                    <a:latin typeface="+mn-lt"/>
                  </a:rPr>
                  <a:t>2</a:t>
                </a:r>
                <a:r>
                  <a:rPr lang="es-ES" altLang="en-US" sz="2000" dirty="0">
                    <a:latin typeface="+mn-lt"/>
                  </a:rPr>
                  <a:t>	= 0.65</a:t>
                </a:r>
              </a:p>
              <a:p>
                <a:pPr eaLnBrk="1" hangingPunct="1">
                  <a:defRPr/>
                </a:pPr>
                <a:r>
                  <a:rPr lang="es-ES" altLang="en-US" sz="2000" dirty="0">
                    <a:latin typeface="+mn-lt"/>
                  </a:rPr>
                  <a:t>		 	</a:t>
                </a:r>
                <a:r>
                  <a:rPr lang="en-US" altLang="en-US" sz="2000" dirty="0">
                    <a:latin typeface="+mn-lt"/>
                    <a:sym typeface="Wingdings" panose="05000000000000000000" pitchFamily="2" charset="2"/>
                  </a:rPr>
                  <a:t></a:t>
                </a:r>
                <a:r>
                  <a:rPr lang="es-ES" altLang="en-US" sz="2000" dirty="0">
                    <a:latin typeface="+mn-lt"/>
                  </a:rPr>
                  <a:t>	1-2(70-</a:t>
                </a:r>
                <a:r>
                  <a:rPr lang="es-ES" altLang="en-US" sz="2000" i="1" dirty="0">
                    <a:latin typeface="+mn-lt"/>
                  </a:rPr>
                  <a:t>y</a:t>
                </a:r>
                <a:r>
                  <a:rPr lang="es-ES" altLang="en-US" sz="2000" dirty="0">
                    <a:latin typeface="+mn-lt"/>
                  </a:rPr>
                  <a:t>)</a:t>
                </a:r>
                <a:r>
                  <a:rPr lang="es-ES" altLang="en-US" sz="2000" baseline="30000" dirty="0">
                    <a:latin typeface="+mn-lt"/>
                  </a:rPr>
                  <a:t>2</a:t>
                </a:r>
                <a:r>
                  <a:rPr lang="es-ES" altLang="en-US" sz="2000" dirty="0">
                    <a:latin typeface="+mn-lt"/>
                  </a:rPr>
                  <a:t>/400		= 0.65</a:t>
                </a:r>
              </a:p>
              <a:p>
                <a:pPr eaLnBrk="1" hangingPunct="1">
                  <a:defRPr/>
                </a:pPr>
                <a:r>
                  <a:rPr lang="es-ES" altLang="en-US" sz="2000" dirty="0">
                    <a:latin typeface="+mn-lt"/>
                  </a:rPr>
                  <a:t>		 	</a:t>
                </a:r>
                <a:r>
                  <a:rPr lang="en-US" altLang="en-US" sz="2000" dirty="0">
                    <a:latin typeface="+mn-lt"/>
                    <a:sym typeface="Wingdings" panose="05000000000000000000" pitchFamily="2" charset="2"/>
                  </a:rPr>
                  <a:t></a:t>
                </a:r>
                <a:r>
                  <a:rPr lang="es-ES" altLang="en-US" sz="2000" dirty="0">
                    <a:latin typeface="+mn-lt"/>
                  </a:rPr>
                  <a:t>	2(70-</a:t>
                </a:r>
                <a:r>
                  <a:rPr lang="es-ES" altLang="en-US" sz="2000" i="1" dirty="0">
                    <a:latin typeface="+mn-lt"/>
                  </a:rPr>
                  <a:t>y</a:t>
                </a:r>
                <a:r>
                  <a:rPr lang="es-ES" altLang="en-US" sz="2000" dirty="0">
                    <a:latin typeface="+mn-lt"/>
                  </a:rPr>
                  <a:t>)</a:t>
                </a:r>
                <a:r>
                  <a:rPr lang="es-ES" altLang="en-US" sz="2000" baseline="30000" dirty="0">
                    <a:latin typeface="+mn-lt"/>
                  </a:rPr>
                  <a:t>2</a:t>
                </a:r>
                <a:r>
                  <a:rPr lang="es-ES" altLang="en-US" sz="2000" dirty="0">
                    <a:latin typeface="+mn-lt"/>
                  </a:rPr>
                  <a:t>/400		= 0.35</a:t>
                </a:r>
              </a:p>
              <a:p>
                <a:pPr eaLnBrk="1" hangingPunct="1">
                  <a:defRPr/>
                </a:pPr>
                <a:r>
                  <a:rPr lang="es-ES" altLang="en-US" sz="2000" dirty="0">
                    <a:latin typeface="+mn-lt"/>
                  </a:rPr>
                  <a:t>		 	</a:t>
                </a:r>
                <a:r>
                  <a:rPr lang="en-US" altLang="en-US" sz="2000" dirty="0">
                    <a:latin typeface="+mn-lt"/>
                    <a:sym typeface="Wingdings" panose="05000000000000000000" pitchFamily="2" charset="2"/>
                  </a:rPr>
                  <a:t></a:t>
                </a:r>
                <a:r>
                  <a:rPr lang="es-ES" altLang="en-US" sz="2000" dirty="0">
                    <a:latin typeface="+mn-lt"/>
                  </a:rPr>
                  <a:t>	(70-</a:t>
                </a:r>
                <a:r>
                  <a:rPr lang="es-ES" altLang="en-US" sz="2000" i="1" dirty="0">
                    <a:latin typeface="+mn-lt"/>
                  </a:rPr>
                  <a:t>y</a:t>
                </a:r>
                <a:r>
                  <a:rPr lang="es-ES" altLang="en-US" sz="2000" dirty="0">
                    <a:latin typeface="+mn-lt"/>
                  </a:rPr>
                  <a:t>)</a:t>
                </a:r>
                <a:r>
                  <a:rPr lang="es-ES" altLang="en-US" sz="2000" baseline="30000" dirty="0">
                    <a:latin typeface="+mn-lt"/>
                  </a:rPr>
                  <a:t>2</a:t>
                </a:r>
                <a:r>
                  <a:rPr lang="es-ES" altLang="en-US" sz="2000" dirty="0">
                    <a:latin typeface="+mn-lt"/>
                  </a:rPr>
                  <a:t>			= 70</a:t>
                </a:r>
              </a:p>
              <a:p>
                <a:pPr eaLnBrk="1" hangingPunct="1">
                  <a:defRPr/>
                </a:pPr>
                <a:r>
                  <a:rPr lang="es-ES" altLang="en-US" sz="2000" dirty="0">
                    <a:latin typeface="+mn-lt"/>
                  </a:rPr>
                  <a:t>		 	</a:t>
                </a:r>
                <a:r>
                  <a:rPr lang="en-US" altLang="en-US" sz="2000" dirty="0">
                    <a:latin typeface="+mn-lt"/>
                    <a:sym typeface="Wingdings" panose="05000000000000000000" pitchFamily="2" charset="2"/>
                  </a:rPr>
                  <a:t></a:t>
                </a:r>
                <a:r>
                  <a:rPr lang="es-ES" altLang="en-US" sz="2000" dirty="0">
                    <a:latin typeface="+mn-lt"/>
                  </a:rPr>
                  <a:t>	(70-</a:t>
                </a:r>
                <a:r>
                  <a:rPr lang="es-ES" altLang="en-US" sz="2000" i="1" dirty="0">
                    <a:latin typeface="+mn-lt"/>
                  </a:rPr>
                  <a:t>y</a:t>
                </a:r>
                <a:r>
                  <a:rPr lang="es-ES" altLang="en-US" sz="2000" dirty="0">
                    <a:latin typeface="+mn-lt"/>
                  </a:rPr>
                  <a:t>)			= 8.366</a:t>
                </a:r>
              </a:p>
              <a:p>
                <a:pPr eaLnBrk="1" hangingPunct="1">
                  <a:defRPr/>
                </a:pPr>
                <a:r>
                  <a:rPr lang="es-ES" altLang="en-US" sz="2000" dirty="0">
                    <a:latin typeface="+mn-lt"/>
                  </a:rPr>
                  <a:t>		 	</a:t>
                </a:r>
                <a:r>
                  <a:rPr lang="en-US" altLang="en-US" sz="2000" dirty="0">
                    <a:latin typeface="+mn-lt"/>
                    <a:sym typeface="Wingdings" panose="05000000000000000000" pitchFamily="2" charset="2"/>
                  </a:rPr>
                  <a:t></a:t>
                </a:r>
                <a:r>
                  <a:rPr lang="es-ES" altLang="en-US" sz="2000" dirty="0">
                    <a:latin typeface="+mn-lt"/>
                  </a:rPr>
                  <a:t>	</a:t>
                </a:r>
                <a:r>
                  <a:rPr lang="es-ES" altLang="en-US" sz="2000" i="1" dirty="0">
                    <a:latin typeface="+mn-lt"/>
                  </a:rPr>
                  <a:t>y</a:t>
                </a:r>
                <a:r>
                  <a:rPr lang="es-ES" altLang="en-US" sz="2000" dirty="0">
                    <a:latin typeface="+mn-lt"/>
                  </a:rPr>
                  <a:t>			= 61.634 kg</a:t>
                </a:r>
              </a:p>
              <a:p>
                <a:pPr eaLnBrk="1" hangingPunct="1">
                  <a:defRPr/>
                </a:pPr>
                <a:r>
                  <a:rPr lang="sv-SE" altLang="en-US" sz="2000" dirty="0">
                    <a:latin typeface="+mn-lt"/>
                  </a:rPr>
                  <a:t>Berat badan </a:t>
                </a:r>
                <a:r>
                  <a:rPr lang="en-US" altLang="en-US" sz="2000" dirty="0" err="1">
                    <a:latin typeface="+mn-lt"/>
                  </a:rPr>
                  <a:t>Mawar</a:t>
                </a:r>
                <a:r>
                  <a:rPr lang="sv-SE" altLang="en-US" sz="2000" dirty="0">
                    <a:latin typeface="+mn-lt"/>
                  </a:rPr>
                  <a:t> adalah 55 kg, berarti </a:t>
                </a:r>
                <a:r>
                  <a:rPr lang="en-US" altLang="en-US" sz="2000" dirty="0" err="1">
                    <a:latin typeface="+mn-lt"/>
                  </a:rPr>
                  <a:t>Mawar</a:t>
                </a:r>
                <a:r>
                  <a:rPr lang="sv-SE" altLang="en-US" sz="2000" dirty="0">
                    <a:latin typeface="+mn-lt"/>
                  </a:rPr>
                  <a:t> termasuk orang </a:t>
                </a:r>
                <a:r>
                  <a:rPr lang="sv-SE" altLang="en-US" sz="2000" dirty="0">
                    <a:solidFill>
                      <a:srgbClr val="FF3300"/>
                    </a:solidFill>
                    <a:latin typeface="+mn-lt"/>
                  </a:rPr>
                  <a:t>kurus</a:t>
                </a:r>
                <a:r>
                  <a:rPr lang="sv-SE" altLang="en-US" sz="2000" dirty="0">
                    <a:latin typeface="+mn-lt"/>
                  </a:rPr>
                  <a:t>, karena berat badannya lebih rendah dari berat badan idealnya 61,634 kg. </a:t>
                </a:r>
                <a:endParaRPr lang="en-US" altLang="en-US" sz="2000" dirty="0">
                  <a:latin typeface="+mn-lt"/>
                </a:endParaRPr>
              </a:p>
            </p:txBody>
          </p:sp>
        </mc:Choice>
        <mc:Fallback xmlns="">
          <p:sp>
            <p:nvSpPr>
              <p:cNvPr id="55299" name="Text Box 45">
                <a:extLst>
                  <a:ext uri="{FF2B5EF4-FFF2-40B4-BE49-F238E27FC236}">
                    <a16:creationId xmlns:a16="http://schemas.microsoft.com/office/drawing/2014/main" id="{F24D2F94-A1F6-E4AF-729F-484125CA66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62000" y="1690688"/>
                <a:ext cx="11277600" cy="4093428"/>
              </a:xfrm>
              <a:prstGeom prst="rect">
                <a:avLst/>
              </a:prstGeom>
              <a:blipFill>
                <a:blip r:embed="rId2"/>
                <a:stretch>
                  <a:fillRect l="-541" t="-595" b="-178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324" name="Title 1">
            <a:extLst>
              <a:ext uri="{FF2B5EF4-FFF2-40B4-BE49-F238E27FC236}">
                <a16:creationId xmlns:a16="http://schemas.microsoft.com/office/drawing/2014/main" id="{C37E1A19-F79E-4C1F-BD19-CEA30BF3DC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6600" dirty="0" err="1"/>
              <a:t>Penalaran</a:t>
            </a:r>
            <a:r>
              <a:rPr lang="en-US" altLang="en-US" sz="6600" dirty="0"/>
              <a:t> </a:t>
            </a:r>
            <a:r>
              <a:rPr lang="en-US" altLang="en-US" sz="6600" dirty="0" err="1"/>
              <a:t>Monoton</a:t>
            </a:r>
            <a:r>
              <a:rPr lang="en-US" altLang="en-US" sz="6600" dirty="0"/>
              <a:t> (</a:t>
            </a:r>
            <a:r>
              <a:rPr lang="en-US" altLang="en-US" sz="6600" dirty="0" err="1"/>
              <a:t>Implikasi</a:t>
            </a:r>
            <a:r>
              <a:rPr lang="en-US" altLang="en-US" sz="6600" dirty="0"/>
              <a:t>)</a:t>
            </a:r>
          </a:p>
        </p:txBody>
      </p:sp>
    </p:spTree>
  </p:cSld>
  <p:clrMapOvr>
    <a:masterClrMapping/>
  </p:clrMapOvr>
  <p:transition spd="slow">
    <p:wip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3" name="Rectangle 23">
            <a:extLst>
              <a:ext uri="{FF2B5EF4-FFF2-40B4-BE49-F238E27FC236}">
                <a16:creationId xmlns:a16="http://schemas.microsoft.com/office/drawing/2014/main" id="{81F69649-7502-CCE5-FDB2-EC103F47CB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sz="6600" dirty="0" err="1"/>
              <a:t>Fungsi</a:t>
            </a:r>
            <a:r>
              <a:rPr lang="en-US" altLang="en-US" sz="6600" dirty="0"/>
              <a:t> </a:t>
            </a:r>
            <a:r>
              <a:rPr lang="en-US" altLang="en-US" sz="6600" dirty="0" err="1"/>
              <a:t>Implikasi</a:t>
            </a:r>
            <a:r>
              <a:rPr lang="en-US" altLang="en-US" sz="6600" dirty="0"/>
              <a:t> MIN (Minimum)</a:t>
            </a: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AEAFD1AF-B8E7-A66E-D79E-B2104F876F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000" kern="1200">
                <a:solidFill>
                  <a:srgbClr val="FFFFFF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fld id="{32B88744-BE2A-4BD9-A82F-D91F3C115529}" type="slidenum">
              <a:rPr lang="en-US" altLang="en-US" smtClean="0"/>
              <a:pPr/>
              <a:t>32</a:t>
            </a:fld>
            <a:endParaRPr lang="en-US" altLang="en-US">
              <a:latin typeface="Garamond" panose="02020404030301010803" pitchFamily="18" charset="0"/>
            </a:endParaRPr>
          </a:p>
        </p:txBody>
      </p:sp>
      <p:sp>
        <p:nvSpPr>
          <p:cNvPr id="184344" name="Rectangle 24">
            <a:extLst>
              <a:ext uri="{FF2B5EF4-FFF2-40B4-BE49-F238E27FC236}">
                <a16:creationId xmlns:a16="http://schemas.microsoft.com/office/drawing/2014/main" id="{0FC66678-99B2-D3E4-C6A9-71B45856A19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919165" y="1510506"/>
            <a:ext cx="8229600" cy="587375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90488" indent="-90488" fontAlgn="auto">
              <a:lnSpc>
                <a:spcPct val="100000"/>
              </a:lnSpc>
            </a:pPr>
            <a:r>
              <a:rPr lang="en-AU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Fungsi</a:t>
            </a:r>
            <a:r>
              <a:rPr lang="en-AU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en-AU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ini</a:t>
            </a:r>
            <a:r>
              <a:rPr lang="en-AU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en-AU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akan</a:t>
            </a:r>
            <a:r>
              <a:rPr lang="en-AU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en-AU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memotong</a:t>
            </a:r>
            <a:r>
              <a:rPr lang="en-AU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output </a:t>
            </a:r>
            <a:r>
              <a:rPr lang="en-AU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himpunan</a:t>
            </a:r>
            <a:r>
              <a:rPr lang="en-AU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fuzzy</a:t>
            </a:r>
            <a:endParaRPr lang="en-US" altLang="en-US" sz="18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grpSp>
        <p:nvGrpSpPr>
          <p:cNvPr id="184322" name="Group 2">
            <a:extLst>
              <a:ext uri="{FF2B5EF4-FFF2-40B4-BE49-F238E27FC236}">
                <a16:creationId xmlns:a16="http://schemas.microsoft.com/office/drawing/2014/main" id="{0FB4C559-912D-BFCF-63DE-56F66BA2CC5A}"/>
              </a:ext>
            </a:extLst>
          </p:cNvPr>
          <p:cNvGrpSpPr>
            <a:grpSpLocks/>
          </p:cNvGrpSpPr>
          <p:nvPr/>
        </p:nvGrpSpPr>
        <p:grpSpPr bwMode="auto">
          <a:xfrm>
            <a:off x="1776412" y="2295525"/>
            <a:ext cx="8639175" cy="3613150"/>
            <a:chOff x="165" y="1313"/>
            <a:chExt cx="5442" cy="2276"/>
          </a:xfrm>
        </p:grpSpPr>
        <p:sp>
          <p:nvSpPr>
            <p:cNvPr id="40973" name="Rectangle 3">
              <a:extLst>
                <a:ext uri="{FF2B5EF4-FFF2-40B4-BE49-F238E27FC236}">
                  <a16:creationId xmlns:a16="http://schemas.microsoft.com/office/drawing/2014/main" id="{B247A920-B688-C03D-5E78-CF0C1E6F61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" y="1313"/>
              <a:ext cx="5442" cy="2276"/>
            </a:xfrm>
            <a:prstGeom prst="rect">
              <a:avLst/>
            </a:prstGeom>
            <a:solidFill>
              <a:srgbClr val="FFFF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0974" name="AutoShape 4">
              <a:extLst>
                <a:ext uri="{FF2B5EF4-FFF2-40B4-BE49-F238E27FC236}">
                  <a16:creationId xmlns:a16="http://schemas.microsoft.com/office/drawing/2014/main" id="{6A37FFCC-AC8F-46CC-0505-3E34991DAA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0" y="2225"/>
              <a:ext cx="596" cy="839"/>
            </a:xfrm>
            <a:prstGeom prst="triangle">
              <a:avLst>
                <a:gd name="adj" fmla="val 50000"/>
              </a:avLst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0975" name="AutoShape 5">
              <a:extLst>
                <a:ext uri="{FF2B5EF4-FFF2-40B4-BE49-F238E27FC236}">
                  <a16:creationId xmlns:a16="http://schemas.microsoft.com/office/drawing/2014/main" id="{EC360F99-2548-D89B-9C22-77F6D72BA6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1" y="2213"/>
              <a:ext cx="453" cy="839"/>
            </a:xfrm>
            <a:prstGeom prst="triangle">
              <a:avLst>
                <a:gd name="adj" fmla="val 50000"/>
              </a:avLst>
            </a:prstGeom>
            <a:solidFill>
              <a:srgbClr val="C0C0C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0976" name="Line 6">
              <a:extLst>
                <a:ext uri="{FF2B5EF4-FFF2-40B4-BE49-F238E27FC236}">
                  <a16:creationId xmlns:a16="http://schemas.microsoft.com/office/drawing/2014/main" id="{682FE06F-A316-C54E-CF5A-0F625F22FD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3" y="3043"/>
              <a:ext cx="107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77" name="Line 7">
              <a:extLst>
                <a:ext uri="{FF2B5EF4-FFF2-40B4-BE49-F238E27FC236}">
                  <a16:creationId xmlns:a16="http://schemas.microsoft.com/office/drawing/2014/main" id="{D5F5E099-8E78-63D4-A898-1082CDF4DC8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23" y="2025"/>
              <a:ext cx="0" cy="100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78" name="Line 8">
              <a:extLst>
                <a:ext uri="{FF2B5EF4-FFF2-40B4-BE49-F238E27FC236}">
                  <a16:creationId xmlns:a16="http://schemas.microsoft.com/office/drawing/2014/main" id="{598CB6ED-9BA3-710A-E0C2-9A95FD470D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44" y="3057"/>
              <a:ext cx="107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79" name="Line 9">
              <a:extLst>
                <a:ext uri="{FF2B5EF4-FFF2-40B4-BE49-F238E27FC236}">
                  <a16:creationId xmlns:a16="http://schemas.microsoft.com/office/drawing/2014/main" id="{B74F794F-5C2E-77FE-084C-9BABBAB73F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45" y="2039"/>
              <a:ext cx="0" cy="100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80" name="Line 10">
              <a:extLst>
                <a:ext uri="{FF2B5EF4-FFF2-40B4-BE49-F238E27FC236}">
                  <a16:creationId xmlns:a16="http://schemas.microsoft.com/office/drawing/2014/main" id="{7477303F-F188-6216-46F6-1F47CF2BE8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4" y="3052"/>
              <a:ext cx="107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81" name="Line 11">
              <a:extLst>
                <a:ext uri="{FF2B5EF4-FFF2-40B4-BE49-F238E27FC236}">
                  <a16:creationId xmlns:a16="http://schemas.microsoft.com/office/drawing/2014/main" id="{889D9460-7F44-BAD9-D65F-E680CC92D08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75" y="2044"/>
              <a:ext cx="0" cy="100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82" name="AutoShape 12">
              <a:extLst>
                <a:ext uri="{FF2B5EF4-FFF2-40B4-BE49-F238E27FC236}">
                  <a16:creationId xmlns:a16="http://schemas.microsoft.com/office/drawing/2014/main" id="{5D9EAC38-EC97-7CE7-E787-75C5666510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57" y="2039"/>
              <a:ext cx="50" cy="1062"/>
            </a:xfrm>
            <a:prstGeom prst="chevron">
              <a:avLst>
                <a:gd name="adj" fmla="val 87713"/>
              </a:avLst>
            </a:prstGeom>
            <a:solidFill>
              <a:srgbClr val="FFFFFF"/>
            </a:solidFill>
            <a:ln w="9525">
              <a:solidFill>
                <a:srgbClr val="8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0983" name="Freeform 13">
              <a:extLst>
                <a:ext uri="{FF2B5EF4-FFF2-40B4-BE49-F238E27FC236}">
                  <a16:creationId xmlns:a16="http://schemas.microsoft.com/office/drawing/2014/main" id="{329224CD-9731-A7C7-55BE-4AAB38132AB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979" y="2191"/>
              <a:ext cx="584" cy="849"/>
            </a:xfrm>
            <a:custGeom>
              <a:avLst/>
              <a:gdLst>
                <a:gd name="T0" fmla="*/ 0 w 1868"/>
                <a:gd name="T1" fmla="*/ 8 h 1319"/>
                <a:gd name="T2" fmla="*/ 23 w 1868"/>
                <a:gd name="T3" fmla="*/ 24 h 1319"/>
                <a:gd name="T4" fmla="*/ 48 w 1868"/>
                <a:gd name="T5" fmla="*/ 151 h 1319"/>
                <a:gd name="T6" fmla="*/ 82 w 1868"/>
                <a:gd name="T7" fmla="*/ 418 h 1319"/>
                <a:gd name="T8" fmla="*/ 113 w 1868"/>
                <a:gd name="T9" fmla="*/ 521 h 1319"/>
                <a:gd name="T10" fmla="*/ 149 w 1868"/>
                <a:gd name="T11" fmla="*/ 543 h 1319"/>
                <a:gd name="T12" fmla="*/ 183 w 1868"/>
                <a:gd name="T13" fmla="*/ 546 h 131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68" h="1319">
                  <a:moveTo>
                    <a:pt x="0" y="19"/>
                  </a:moveTo>
                  <a:cubicBezTo>
                    <a:pt x="76" y="9"/>
                    <a:pt x="152" y="0"/>
                    <a:pt x="233" y="57"/>
                  </a:cubicBezTo>
                  <a:cubicBezTo>
                    <a:pt x="314" y="114"/>
                    <a:pt x="387" y="205"/>
                    <a:pt x="488" y="364"/>
                  </a:cubicBezTo>
                  <a:cubicBezTo>
                    <a:pt x="589" y="523"/>
                    <a:pt x="729" y="860"/>
                    <a:pt x="840" y="1009"/>
                  </a:cubicBezTo>
                  <a:cubicBezTo>
                    <a:pt x="951" y="1158"/>
                    <a:pt x="1040" y="1207"/>
                    <a:pt x="1155" y="1257"/>
                  </a:cubicBezTo>
                  <a:cubicBezTo>
                    <a:pt x="1270" y="1307"/>
                    <a:pt x="1411" y="1299"/>
                    <a:pt x="1530" y="1309"/>
                  </a:cubicBezTo>
                  <a:cubicBezTo>
                    <a:pt x="1649" y="1319"/>
                    <a:pt x="1812" y="1316"/>
                    <a:pt x="1868" y="1317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84" name="Text Box 14">
              <a:extLst>
                <a:ext uri="{FF2B5EF4-FFF2-40B4-BE49-F238E27FC236}">
                  <a16:creationId xmlns:a16="http://schemas.microsoft.com/office/drawing/2014/main" id="{C273514A-5F3E-FAFB-7B17-7D1C5DA96B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5" y="2054"/>
              <a:ext cx="535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0" rIns="1800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AU" altLang="en-US">
                  <a:solidFill>
                    <a:srgbClr val="C61204"/>
                  </a:solidFill>
                  <a:latin typeface="Arial Narrow" panose="020B0606020202030204" pitchFamily="34" charset="0"/>
                </a:rPr>
                <a:t>NAIK</a:t>
              </a:r>
              <a:endParaRPr lang="en-US" altLang="en-US">
                <a:solidFill>
                  <a:srgbClr val="C61204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40985" name="Line 15">
              <a:extLst>
                <a:ext uri="{FF2B5EF4-FFF2-40B4-BE49-F238E27FC236}">
                  <a16:creationId xmlns:a16="http://schemas.microsoft.com/office/drawing/2014/main" id="{C3D39A9B-4DA1-747C-167B-28BC3B33EA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50" y="3052"/>
              <a:ext cx="107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86" name="Line 16">
              <a:extLst>
                <a:ext uri="{FF2B5EF4-FFF2-40B4-BE49-F238E27FC236}">
                  <a16:creationId xmlns:a16="http://schemas.microsoft.com/office/drawing/2014/main" id="{8DDB1C20-AC23-D090-7F3A-4CF02633F07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50" y="2044"/>
              <a:ext cx="0" cy="100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87" name="Line 17">
              <a:extLst>
                <a:ext uri="{FF2B5EF4-FFF2-40B4-BE49-F238E27FC236}">
                  <a16:creationId xmlns:a16="http://schemas.microsoft.com/office/drawing/2014/main" id="{E7E99C60-317A-B78A-F350-F8422D4D8C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63" y="2199"/>
              <a:ext cx="0" cy="8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88" name="Text Box 18">
              <a:extLst>
                <a:ext uri="{FF2B5EF4-FFF2-40B4-BE49-F238E27FC236}">
                  <a16:creationId xmlns:a16="http://schemas.microsoft.com/office/drawing/2014/main" id="{7374C786-376D-A133-FB0C-4A47D35FFA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3126"/>
              <a:ext cx="5376" cy="270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63500" dir="3187806" algn="ctr" rotWithShape="0">
                <a:srgbClr val="808080"/>
              </a:outerShdw>
            </a:effec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AU" altLang="en-US" sz="1600" b="1" dirty="0">
                  <a:solidFill>
                    <a:srgbClr val="FFFF99"/>
                  </a:solidFill>
                  <a:latin typeface="Times New Roman" panose="02020603050405020304" pitchFamily="18" charset="0"/>
                </a:rPr>
                <a:t>IF </a:t>
              </a:r>
              <a:r>
                <a:rPr lang="en-AU" altLang="en-US" sz="1600" b="1" dirty="0" err="1">
                  <a:solidFill>
                    <a:srgbClr val="FFFF99"/>
                  </a:solidFill>
                  <a:latin typeface="Times New Roman" panose="02020603050405020304" pitchFamily="18" charset="0"/>
                </a:rPr>
                <a:t>Permintaan</a:t>
              </a:r>
              <a:r>
                <a:rPr lang="en-AU" altLang="en-US" sz="1600" b="1" dirty="0">
                  <a:solidFill>
                    <a:srgbClr val="FFFF99"/>
                  </a:solidFill>
                  <a:latin typeface="Times New Roman" panose="02020603050405020304" pitchFamily="18" charset="0"/>
                </a:rPr>
                <a:t> NAIK AND </a:t>
              </a:r>
              <a:r>
                <a:rPr lang="en-AU" altLang="en-US" sz="1600" b="1" dirty="0" err="1">
                  <a:solidFill>
                    <a:srgbClr val="FFFF99"/>
                  </a:solidFill>
                  <a:latin typeface="Times New Roman" panose="02020603050405020304" pitchFamily="18" charset="0"/>
                </a:rPr>
                <a:t>Persediaan</a:t>
              </a:r>
              <a:r>
                <a:rPr lang="en-AU" altLang="en-US" sz="1600" b="1" dirty="0">
                  <a:solidFill>
                    <a:srgbClr val="FFFF99"/>
                  </a:solidFill>
                  <a:latin typeface="Times New Roman" panose="02020603050405020304" pitchFamily="18" charset="0"/>
                </a:rPr>
                <a:t> SEDANG THEN </a:t>
              </a:r>
              <a:r>
                <a:rPr lang="en-AU" altLang="en-US" sz="1600" b="1" dirty="0" err="1">
                  <a:solidFill>
                    <a:srgbClr val="FFFF99"/>
                  </a:solidFill>
                  <a:latin typeface="Times New Roman" panose="02020603050405020304" pitchFamily="18" charset="0"/>
                </a:rPr>
                <a:t>Produksi</a:t>
              </a:r>
              <a:r>
                <a:rPr lang="en-AU" altLang="en-US" sz="1600" b="1" dirty="0">
                  <a:solidFill>
                    <a:srgbClr val="FFFF99"/>
                  </a:solidFill>
                  <a:latin typeface="Times New Roman" panose="02020603050405020304" pitchFamily="18" charset="0"/>
                </a:rPr>
                <a:t> </a:t>
              </a:r>
              <a:r>
                <a:rPr lang="en-AU" altLang="en-US" sz="1600" b="1" dirty="0" err="1">
                  <a:solidFill>
                    <a:srgbClr val="FFFF99"/>
                  </a:solidFill>
                  <a:latin typeface="Times New Roman" panose="02020603050405020304" pitchFamily="18" charset="0"/>
                </a:rPr>
                <a:t>Barang</a:t>
              </a:r>
              <a:r>
                <a:rPr lang="en-AU" altLang="en-US" sz="1600" b="1" dirty="0">
                  <a:solidFill>
                    <a:srgbClr val="FFFF99"/>
                  </a:solidFill>
                  <a:latin typeface="Times New Roman" panose="02020603050405020304" pitchFamily="18" charset="0"/>
                </a:rPr>
                <a:t> NORMAL</a:t>
              </a:r>
              <a:endParaRPr lang="en-US" altLang="en-US" sz="1600" b="1" dirty="0">
                <a:solidFill>
                  <a:srgbClr val="FFFF99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0989" name="Text Box 19">
              <a:extLst>
                <a:ext uri="{FF2B5EF4-FFF2-40B4-BE49-F238E27FC236}">
                  <a16:creationId xmlns:a16="http://schemas.microsoft.com/office/drawing/2014/main" id="{EACB7825-32E3-BB38-E409-8E5C62E735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82" y="2025"/>
              <a:ext cx="662" cy="1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0" rIns="1800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AU" altLang="en-US">
                  <a:solidFill>
                    <a:srgbClr val="006600"/>
                  </a:solidFill>
                  <a:latin typeface="Arial Narrow" panose="020B0606020202030204" pitchFamily="34" charset="0"/>
                </a:rPr>
                <a:t>SEDANG</a:t>
              </a:r>
              <a:endParaRPr lang="en-US" altLang="en-US">
                <a:solidFill>
                  <a:srgbClr val="006600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40990" name="Text Box 20">
              <a:extLst>
                <a:ext uri="{FF2B5EF4-FFF2-40B4-BE49-F238E27FC236}">
                  <a16:creationId xmlns:a16="http://schemas.microsoft.com/office/drawing/2014/main" id="{63855E86-F039-6D52-4502-1F5C73E862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8" y="2015"/>
              <a:ext cx="632" cy="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0" rIns="1800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AU" altLang="en-US">
                  <a:solidFill>
                    <a:srgbClr val="4B3591"/>
                  </a:solidFill>
                  <a:latin typeface="Arial Narrow" panose="020B0606020202030204" pitchFamily="34" charset="0"/>
                </a:rPr>
                <a:t>NORMAL</a:t>
              </a:r>
              <a:endParaRPr lang="en-US" altLang="en-US">
                <a:solidFill>
                  <a:srgbClr val="4B3591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40991" name="Text Box 21">
              <a:extLst>
                <a:ext uri="{FF2B5EF4-FFF2-40B4-BE49-F238E27FC236}">
                  <a16:creationId xmlns:a16="http://schemas.microsoft.com/office/drawing/2014/main" id="{9C176D9A-E516-832F-E15F-EA500B6B6C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1476"/>
              <a:ext cx="888" cy="447"/>
            </a:xfrm>
            <a:prstGeom prst="rect">
              <a:avLst/>
            </a:prstGeom>
            <a:solidFill>
              <a:srgbClr val="99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18000" tIns="0" rIns="1800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AU" altLang="en-US" b="1" i="1">
                  <a:solidFill>
                    <a:srgbClr val="000099"/>
                  </a:solidFill>
                  <a:latin typeface="Arial Narrow" panose="020B0606020202030204" pitchFamily="34" charset="0"/>
                </a:rPr>
                <a:t>Aplikasi Operator AND</a:t>
              </a:r>
              <a:endParaRPr lang="en-US" altLang="en-US" b="1" i="1">
                <a:solidFill>
                  <a:srgbClr val="000099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40992" name="Text Box 22">
              <a:extLst>
                <a:ext uri="{FF2B5EF4-FFF2-40B4-BE49-F238E27FC236}">
                  <a16:creationId xmlns:a16="http://schemas.microsoft.com/office/drawing/2014/main" id="{244ABCF8-ED79-7AC6-7205-764030C067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2" y="1524"/>
              <a:ext cx="1011" cy="390"/>
            </a:xfrm>
            <a:prstGeom prst="rect">
              <a:avLst/>
            </a:prstGeom>
            <a:solidFill>
              <a:srgbClr val="99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18000" tIns="0" rIns="1800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AU" altLang="en-US" b="1" i="1">
                  <a:solidFill>
                    <a:srgbClr val="000099"/>
                  </a:solidFill>
                  <a:latin typeface="Arial Narrow" panose="020B0606020202030204" pitchFamily="34" charset="0"/>
                </a:rPr>
                <a:t>Aplikasi fungsi implikasi Min</a:t>
              </a:r>
              <a:endParaRPr lang="en-US" altLang="en-US" b="1" i="1">
                <a:solidFill>
                  <a:srgbClr val="000099"/>
                </a:solidFill>
                <a:latin typeface="Arial Narrow" panose="020B0606020202030204" pitchFamily="34" charset="0"/>
              </a:endParaRPr>
            </a:p>
          </p:txBody>
        </p:sp>
      </p:grpSp>
      <p:sp>
        <p:nvSpPr>
          <p:cNvPr id="184345" name="AutoShape 25">
            <a:extLst>
              <a:ext uri="{FF2B5EF4-FFF2-40B4-BE49-F238E27FC236}">
                <a16:creationId xmlns:a16="http://schemas.microsoft.com/office/drawing/2014/main" id="{53A51782-BD1A-FB2F-DF93-88078484BA9F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8751887" y="4489451"/>
            <a:ext cx="706437" cy="566737"/>
          </a:xfrm>
          <a:custGeom>
            <a:avLst/>
            <a:gdLst>
              <a:gd name="T0" fmla="*/ 20865565 w 21600"/>
              <a:gd name="T1" fmla="*/ 7434986 h 21600"/>
              <a:gd name="T2" fmla="*/ 11552175 w 21600"/>
              <a:gd name="T3" fmla="*/ 14869946 h 21600"/>
              <a:gd name="T4" fmla="*/ 2238751 w 21600"/>
              <a:gd name="T5" fmla="*/ 7434986 h 21600"/>
              <a:gd name="T6" fmla="*/ 11552175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893 w 21600"/>
              <a:gd name="T13" fmla="*/ 3893 h 21600"/>
              <a:gd name="T14" fmla="*/ 17707 w 21600"/>
              <a:gd name="T15" fmla="*/ 17707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4186" y="21600"/>
                </a:lnTo>
                <a:lnTo>
                  <a:pt x="17414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4346" name="AutoShape 26">
            <a:extLst>
              <a:ext uri="{FF2B5EF4-FFF2-40B4-BE49-F238E27FC236}">
                <a16:creationId xmlns:a16="http://schemas.microsoft.com/office/drawing/2014/main" id="{1B1B5B50-9417-E646-91EC-7DF077F982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29023" y="4497387"/>
            <a:ext cx="146050" cy="552450"/>
          </a:xfrm>
          <a:prstGeom prst="upArrow">
            <a:avLst>
              <a:gd name="adj1" fmla="val 50000"/>
              <a:gd name="adj2" fmla="val 94565"/>
            </a:avLst>
          </a:prstGeom>
          <a:solidFill>
            <a:srgbClr val="C61204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84347" name="AutoShape 27">
            <a:extLst>
              <a:ext uri="{FF2B5EF4-FFF2-40B4-BE49-F238E27FC236}">
                <a16:creationId xmlns:a16="http://schemas.microsoft.com/office/drawing/2014/main" id="{81EA29D8-F0FC-9EB1-1180-0ED194E8D2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6173" y="4402137"/>
            <a:ext cx="2724150" cy="209550"/>
          </a:xfrm>
          <a:prstGeom prst="rightArrow">
            <a:avLst>
              <a:gd name="adj1" fmla="val 50000"/>
              <a:gd name="adj2" fmla="val 325000"/>
            </a:avLst>
          </a:prstGeom>
          <a:solidFill>
            <a:srgbClr val="C61204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84348" name="AutoShape 28">
            <a:extLst>
              <a:ext uri="{FF2B5EF4-FFF2-40B4-BE49-F238E27FC236}">
                <a16:creationId xmlns:a16="http://schemas.microsoft.com/office/drawing/2014/main" id="{275C3747-7437-2A21-E9C9-0DAD7AD0A2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8723" y="4040187"/>
            <a:ext cx="184150" cy="990600"/>
          </a:xfrm>
          <a:prstGeom prst="upArrow">
            <a:avLst>
              <a:gd name="adj1" fmla="val 50000"/>
              <a:gd name="adj2" fmla="val 134483"/>
            </a:avLst>
          </a:prstGeom>
          <a:solidFill>
            <a:srgbClr val="00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84349" name="AutoShape 29">
            <a:extLst>
              <a:ext uri="{FF2B5EF4-FFF2-40B4-BE49-F238E27FC236}">
                <a16:creationId xmlns:a16="http://schemas.microsoft.com/office/drawing/2014/main" id="{074A55EF-658D-2400-8FB2-F3E5F4AC96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3973" y="4021137"/>
            <a:ext cx="1314450" cy="152400"/>
          </a:xfrm>
          <a:prstGeom prst="rightArrow">
            <a:avLst>
              <a:gd name="adj1" fmla="val 50000"/>
              <a:gd name="adj2" fmla="val 215625"/>
            </a:avLst>
          </a:prstGeom>
          <a:solidFill>
            <a:srgbClr val="00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84350" name="AutoShape 30">
            <a:extLst>
              <a:ext uri="{FF2B5EF4-FFF2-40B4-BE49-F238E27FC236}">
                <a16:creationId xmlns:a16="http://schemas.microsoft.com/office/drawing/2014/main" id="{23CE1258-E9E7-16DD-1923-CEFC08CC2D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6523" y="4402137"/>
            <a:ext cx="2400300" cy="228600"/>
          </a:xfrm>
          <a:prstGeom prst="rightArrow">
            <a:avLst>
              <a:gd name="adj1" fmla="val 50000"/>
              <a:gd name="adj2" fmla="val 262500"/>
            </a:avLst>
          </a:prstGeom>
          <a:solidFill>
            <a:srgbClr val="C61204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84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43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43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184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84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84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84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84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84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84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43" grpId="0" autoUpdateAnimBg="0"/>
      <p:bldP spid="184344" grpId="0" build="p" autoUpdateAnimBg="0"/>
      <p:bldP spid="184346" grpId="0" animBg="1"/>
      <p:bldP spid="184347" grpId="0" animBg="1"/>
      <p:bldP spid="184348" grpId="0" animBg="1"/>
      <p:bldP spid="184349" grpId="0" animBg="1"/>
      <p:bldP spid="184350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2">
            <a:extLst>
              <a:ext uri="{FF2B5EF4-FFF2-40B4-BE49-F238E27FC236}">
                <a16:creationId xmlns:a16="http://schemas.microsoft.com/office/drawing/2014/main" id="{EE35762B-7381-7ED6-76C6-2C5EB1F969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sz="6600" dirty="0" err="1"/>
              <a:t>Fungsi</a:t>
            </a:r>
            <a:r>
              <a:rPr lang="en-US" altLang="en-US" sz="6600" dirty="0"/>
              <a:t> </a:t>
            </a:r>
            <a:r>
              <a:rPr lang="en-US" altLang="en-US" sz="6600" dirty="0" err="1"/>
              <a:t>Implikasi</a:t>
            </a:r>
            <a:r>
              <a:rPr lang="en-US" altLang="en-US" sz="6600" dirty="0"/>
              <a:t> DOT (Product)</a:t>
            </a: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2F2754C5-B4BD-3A79-EAE0-08FEC7C457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000" kern="1200">
                <a:solidFill>
                  <a:srgbClr val="FFFFFF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fld id="{32B88744-BE2A-4BD9-A82F-D91F3C115529}" type="slidenum">
              <a:rPr lang="en-US" altLang="en-US" smtClean="0"/>
              <a:pPr/>
              <a:t>33</a:t>
            </a:fld>
            <a:endParaRPr lang="en-US" altLang="en-US">
              <a:latin typeface="Garamond" panose="02020404030301010803" pitchFamily="18" charset="0"/>
            </a:endParaRPr>
          </a:p>
        </p:txBody>
      </p:sp>
      <p:sp>
        <p:nvSpPr>
          <p:cNvPr id="185347" name="Rectangle 3">
            <a:extLst>
              <a:ext uri="{FF2B5EF4-FFF2-40B4-BE49-F238E27FC236}">
                <a16:creationId xmlns:a16="http://schemas.microsoft.com/office/drawing/2014/main" id="{EF7D28F1-06AA-9705-B069-1456EF12754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838200" y="1462882"/>
            <a:ext cx="8229600" cy="682625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90488" indent="-90488" fontAlgn="auto">
              <a:lnSpc>
                <a:spcPct val="100000"/>
              </a:lnSpc>
            </a:pPr>
            <a:r>
              <a:rPr lang="en-AU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Fungsi</a:t>
            </a:r>
            <a:r>
              <a:rPr lang="en-AU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en-AU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ini</a:t>
            </a:r>
            <a:r>
              <a:rPr lang="en-AU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en-AU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akan</a:t>
            </a:r>
            <a:r>
              <a:rPr lang="en-AU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en-AU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menskala</a:t>
            </a:r>
            <a:r>
              <a:rPr lang="en-AU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output </a:t>
            </a:r>
            <a:r>
              <a:rPr lang="en-AU" altLang="en-US" sz="1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himpunan</a:t>
            </a:r>
            <a:r>
              <a:rPr lang="en-AU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fuzzy</a:t>
            </a:r>
            <a:endParaRPr lang="en-US" altLang="en-US" sz="18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grpSp>
        <p:nvGrpSpPr>
          <p:cNvPr id="185348" name="Group 4">
            <a:extLst>
              <a:ext uri="{FF2B5EF4-FFF2-40B4-BE49-F238E27FC236}">
                <a16:creationId xmlns:a16="http://schemas.microsoft.com/office/drawing/2014/main" id="{B1D58F05-05F0-4056-BC67-FE1967AD9BC3}"/>
              </a:ext>
            </a:extLst>
          </p:cNvPr>
          <p:cNvGrpSpPr>
            <a:grpSpLocks/>
          </p:cNvGrpSpPr>
          <p:nvPr/>
        </p:nvGrpSpPr>
        <p:grpSpPr bwMode="auto">
          <a:xfrm>
            <a:off x="1766889" y="2003425"/>
            <a:ext cx="8658225" cy="3900488"/>
            <a:chOff x="153" y="1262"/>
            <a:chExt cx="5454" cy="2457"/>
          </a:xfrm>
        </p:grpSpPr>
        <p:sp>
          <p:nvSpPr>
            <p:cNvPr id="41997" name="Rectangle 5">
              <a:extLst>
                <a:ext uri="{FF2B5EF4-FFF2-40B4-BE49-F238E27FC236}">
                  <a16:creationId xmlns:a16="http://schemas.microsoft.com/office/drawing/2014/main" id="{689C99CE-D1A5-8F70-7692-0CFFA719C3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" y="1262"/>
              <a:ext cx="5454" cy="2457"/>
            </a:xfrm>
            <a:prstGeom prst="rect">
              <a:avLst/>
            </a:prstGeom>
            <a:solidFill>
              <a:srgbClr val="FFFF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1998" name="AutoShape 6">
              <a:extLst>
                <a:ext uri="{FF2B5EF4-FFF2-40B4-BE49-F238E27FC236}">
                  <a16:creationId xmlns:a16="http://schemas.microsoft.com/office/drawing/2014/main" id="{F21BE3C1-B05A-7D1B-C469-91D5068FDF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3" y="2244"/>
              <a:ext cx="614" cy="979"/>
            </a:xfrm>
            <a:prstGeom prst="triangle">
              <a:avLst>
                <a:gd name="adj" fmla="val 50000"/>
              </a:avLst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1999" name="AutoShape 7">
              <a:extLst>
                <a:ext uri="{FF2B5EF4-FFF2-40B4-BE49-F238E27FC236}">
                  <a16:creationId xmlns:a16="http://schemas.microsoft.com/office/drawing/2014/main" id="{28AD1C0B-E7FD-D458-C911-41EDC12E13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8" y="2244"/>
              <a:ext cx="467" cy="979"/>
            </a:xfrm>
            <a:prstGeom prst="triangle">
              <a:avLst>
                <a:gd name="adj" fmla="val 50000"/>
              </a:avLst>
            </a:prstGeom>
            <a:solidFill>
              <a:srgbClr val="C0C0C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2000" name="Line 8">
              <a:extLst>
                <a:ext uri="{FF2B5EF4-FFF2-40B4-BE49-F238E27FC236}">
                  <a16:creationId xmlns:a16="http://schemas.microsoft.com/office/drawing/2014/main" id="{D56EFDF0-FE8C-5F12-F375-937F21CB17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5" y="3212"/>
              <a:ext cx="1106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01" name="Line 9">
              <a:extLst>
                <a:ext uri="{FF2B5EF4-FFF2-40B4-BE49-F238E27FC236}">
                  <a16:creationId xmlns:a16="http://schemas.microsoft.com/office/drawing/2014/main" id="{E2C3D580-F74C-9EB1-76AE-8C36E9E33BC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5" y="2025"/>
              <a:ext cx="1" cy="117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02" name="Line 10">
              <a:extLst>
                <a:ext uri="{FF2B5EF4-FFF2-40B4-BE49-F238E27FC236}">
                  <a16:creationId xmlns:a16="http://schemas.microsoft.com/office/drawing/2014/main" id="{7F9BD189-B806-65E2-53AA-1411346ED6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92" y="3228"/>
              <a:ext cx="1106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03" name="Line 11">
              <a:extLst>
                <a:ext uri="{FF2B5EF4-FFF2-40B4-BE49-F238E27FC236}">
                  <a16:creationId xmlns:a16="http://schemas.microsoft.com/office/drawing/2014/main" id="{DE2DA251-B1FF-DD4D-A67A-7EB0971C6F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93" y="2041"/>
              <a:ext cx="1" cy="117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04" name="Line 12">
              <a:extLst>
                <a:ext uri="{FF2B5EF4-FFF2-40B4-BE49-F238E27FC236}">
                  <a16:creationId xmlns:a16="http://schemas.microsoft.com/office/drawing/2014/main" id="{ED78A58A-6BEC-1F56-77EB-00629F68EE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61" y="3223"/>
              <a:ext cx="1106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05" name="Line 13">
              <a:extLst>
                <a:ext uri="{FF2B5EF4-FFF2-40B4-BE49-F238E27FC236}">
                  <a16:creationId xmlns:a16="http://schemas.microsoft.com/office/drawing/2014/main" id="{83E2C932-9F58-8274-BBEE-664B158FF00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61" y="2047"/>
              <a:ext cx="1" cy="117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06" name="AutoShape 14">
              <a:extLst>
                <a:ext uri="{FF2B5EF4-FFF2-40B4-BE49-F238E27FC236}">
                  <a16:creationId xmlns:a16="http://schemas.microsoft.com/office/drawing/2014/main" id="{D83F258F-501E-336C-7D8E-8F4930C5A9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40" y="2041"/>
              <a:ext cx="52" cy="1238"/>
            </a:xfrm>
            <a:prstGeom prst="chevron">
              <a:avLst>
                <a:gd name="adj" fmla="val 87713"/>
              </a:avLst>
            </a:prstGeom>
            <a:solidFill>
              <a:srgbClr val="FFFFFF"/>
            </a:solidFill>
            <a:ln w="9525">
              <a:solidFill>
                <a:srgbClr val="8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2007" name="Freeform 15">
              <a:extLst>
                <a:ext uri="{FF2B5EF4-FFF2-40B4-BE49-F238E27FC236}">
                  <a16:creationId xmlns:a16="http://schemas.microsoft.com/office/drawing/2014/main" id="{A5870962-E19C-CB71-991A-4CDDBDFAB4A0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802" y="2218"/>
              <a:ext cx="600" cy="990"/>
            </a:xfrm>
            <a:custGeom>
              <a:avLst/>
              <a:gdLst>
                <a:gd name="T0" fmla="*/ 0 w 1868"/>
                <a:gd name="T1" fmla="*/ 11 h 1319"/>
                <a:gd name="T2" fmla="*/ 24 w 1868"/>
                <a:gd name="T3" fmla="*/ 32 h 1319"/>
                <a:gd name="T4" fmla="*/ 50 w 1868"/>
                <a:gd name="T5" fmla="*/ 205 h 1319"/>
                <a:gd name="T6" fmla="*/ 87 w 1868"/>
                <a:gd name="T7" fmla="*/ 568 h 1319"/>
                <a:gd name="T8" fmla="*/ 119 w 1868"/>
                <a:gd name="T9" fmla="*/ 708 h 1319"/>
                <a:gd name="T10" fmla="*/ 158 w 1868"/>
                <a:gd name="T11" fmla="*/ 737 h 1319"/>
                <a:gd name="T12" fmla="*/ 193 w 1868"/>
                <a:gd name="T13" fmla="*/ 742 h 131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68" h="1319">
                  <a:moveTo>
                    <a:pt x="0" y="19"/>
                  </a:moveTo>
                  <a:cubicBezTo>
                    <a:pt x="76" y="9"/>
                    <a:pt x="152" y="0"/>
                    <a:pt x="233" y="57"/>
                  </a:cubicBezTo>
                  <a:cubicBezTo>
                    <a:pt x="314" y="114"/>
                    <a:pt x="387" y="205"/>
                    <a:pt x="488" y="364"/>
                  </a:cubicBezTo>
                  <a:cubicBezTo>
                    <a:pt x="589" y="523"/>
                    <a:pt x="729" y="860"/>
                    <a:pt x="840" y="1009"/>
                  </a:cubicBezTo>
                  <a:cubicBezTo>
                    <a:pt x="951" y="1158"/>
                    <a:pt x="1040" y="1207"/>
                    <a:pt x="1155" y="1257"/>
                  </a:cubicBezTo>
                  <a:cubicBezTo>
                    <a:pt x="1270" y="1307"/>
                    <a:pt x="1411" y="1299"/>
                    <a:pt x="1530" y="1309"/>
                  </a:cubicBezTo>
                  <a:cubicBezTo>
                    <a:pt x="1649" y="1319"/>
                    <a:pt x="1812" y="1316"/>
                    <a:pt x="1868" y="1317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08" name="Text Box 16">
              <a:extLst>
                <a:ext uri="{FF2B5EF4-FFF2-40B4-BE49-F238E27FC236}">
                  <a16:creationId xmlns:a16="http://schemas.microsoft.com/office/drawing/2014/main" id="{6CE352AF-5848-E1F7-7731-77D4D340EE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8" y="2058"/>
              <a:ext cx="530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0" rIns="1800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AU" altLang="en-US">
                  <a:solidFill>
                    <a:srgbClr val="660033"/>
                  </a:solidFill>
                  <a:latin typeface="Arial Narrow" panose="020B0606020202030204" pitchFamily="34" charset="0"/>
                </a:rPr>
                <a:t>NAIK</a:t>
              </a:r>
              <a:endParaRPr lang="en-US" altLang="en-US">
                <a:solidFill>
                  <a:srgbClr val="660033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42009" name="Line 17">
              <a:extLst>
                <a:ext uri="{FF2B5EF4-FFF2-40B4-BE49-F238E27FC236}">
                  <a16:creationId xmlns:a16="http://schemas.microsoft.com/office/drawing/2014/main" id="{8529DF09-0FDD-CD92-2AD2-F04BFBC9C2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0" y="3223"/>
              <a:ext cx="1106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10" name="Line 18">
              <a:extLst>
                <a:ext uri="{FF2B5EF4-FFF2-40B4-BE49-F238E27FC236}">
                  <a16:creationId xmlns:a16="http://schemas.microsoft.com/office/drawing/2014/main" id="{6E72156D-878D-FF8A-276B-4490A72D024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71" y="2047"/>
              <a:ext cx="1" cy="117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11" name="Line 19">
              <a:extLst>
                <a:ext uri="{FF2B5EF4-FFF2-40B4-BE49-F238E27FC236}">
                  <a16:creationId xmlns:a16="http://schemas.microsoft.com/office/drawing/2014/main" id="{C25DF602-EBC3-0160-3D30-F236C40E4A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02" y="2228"/>
              <a:ext cx="1" cy="97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12" name="Text Box 20">
              <a:extLst>
                <a:ext uri="{FF2B5EF4-FFF2-40B4-BE49-F238E27FC236}">
                  <a16:creationId xmlns:a16="http://schemas.microsoft.com/office/drawing/2014/main" id="{A1D34FD1-BC63-E017-C7CB-8B3C6D5CE4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" y="3309"/>
              <a:ext cx="5184" cy="267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63500" dir="3187806" algn="ctr" rotWithShape="0">
                <a:srgbClr val="808080"/>
              </a:outerShdw>
            </a:effec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AU" altLang="en-US" sz="1600" b="1">
                  <a:solidFill>
                    <a:srgbClr val="FFFF99"/>
                  </a:solidFill>
                  <a:latin typeface="Times New Roman" panose="02020603050405020304" pitchFamily="18" charset="0"/>
                </a:rPr>
                <a:t>IF Permintaan NAIK AND Persediaan SEDANG THEN Produksi Barang NORMAL</a:t>
              </a:r>
              <a:endParaRPr lang="en-US" altLang="en-US" sz="1600" b="1">
                <a:solidFill>
                  <a:srgbClr val="FFFF99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2013" name="Text Box 21">
              <a:extLst>
                <a:ext uri="{FF2B5EF4-FFF2-40B4-BE49-F238E27FC236}">
                  <a16:creationId xmlns:a16="http://schemas.microsoft.com/office/drawing/2014/main" id="{257C8012-367D-424E-FD6B-D5BADDB66F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31" y="2025"/>
              <a:ext cx="669" cy="2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0" rIns="1800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AU" altLang="en-US">
                  <a:solidFill>
                    <a:schemeClr val="tx2"/>
                  </a:solidFill>
                  <a:latin typeface="Arial Narrow" panose="020B0606020202030204" pitchFamily="34" charset="0"/>
                </a:rPr>
                <a:t>SEDANG</a:t>
              </a:r>
              <a:endParaRPr lang="en-US" altLang="en-US">
                <a:solidFill>
                  <a:schemeClr val="tx2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42014" name="Text Box 22">
              <a:extLst>
                <a:ext uri="{FF2B5EF4-FFF2-40B4-BE49-F238E27FC236}">
                  <a16:creationId xmlns:a16="http://schemas.microsoft.com/office/drawing/2014/main" id="{A901051D-A160-B49D-E58D-EBAB258674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95" y="2013"/>
              <a:ext cx="553" cy="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0" rIns="1800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AU" altLang="en-US">
                  <a:solidFill>
                    <a:srgbClr val="4B3591"/>
                  </a:solidFill>
                  <a:latin typeface="Arial Narrow" panose="020B0606020202030204" pitchFamily="34" charset="0"/>
                </a:rPr>
                <a:t>NORMAL</a:t>
              </a:r>
              <a:endParaRPr lang="en-US" altLang="en-US">
                <a:solidFill>
                  <a:srgbClr val="4B3591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42015" name="Text Box 23">
              <a:extLst>
                <a:ext uri="{FF2B5EF4-FFF2-40B4-BE49-F238E27FC236}">
                  <a16:creationId xmlns:a16="http://schemas.microsoft.com/office/drawing/2014/main" id="{5DD40893-8954-0D8A-F151-B8104B7906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0" y="1464"/>
              <a:ext cx="877" cy="490"/>
            </a:xfrm>
            <a:prstGeom prst="rect">
              <a:avLst/>
            </a:prstGeom>
            <a:solidFill>
              <a:srgbClr val="99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18000" tIns="0" rIns="1800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AU" altLang="en-US" b="1" i="1">
                  <a:solidFill>
                    <a:srgbClr val="000099"/>
                  </a:solidFill>
                  <a:latin typeface="Arial Narrow" panose="020B0606020202030204" pitchFamily="34" charset="0"/>
                </a:rPr>
                <a:t>Aplikasi Operator AND</a:t>
              </a:r>
              <a:endParaRPr lang="en-US" altLang="en-US" b="1" i="1">
                <a:solidFill>
                  <a:srgbClr val="000099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42016" name="Text Box 24">
              <a:extLst>
                <a:ext uri="{FF2B5EF4-FFF2-40B4-BE49-F238E27FC236}">
                  <a16:creationId xmlns:a16="http://schemas.microsoft.com/office/drawing/2014/main" id="{A1CEBFB5-4DA2-B88C-63C0-00900DE4D8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2" y="1464"/>
              <a:ext cx="1440" cy="432"/>
            </a:xfrm>
            <a:prstGeom prst="rect">
              <a:avLst/>
            </a:prstGeom>
            <a:solidFill>
              <a:srgbClr val="9999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18000" tIns="0" rIns="1800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AU" altLang="en-US" b="1" i="1">
                  <a:solidFill>
                    <a:srgbClr val="000099"/>
                  </a:solidFill>
                  <a:latin typeface="Arial Narrow" panose="020B0606020202030204" pitchFamily="34" charset="0"/>
                </a:rPr>
                <a:t>Aplikasi fungsi implikasi Dot (Product)</a:t>
              </a:r>
              <a:endParaRPr lang="en-US" altLang="en-US" b="1" i="1">
                <a:solidFill>
                  <a:srgbClr val="000099"/>
                </a:solidFill>
                <a:latin typeface="Arial Narrow" panose="020B0606020202030204" pitchFamily="34" charset="0"/>
              </a:endParaRPr>
            </a:p>
          </p:txBody>
        </p:sp>
      </p:grpSp>
      <p:sp>
        <p:nvSpPr>
          <p:cNvPr id="185369" name="AutoShape 25">
            <a:extLst>
              <a:ext uri="{FF2B5EF4-FFF2-40B4-BE49-F238E27FC236}">
                <a16:creationId xmlns:a16="http://schemas.microsoft.com/office/drawing/2014/main" id="{5E51E0A0-10A9-79A5-B6E3-565E31317D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51901" y="4495801"/>
            <a:ext cx="739775" cy="620713"/>
          </a:xfrm>
          <a:prstGeom prst="triangle">
            <a:avLst>
              <a:gd name="adj" fmla="val 50000"/>
            </a:avLst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85370" name="AutoShape 26">
            <a:extLst>
              <a:ext uri="{FF2B5EF4-FFF2-40B4-BE49-F238E27FC236}">
                <a16:creationId xmlns:a16="http://schemas.microsoft.com/office/drawing/2014/main" id="{6FAE972E-AB7D-2710-E38B-0DD6221012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5650" y="4495800"/>
            <a:ext cx="209550" cy="609600"/>
          </a:xfrm>
          <a:prstGeom prst="upArrow">
            <a:avLst>
              <a:gd name="adj1" fmla="val 50000"/>
              <a:gd name="adj2" fmla="val 72727"/>
            </a:avLst>
          </a:prstGeom>
          <a:solidFill>
            <a:srgbClr val="C61204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85371" name="AutoShape 27">
            <a:extLst>
              <a:ext uri="{FF2B5EF4-FFF2-40B4-BE49-F238E27FC236}">
                <a16:creationId xmlns:a16="http://schemas.microsoft.com/office/drawing/2014/main" id="{26048795-7821-74C8-1D55-17C09ADFD2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0900" y="4438650"/>
            <a:ext cx="2895600" cy="171450"/>
          </a:xfrm>
          <a:prstGeom prst="rightArrow">
            <a:avLst>
              <a:gd name="adj1" fmla="val 50000"/>
              <a:gd name="adj2" fmla="val 422222"/>
            </a:avLst>
          </a:prstGeom>
          <a:solidFill>
            <a:srgbClr val="C61204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85372" name="AutoShape 28">
            <a:extLst>
              <a:ext uri="{FF2B5EF4-FFF2-40B4-BE49-F238E27FC236}">
                <a16:creationId xmlns:a16="http://schemas.microsoft.com/office/drawing/2014/main" id="{8FEC6F63-B643-DAB8-F92D-AE872D6943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9650" y="3924300"/>
            <a:ext cx="228600" cy="1181100"/>
          </a:xfrm>
          <a:prstGeom prst="upArrow">
            <a:avLst>
              <a:gd name="adj1" fmla="val 50000"/>
              <a:gd name="adj2" fmla="val 129167"/>
            </a:avLst>
          </a:prstGeom>
          <a:solidFill>
            <a:srgbClr val="00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85373" name="AutoShape 29">
            <a:extLst>
              <a:ext uri="{FF2B5EF4-FFF2-40B4-BE49-F238E27FC236}">
                <a16:creationId xmlns:a16="http://schemas.microsoft.com/office/drawing/2014/main" id="{ACE21B70-C37E-1842-1DAE-710A97E498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4900" y="3810000"/>
            <a:ext cx="1295400" cy="209550"/>
          </a:xfrm>
          <a:prstGeom prst="rightArrow">
            <a:avLst>
              <a:gd name="adj1" fmla="val 50000"/>
              <a:gd name="adj2" fmla="val 154545"/>
            </a:avLst>
          </a:prstGeom>
          <a:solidFill>
            <a:srgbClr val="0066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85374" name="AutoShape 30">
            <a:extLst>
              <a:ext uri="{FF2B5EF4-FFF2-40B4-BE49-F238E27FC236}">
                <a16:creationId xmlns:a16="http://schemas.microsoft.com/office/drawing/2014/main" id="{0272F73E-560C-FCA5-6CDD-7B5EE73D1F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6500" y="4438650"/>
            <a:ext cx="2895600" cy="171450"/>
          </a:xfrm>
          <a:prstGeom prst="rightArrow">
            <a:avLst>
              <a:gd name="adj1" fmla="val 50000"/>
              <a:gd name="adj2" fmla="val 422222"/>
            </a:avLst>
          </a:prstGeom>
          <a:solidFill>
            <a:srgbClr val="C61204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85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5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5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185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85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85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85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85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85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85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346" grpId="0" autoUpdateAnimBg="0"/>
      <p:bldP spid="185347" grpId="0" build="p" autoUpdateAnimBg="0"/>
      <p:bldP spid="185369" grpId="0" animBg="1"/>
      <p:bldP spid="185370" grpId="0" animBg="1"/>
      <p:bldP spid="185371" grpId="0" animBg="1"/>
      <p:bldP spid="185372" grpId="0" animBg="1"/>
      <p:bldP spid="185373" grpId="0" animBg="1"/>
      <p:bldP spid="185374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A3841-4C80-4B77-6FC5-67592C8FB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v-SE" sz="7200" dirty="0">
                <a:solidFill>
                  <a:schemeClr val="bg1">
                    <a:lumMod val="95000"/>
                  </a:schemeClr>
                </a:solidFill>
                <a:latin typeface="Tw Cen MT Condensed Extra Bold" panose="020B0803020202020204" pitchFamily="34" charset="0"/>
              </a:rPr>
              <a:t>Sistem Inferensi Fuzzy</a:t>
            </a:r>
            <a:endParaRPr lang="en-US" sz="66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B2B842-776E-63C7-FA6E-F24DFA391E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34947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7" name="Text Box 54">
            <a:extLst>
              <a:ext uri="{FF2B5EF4-FFF2-40B4-BE49-F238E27FC236}">
                <a16:creationId xmlns:a16="http://schemas.microsoft.com/office/drawing/2014/main" id="{2A05CB53-F8B7-8A53-4C81-33BED03ED0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720" y="1623834"/>
            <a:ext cx="11049000" cy="70788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en-US"/>
            </a:defPPr>
            <a:lvl1pPr eaLnBrk="1" hangingPunct="1">
              <a:defRPr sz="2000">
                <a:latin typeface="+mn-lt"/>
              </a:defRPr>
            </a:lvl1pPr>
            <a:lvl2pPr marL="742950" indent="-285750"/>
            <a:lvl3pPr marL="1143000" indent="-228600"/>
            <a:lvl4pPr marL="1600200" indent="-228600"/>
            <a:lvl5pPr marL="2057400" indent="-228600"/>
            <a:lvl6pPr marL="2514600" indent="-228600" fontAlgn="base">
              <a:spcBef>
                <a:spcPct val="0"/>
              </a:spcBef>
              <a:spcAft>
                <a:spcPct val="0"/>
              </a:spcAft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</a:lvl9pPr>
          </a:lstStyle>
          <a:p>
            <a:r>
              <a:rPr lang="en-US" altLang="en-US" dirty="0" err="1"/>
              <a:t>Sistem</a:t>
            </a:r>
            <a:r>
              <a:rPr lang="en-US" altLang="en-US" dirty="0"/>
              <a:t> </a:t>
            </a:r>
            <a:r>
              <a:rPr lang="en-US" altLang="en-US" dirty="0" err="1"/>
              <a:t>inferensi</a:t>
            </a:r>
            <a:r>
              <a:rPr lang="en-US" altLang="en-US" dirty="0"/>
              <a:t> fuzzy </a:t>
            </a:r>
            <a:r>
              <a:rPr lang="en-US" altLang="en-US" dirty="0" err="1"/>
              <a:t>adalah</a:t>
            </a:r>
            <a:r>
              <a:rPr lang="en-US" altLang="en-US" dirty="0"/>
              <a:t> </a:t>
            </a:r>
            <a:r>
              <a:rPr lang="en-US" altLang="en-US" dirty="0" err="1"/>
              <a:t>cara</a:t>
            </a:r>
            <a:r>
              <a:rPr lang="en-US" altLang="en-US" dirty="0"/>
              <a:t> </a:t>
            </a:r>
            <a:r>
              <a:rPr lang="en-US" altLang="en-US" dirty="0" err="1"/>
              <a:t>memetakan</a:t>
            </a:r>
            <a:r>
              <a:rPr lang="en-US" altLang="en-US" dirty="0"/>
              <a:t> </a:t>
            </a:r>
            <a:r>
              <a:rPr lang="en-US" altLang="en-US" dirty="0" err="1"/>
              <a:t>ruang</a:t>
            </a:r>
            <a:r>
              <a:rPr lang="en-US" altLang="en-US" dirty="0"/>
              <a:t> input </a:t>
            </a:r>
            <a:r>
              <a:rPr lang="en-US" altLang="en-US" dirty="0" err="1"/>
              <a:t>menuju</a:t>
            </a:r>
            <a:r>
              <a:rPr lang="en-US" altLang="en-US" dirty="0"/>
              <a:t> </a:t>
            </a:r>
            <a:r>
              <a:rPr lang="en-US" altLang="en-US" dirty="0" err="1"/>
              <a:t>ruang</a:t>
            </a:r>
            <a:r>
              <a:rPr lang="en-US" altLang="en-US" dirty="0"/>
              <a:t> output </a:t>
            </a:r>
            <a:r>
              <a:rPr lang="en-US" altLang="en-US" dirty="0" err="1"/>
              <a:t>menggunakan</a:t>
            </a:r>
            <a:r>
              <a:rPr lang="en-US" altLang="en-US" dirty="0"/>
              <a:t> </a:t>
            </a:r>
            <a:r>
              <a:rPr lang="en-US" altLang="en-US" dirty="0" err="1"/>
              <a:t>logika</a:t>
            </a:r>
            <a:r>
              <a:rPr lang="en-US" altLang="en-US" dirty="0"/>
              <a:t> fuzzy. </a:t>
            </a:r>
          </a:p>
        </p:txBody>
      </p:sp>
      <p:pic>
        <p:nvPicPr>
          <p:cNvPr id="57351" name="Picture 57">
            <a:extLst>
              <a:ext uri="{FF2B5EF4-FFF2-40B4-BE49-F238E27FC236}">
                <a16:creationId xmlns:a16="http://schemas.microsoft.com/office/drawing/2014/main" id="{1B10C654-46E3-A54B-8B4E-7F5183AEA4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3429000"/>
            <a:ext cx="6781800" cy="26680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7349" name="Title 1">
            <a:extLst>
              <a:ext uri="{FF2B5EF4-FFF2-40B4-BE49-F238E27FC236}">
                <a16:creationId xmlns:a16="http://schemas.microsoft.com/office/drawing/2014/main" id="{07A6EA8A-8BF4-A807-F07A-76B5243525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sz="6600" dirty="0" err="1"/>
              <a:t>Sistem</a:t>
            </a:r>
            <a:r>
              <a:rPr lang="en-US" altLang="en-US" sz="6600" dirty="0"/>
              <a:t> </a:t>
            </a:r>
            <a:r>
              <a:rPr lang="en-US" altLang="en-US" sz="6600" dirty="0" err="1"/>
              <a:t>Inferensi</a:t>
            </a:r>
            <a:r>
              <a:rPr lang="en-US" altLang="en-US" sz="6600" dirty="0"/>
              <a:t> Fuzzy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383D7D-3DA2-FC82-BF0A-A2ACFFDDCBF7}"/>
              </a:ext>
            </a:extLst>
          </p:cNvPr>
          <p:cNvSpPr txBox="1"/>
          <p:nvPr/>
        </p:nvSpPr>
        <p:spPr>
          <a:xfrm>
            <a:off x="7086600" y="5234166"/>
            <a:ext cx="384048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US" altLang="en-US" sz="1400" dirty="0">
                <a:solidFill>
                  <a:srgbClr val="FF3300"/>
                </a:solidFill>
                <a:latin typeface="+mn-lt"/>
              </a:rPr>
              <a:t>Basis </a:t>
            </a:r>
            <a:r>
              <a:rPr lang="en-US" altLang="en-US" sz="1400" dirty="0" err="1">
                <a:solidFill>
                  <a:srgbClr val="FF3300"/>
                </a:solidFill>
                <a:latin typeface="+mn-lt"/>
              </a:rPr>
              <a:t>Pengetahuan</a:t>
            </a:r>
            <a:r>
              <a:rPr lang="en-US" altLang="en-US" sz="1400" dirty="0">
                <a:latin typeface="+mn-lt"/>
              </a:rPr>
              <a:t> : </a:t>
            </a:r>
          </a:p>
          <a:p>
            <a:pPr eaLnBrk="1" hangingPunct="1"/>
            <a:r>
              <a:rPr lang="en-US" altLang="en-US" sz="1400" dirty="0" err="1">
                <a:latin typeface="+mn-lt"/>
              </a:rPr>
              <a:t>kumpulan</a:t>
            </a:r>
            <a:r>
              <a:rPr lang="en-US" altLang="en-US" sz="1400" dirty="0">
                <a:latin typeface="+mn-lt"/>
              </a:rPr>
              <a:t> rule-rule </a:t>
            </a:r>
            <a:r>
              <a:rPr lang="en-US" altLang="en-US" sz="1400" dirty="0" err="1">
                <a:latin typeface="+mn-lt"/>
              </a:rPr>
              <a:t>dalam</a:t>
            </a:r>
            <a:r>
              <a:rPr lang="en-US" altLang="en-US" sz="1400" dirty="0">
                <a:latin typeface="+mn-lt"/>
              </a:rPr>
              <a:t> </a:t>
            </a:r>
            <a:r>
              <a:rPr lang="en-US" altLang="en-US" sz="1400" dirty="0" err="1">
                <a:latin typeface="+mn-lt"/>
              </a:rPr>
              <a:t>bentuk</a:t>
            </a:r>
            <a:r>
              <a:rPr lang="en-US" altLang="en-US" sz="1400" dirty="0">
                <a:latin typeface="+mn-lt"/>
              </a:rPr>
              <a:t> </a:t>
            </a:r>
            <a:r>
              <a:rPr lang="en-US" altLang="en-US" sz="1400" dirty="0" err="1">
                <a:latin typeface="+mn-lt"/>
              </a:rPr>
              <a:t>pernyataan</a:t>
            </a:r>
            <a:r>
              <a:rPr lang="en-US" altLang="en-US" sz="1400" dirty="0">
                <a:latin typeface="+mn-lt"/>
              </a:rPr>
              <a:t> IF-THEN yang </a:t>
            </a:r>
            <a:r>
              <a:rPr lang="en-US" altLang="en-US" sz="1400" dirty="0" err="1">
                <a:latin typeface="+mn-lt"/>
              </a:rPr>
              <a:t>dibuat</a:t>
            </a:r>
            <a:r>
              <a:rPr lang="en-US" altLang="en-US" sz="1400" dirty="0">
                <a:latin typeface="+mn-lt"/>
              </a:rPr>
              <a:t> oleh </a:t>
            </a:r>
            <a:r>
              <a:rPr lang="en-US" altLang="en-US" sz="1400" dirty="0" err="1">
                <a:latin typeface="+mn-lt"/>
              </a:rPr>
              <a:t>pakar</a:t>
            </a:r>
            <a:r>
              <a:rPr lang="en-US" altLang="en-US" sz="1400" dirty="0">
                <a:latin typeface="+mn-lt"/>
              </a:rPr>
              <a:t> </a:t>
            </a:r>
            <a:r>
              <a:rPr lang="en-US" altLang="en-US" sz="1400" dirty="0" err="1">
                <a:latin typeface="+mn-lt"/>
              </a:rPr>
              <a:t>dibidangnya</a:t>
            </a:r>
            <a:r>
              <a:rPr lang="en-US" altLang="en-US" sz="1400" dirty="0">
                <a:latin typeface="+mn-lt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C76D41-8D71-46FC-2957-C74FADDE3694}"/>
              </a:ext>
            </a:extLst>
          </p:cNvPr>
          <p:cNvSpPr txBox="1"/>
          <p:nvPr/>
        </p:nvSpPr>
        <p:spPr>
          <a:xfrm>
            <a:off x="381000" y="3048000"/>
            <a:ext cx="23622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eaLnBrk="1" hangingPunct="1">
              <a:defRPr sz="1400">
                <a:solidFill>
                  <a:srgbClr val="FF3300"/>
                </a:solidFill>
                <a:latin typeface="+mn-lt"/>
              </a:defRPr>
            </a:lvl1pPr>
          </a:lstStyle>
          <a:p>
            <a:r>
              <a:rPr lang="en-US" altLang="en-US" dirty="0" err="1"/>
              <a:t>Fuzzifikasi</a:t>
            </a:r>
            <a:r>
              <a:rPr lang="en-US" altLang="en-US" dirty="0"/>
              <a:t>	: </a:t>
            </a:r>
            <a:r>
              <a:rPr lang="en-US" altLang="en-US" dirty="0">
                <a:solidFill>
                  <a:schemeClr val="tx1"/>
                </a:solidFill>
              </a:rPr>
              <a:t>proses </a:t>
            </a:r>
            <a:r>
              <a:rPr lang="en-US" altLang="en-US" dirty="0" err="1">
                <a:solidFill>
                  <a:schemeClr val="tx1"/>
                </a:solidFill>
              </a:rPr>
              <a:t>untuk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mengubah</a:t>
            </a:r>
            <a:r>
              <a:rPr lang="en-US" altLang="en-US" dirty="0">
                <a:solidFill>
                  <a:schemeClr val="tx1"/>
                </a:solidFill>
              </a:rPr>
              <a:t> input </a:t>
            </a:r>
            <a:r>
              <a:rPr lang="en-US" altLang="en-US" dirty="0" err="1">
                <a:solidFill>
                  <a:schemeClr val="tx1"/>
                </a:solidFill>
              </a:rPr>
              <a:t>sistem</a:t>
            </a:r>
            <a:r>
              <a:rPr lang="en-US" altLang="en-US" dirty="0">
                <a:solidFill>
                  <a:schemeClr val="tx1"/>
                </a:solidFill>
              </a:rPr>
              <a:t> yang </a:t>
            </a:r>
            <a:r>
              <a:rPr lang="en-US" altLang="en-US" dirty="0" err="1">
                <a:solidFill>
                  <a:schemeClr val="tx1"/>
                </a:solidFill>
              </a:rPr>
              <a:t>mempunyai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nilai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tegas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menjadi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variabel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linguistik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menggunakan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fungsi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keanggotaan</a:t>
            </a:r>
            <a:r>
              <a:rPr lang="en-US" altLang="en-US" dirty="0">
                <a:solidFill>
                  <a:schemeClr val="tx1"/>
                </a:solidFill>
              </a:rPr>
              <a:t> yang </a:t>
            </a:r>
            <a:r>
              <a:rPr lang="en-US" altLang="en-US" dirty="0" err="1">
                <a:solidFill>
                  <a:schemeClr val="tx1"/>
                </a:solidFill>
              </a:rPr>
              <a:t>disimpan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 err="1">
                <a:solidFill>
                  <a:schemeClr val="tx1"/>
                </a:solidFill>
              </a:rPr>
              <a:t>dalam</a:t>
            </a:r>
            <a:r>
              <a:rPr lang="en-US" altLang="en-US" dirty="0">
                <a:solidFill>
                  <a:schemeClr val="tx1"/>
                </a:solidFill>
              </a:rPr>
              <a:t> basis </a:t>
            </a:r>
            <a:r>
              <a:rPr lang="en-US" altLang="en-US" dirty="0" err="1">
                <a:solidFill>
                  <a:schemeClr val="tx1"/>
                </a:solidFill>
              </a:rPr>
              <a:t>pengetahuan</a:t>
            </a:r>
            <a:r>
              <a:rPr lang="en-US" altLang="en-US" dirty="0">
                <a:solidFill>
                  <a:schemeClr val="tx1"/>
                </a:solidFill>
              </a:rPr>
              <a:t> fuzzy.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3B6E98-3D92-FE33-9565-7BB2B7A92FA6}"/>
              </a:ext>
            </a:extLst>
          </p:cNvPr>
          <p:cNvSpPr txBox="1"/>
          <p:nvPr/>
        </p:nvSpPr>
        <p:spPr>
          <a:xfrm>
            <a:off x="4267200" y="2135213"/>
            <a:ext cx="35052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/>
            <a:r>
              <a:rPr lang="en-US" altLang="en-US" sz="1400" dirty="0" err="1">
                <a:solidFill>
                  <a:srgbClr val="FF3300"/>
                </a:solidFill>
                <a:latin typeface="+mn-lt"/>
              </a:rPr>
              <a:t>Mesin</a:t>
            </a:r>
            <a:r>
              <a:rPr lang="en-US" altLang="en-US" sz="1400" dirty="0">
                <a:solidFill>
                  <a:srgbClr val="FF3300"/>
                </a:solidFill>
                <a:latin typeface="+mn-lt"/>
              </a:rPr>
              <a:t> </a:t>
            </a:r>
            <a:r>
              <a:rPr lang="en-US" altLang="en-US" sz="1400" dirty="0" err="1">
                <a:solidFill>
                  <a:srgbClr val="FF3300"/>
                </a:solidFill>
                <a:latin typeface="+mn-lt"/>
              </a:rPr>
              <a:t>inferensi</a:t>
            </a:r>
            <a:r>
              <a:rPr lang="en-US" altLang="en-US" sz="1400" dirty="0">
                <a:solidFill>
                  <a:srgbClr val="FF3300"/>
                </a:solidFill>
                <a:latin typeface="+mn-lt"/>
              </a:rPr>
              <a:t>:</a:t>
            </a:r>
            <a:r>
              <a:rPr lang="en-US" altLang="en-US" sz="1400" dirty="0">
                <a:latin typeface="+mn-lt"/>
              </a:rPr>
              <a:t> proses </a:t>
            </a:r>
            <a:r>
              <a:rPr lang="en-US" altLang="en-US" sz="1400" dirty="0" err="1">
                <a:latin typeface="+mn-lt"/>
              </a:rPr>
              <a:t>untuk</a:t>
            </a:r>
            <a:r>
              <a:rPr lang="en-US" altLang="en-US" sz="1400" dirty="0">
                <a:latin typeface="+mn-lt"/>
              </a:rPr>
              <a:t> </a:t>
            </a:r>
            <a:r>
              <a:rPr lang="en-US" altLang="en-US" sz="1400" dirty="0" err="1">
                <a:latin typeface="+mn-lt"/>
              </a:rPr>
              <a:t>mengubah</a:t>
            </a:r>
            <a:r>
              <a:rPr lang="en-US" altLang="en-US" sz="1400" dirty="0">
                <a:latin typeface="+mn-lt"/>
              </a:rPr>
              <a:t> input fuzzy </a:t>
            </a:r>
            <a:r>
              <a:rPr lang="en-US" altLang="en-US" sz="1400" dirty="0" err="1">
                <a:latin typeface="+mn-lt"/>
              </a:rPr>
              <a:t>menjadi</a:t>
            </a:r>
            <a:r>
              <a:rPr lang="en-US" altLang="en-US" sz="1400" dirty="0">
                <a:latin typeface="+mn-lt"/>
              </a:rPr>
              <a:t> output fuzzy </a:t>
            </a:r>
            <a:r>
              <a:rPr lang="en-US" altLang="en-US" sz="1400" dirty="0" err="1">
                <a:latin typeface="+mn-lt"/>
              </a:rPr>
              <a:t>dengan</a:t>
            </a:r>
            <a:r>
              <a:rPr lang="en-US" altLang="en-US" sz="1400" dirty="0">
                <a:latin typeface="+mn-lt"/>
              </a:rPr>
              <a:t> </a:t>
            </a:r>
            <a:r>
              <a:rPr lang="en-US" altLang="en-US" sz="1400" dirty="0" err="1">
                <a:latin typeface="+mn-lt"/>
              </a:rPr>
              <a:t>cara</a:t>
            </a:r>
            <a:r>
              <a:rPr lang="en-US" altLang="en-US" sz="1400" dirty="0">
                <a:latin typeface="+mn-lt"/>
              </a:rPr>
              <a:t> </a:t>
            </a:r>
            <a:r>
              <a:rPr lang="en-US" altLang="en-US" sz="1400" dirty="0" err="1">
                <a:latin typeface="+mn-lt"/>
              </a:rPr>
              <a:t>mengikuti</a:t>
            </a:r>
            <a:r>
              <a:rPr lang="en-US" altLang="en-US" sz="1400" dirty="0">
                <a:latin typeface="+mn-lt"/>
              </a:rPr>
              <a:t> </a:t>
            </a:r>
            <a:r>
              <a:rPr lang="en-US" altLang="en-US" sz="1400" dirty="0" err="1">
                <a:latin typeface="+mn-lt"/>
              </a:rPr>
              <a:t>aturan-aturan</a:t>
            </a:r>
            <a:r>
              <a:rPr lang="en-US" altLang="en-US" sz="1400" dirty="0">
                <a:latin typeface="+mn-lt"/>
              </a:rPr>
              <a:t> (</a:t>
            </a:r>
            <a:r>
              <a:rPr lang="en-US" altLang="en-US" sz="1400" i="1" dirty="0">
                <a:latin typeface="+mn-lt"/>
              </a:rPr>
              <a:t>IF-THEN Rules</a:t>
            </a:r>
            <a:r>
              <a:rPr lang="en-US" altLang="en-US" sz="1400" dirty="0">
                <a:latin typeface="+mn-lt"/>
              </a:rPr>
              <a:t>) yang </a:t>
            </a:r>
            <a:r>
              <a:rPr lang="en-US" altLang="en-US" sz="1400" dirty="0" err="1">
                <a:latin typeface="+mn-lt"/>
              </a:rPr>
              <a:t>telah</a:t>
            </a:r>
            <a:r>
              <a:rPr lang="en-US" altLang="en-US" sz="1400" dirty="0">
                <a:latin typeface="+mn-lt"/>
              </a:rPr>
              <a:t> </a:t>
            </a:r>
            <a:r>
              <a:rPr lang="en-US" altLang="en-US" sz="1400" dirty="0" err="1">
                <a:latin typeface="+mn-lt"/>
              </a:rPr>
              <a:t>ditetapkan</a:t>
            </a:r>
            <a:r>
              <a:rPr lang="en-US" altLang="en-US" sz="1400" dirty="0">
                <a:latin typeface="+mn-lt"/>
              </a:rPr>
              <a:t> pada basis </a:t>
            </a:r>
            <a:r>
              <a:rPr lang="en-US" altLang="en-US" sz="1400" dirty="0" err="1">
                <a:latin typeface="+mn-lt"/>
              </a:rPr>
              <a:t>pengetahuan</a:t>
            </a:r>
            <a:r>
              <a:rPr lang="en-US" altLang="en-US" sz="1400" dirty="0">
                <a:latin typeface="+mn-lt"/>
              </a:rPr>
              <a:t> fuzzy.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E811E5-1857-3047-D28A-15E552023144}"/>
              </a:ext>
            </a:extLst>
          </p:cNvPr>
          <p:cNvSpPr txBox="1"/>
          <p:nvPr/>
        </p:nvSpPr>
        <p:spPr>
          <a:xfrm>
            <a:off x="9448800" y="3010357"/>
            <a:ext cx="252984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US" altLang="en-US" sz="1400" dirty="0" err="1">
                <a:solidFill>
                  <a:srgbClr val="FF3300"/>
                </a:solidFill>
                <a:latin typeface="+mn-lt"/>
              </a:rPr>
              <a:t>DeFuzzifikasi</a:t>
            </a:r>
            <a:r>
              <a:rPr lang="en-US" altLang="en-US" sz="1400" dirty="0">
                <a:solidFill>
                  <a:srgbClr val="FF3300"/>
                </a:solidFill>
                <a:latin typeface="+mn-lt"/>
              </a:rPr>
              <a:t> </a:t>
            </a:r>
            <a:r>
              <a:rPr lang="en-US" altLang="en-US" sz="1400" dirty="0">
                <a:latin typeface="+mn-lt"/>
              </a:rPr>
              <a:t>: </a:t>
            </a:r>
            <a:r>
              <a:rPr lang="en-US" altLang="en-US" sz="1400" dirty="0" err="1">
                <a:latin typeface="+mn-lt"/>
              </a:rPr>
              <a:t>mengubah</a:t>
            </a:r>
            <a:r>
              <a:rPr lang="en-US" altLang="en-US" sz="1400" dirty="0">
                <a:latin typeface="+mn-lt"/>
              </a:rPr>
              <a:t> output fuzzy yang </a:t>
            </a:r>
            <a:r>
              <a:rPr lang="en-US" altLang="en-US" sz="1400" dirty="0" err="1">
                <a:latin typeface="+mn-lt"/>
              </a:rPr>
              <a:t>diperoleh</a:t>
            </a:r>
            <a:r>
              <a:rPr lang="en-US" altLang="en-US" sz="1400" dirty="0">
                <a:latin typeface="+mn-lt"/>
              </a:rPr>
              <a:t> </a:t>
            </a:r>
            <a:r>
              <a:rPr lang="en-US" altLang="en-US" sz="1400" dirty="0" err="1">
                <a:latin typeface="+mn-lt"/>
              </a:rPr>
              <a:t>dari</a:t>
            </a:r>
            <a:r>
              <a:rPr lang="en-US" altLang="en-US" sz="1400" dirty="0">
                <a:latin typeface="+mn-lt"/>
              </a:rPr>
              <a:t> </a:t>
            </a:r>
            <a:r>
              <a:rPr lang="en-US" altLang="en-US" sz="1400" dirty="0" err="1">
                <a:latin typeface="+mn-lt"/>
              </a:rPr>
              <a:t>mesin</a:t>
            </a:r>
            <a:r>
              <a:rPr lang="en-US" altLang="en-US" sz="1400" dirty="0">
                <a:latin typeface="+mn-lt"/>
              </a:rPr>
              <a:t> </a:t>
            </a:r>
            <a:r>
              <a:rPr lang="en-US" altLang="en-US" sz="1400" dirty="0" err="1">
                <a:latin typeface="+mn-lt"/>
              </a:rPr>
              <a:t>inferensi</a:t>
            </a:r>
            <a:r>
              <a:rPr lang="en-US" altLang="en-US" sz="1400" dirty="0">
                <a:latin typeface="+mn-lt"/>
              </a:rPr>
              <a:t> </a:t>
            </a:r>
            <a:r>
              <a:rPr lang="en-US" altLang="en-US" sz="1400" dirty="0" err="1">
                <a:latin typeface="+mn-lt"/>
              </a:rPr>
              <a:t>menjadi</a:t>
            </a:r>
            <a:r>
              <a:rPr lang="en-US" altLang="en-US" sz="1400" dirty="0">
                <a:latin typeface="+mn-lt"/>
              </a:rPr>
              <a:t> </a:t>
            </a:r>
            <a:r>
              <a:rPr lang="en-US" altLang="en-US" sz="1400" dirty="0" err="1">
                <a:latin typeface="+mn-lt"/>
              </a:rPr>
              <a:t>nilai</a:t>
            </a:r>
            <a:r>
              <a:rPr lang="en-US" altLang="en-US" sz="1400" dirty="0">
                <a:latin typeface="+mn-lt"/>
              </a:rPr>
              <a:t> </a:t>
            </a:r>
            <a:r>
              <a:rPr lang="en-US" altLang="en-US" sz="1400" dirty="0" err="1">
                <a:latin typeface="+mn-lt"/>
              </a:rPr>
              <a:t>tegas</a:t>
            </a:r>
            <a:r>
              <a:rPr lang="en-US" altLang="en-US" sz="1400" dirty="0">
                <a:latin typeface="+mn-lt"/>
              </a:rPr>
              <a:t> </a:t>
            </a:r>
            <a:r>
              <a:rPr lang="en-US" altLang="en-US" sz="1400" dirty="0" err="1">
                <a:latin typeface="+mn-lt"/>
              </a:rPr>
              <a:t>menggunakan</a:t>
            </a:r>
            <a:r>
              <a:rPr lang="en-US" altLang="en-US" sz="1400" dirty="0">
                <a:latin typeface="+mn-lt"/>
              </a:rPr>
              <a:t> </a:t>
            </a:r>
            <a:r>
              <a:rPr lang="en-US" altLang="en-US" sz="1400" dirty="0" err="1">
                <a:latin typeface="+mn-lt"/>
              </a:rPr>
              <a:t>fungsi</a:t>
            </a:r>
            <a:r>
              <a:rPr lang="en-US" altLang="en-US" sz="1400" dirty="0">
                <a:latin typeface="+mn-lt"/>
              </a:rPr>
              <a:t> </a:t>
            </a:r>
            <a:r>
              <a:rPr lang="en-US" altLang="en-US" sz="1400" dirty="0" err="1">
                <a:latin typeface="+mn-lt"/>
              </a:rPr>
              <a:t>keanggotaan</a:t>
            </a:r>
            <a:r>
              <a:rPr lang="en-US" altLang="en-US" sz="1400" dirty="0">
                <a:latin typeface="+mn-lt"/>
              </a:rPr>
              <a:t> yang </a:t>
            </a:r>
            <a:r>
              <a:rPr lang="en-US" altLang="en-US" sz="1400" dirty="0" err="1">
                <a:latin typeface="+mn-lt"/>
              </a:rPr>
              <a:t>sesuai</a:t>
            </a:r>
            <a:r>
              <a:rPr lang="en-US" altLang="en-US" sz="1400" dirty="0">
                <a:latin typeface="+mn-lt"/>
              </a:rPr>
              <a:t> </a:t>
            </a:r>
            <a:r>
              <a:rPr lang="en-US" altLang="en-US" sz="1400" dirty="0" err="1">
                <a:latin typeface="+mn-lt"/>
              </a:rPr>
              <a:t>dengan</a:t>
            </a:r>
            <a:r>
              <a:rPr lang="en-US" altLang="en-US" sz="1400" dirty="0">
                <a:latin typeface="+mn-lt"/>
              </a:rPr>
              <a:t> </a:t>
            </a:r>
            <a:r>
              <a:rPr lang="en-US" altLang="en-US" sz="1400" dirty="0" err="1">
                <a:latin typeface="+mn-lt"/>
              </a:rPr>
              <a:t>saat</a:t>
            </a:r>
            <a:r>
              <a:rPr lang="en-US" altLang="en-US" sz="1400" dirty="0">
                <a:latin typeface="+mn-lt"/>
              </a:rPr>
              <a:t> </a:t>
            </a:r>
            <a:r>
              <a:rPr lang="en-US" altLang="en-US" sz="1400" dirty="0" err="1">
                <a:latin typeface="+mn-lt"/>
              </a:rPr>
              <a:t>dilakukan</a:t>
            </a:r>
            <a:r>
              <a:rPr lang="en-US" altLang="en-US" sz="1400" dirty="0">
                <a:latin typeface="+mn-lt"/>
              </a:rPr>
              <a:t> </a:t>
            </a:r>
            <a:r>
              <a:rPr lang="en-US" altLang="en-US" sz="1400" dirty="0" err="1">
                <a:latin typeface="+mn-lt"/>
              </a:rPr>
              <a:t>fuzzyfikasi</a:t>
            </a:r>
            <a:r>
              <a:rPr lang="en-US" altLang="en-US" sz="1400" dirty="0">
                <a:latin typeface="+mn-lt"/>
              </a:rPr>
              <a:t>. </a:t>
            </a:r>
          </a:p>
        </p:txBody>
      </p:sp>
    </p:spTree>
  </p:cSld>
  <p:clrMapOvr>
    <a:masterClrMapping/>
  </p:clrMapOvr>
  <p:transition spd="slow">
    <p:wip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038AA-EF55-2CAF-2A64-CEB3BE62DA02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sz="6600" dirty="0" err="1"/>
              <a:t>Sistem</a:t>
            </a:r>
            <a:r>
              <a:rPr lang="en-US" altLang="en-US" sz="6600" dirty="0"/>
              <a:t> </a:t>
            </a:r>
            <a:r>
              <a:rPr lang="en-US" altLang="en-US" sz="6600" dirty="0" err="1"/>
              <a:t>Inferensi</a:t>
            </a:r>
            <a:r>
              <a:rPr lang="en-US" altLang="en-US" sz="6600" dirty="0"/>
              <a:t> Fuzzy </a:t>
            </a:r>
            <a:endParaRPr lang="en-US" sz="66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36BB9DE-8FE6-63ED-8813-CB071E63362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11126514"/>
              </p:ext>
            </p:extLst>
          </p:nvPr>
        </p:nvGraphicFramePr>
        <p:xfrm>
          <a:off x="838200" y="1825625"/>
          <a:ext cx="109728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1341661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8" descr="Oak">
            <a:extLst>
              <a:ext uri="{FF2B5EF4-FFF2-40B4-BE49-F238E27FC236}">
                <a16:creationId xmlns:a16="http://schemas.microsoft.com/office/drawing/2014/main" id="{0D1D99A0-86FB-BDC7-98A2-B5FDBF7804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sz="6600" dirty="0" err="1"/>
              <a:t>Inferensi</a:t>
            </a:r>
            <a:r>
              <a:rPr lang="en-US" altLang="en-US" sz="6600" dirty="0"/>
              <a:t> </a:t>
            </a:r>
            <a:r>
              <a:rPr lang="en-US" altLang="en-US" sz="6600" dirty="0" err="1"/>
              <a:t>Metode</a:t>
            </a:r>
            <a:r>
              <a:rPr lang="en-US" altLang="en-US" sz="6600" dirty="0"/>
              <a:t> Tsukamoto 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AFF1D95-9DF6-152D-D0A7-DF2EA44566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3693319"/>
          </a:xfrm>
          <a:noFill/>
          <a:ln>
            <a:noFill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en-US" sz="2000" dirty="0" err="1">
                <a:latin typeface="+mn-lt"/>
                <a:ea typeface="+mn-ea"/>
                <a:cs typeface="+mn-cs"/>
              </a:rPr>
              <a:t>Secara</a:t>
            </a:r>
            <a:r>
              <a:rPr lang="en-US" altLang="en-US" sz="2000" dirty="0">
                <a:latin typeface="+mn-lt"/>
                <a:ea typeface="+mn-ea"/>
                <a:cs typeface="+mn-cs"/>
              </a:rPr>
              <a:t> </a:t>
            </a:r>
            <a:r>
              <a:rPr lang="en-US" altLang="en-US" sz="2000" dirty="0" err="1">
                <a:latin typeface="+mn-lt"/>
                <a:ea typeface="+mn-ea"/>
                <a:cs typeface="+mn-cs"/>
              </a:rPr>
              <a:t>umum</a:t>
            </a:r>
            <a:r>
              <a:rPr lang="en-US" altLang="en-US" sz="2000" dirty="0">
                <a:latin typeface="+mn-lt"/>
                <a:ea typeface="+mn-ea"/>
                <a:cs typeface="+mn-cs"/>
              </a:rPr>
              <a:t> </a:t>
            </a:r>
            <a:r>
              <a:rPr lang="en-US" altLang="en-US" sz="2000" dirty="0" err="1">
                <a:latin typeface="+mn-lt"/>
                <a:ea typeface="+mn-ea"/>
                <a:cs typeface="+mn-cs"/>
              </a:rPr>
              <a:t>bentuk</a:t>
            </a:r>
            <a:r>
              <a:rPr lang="en-US" altLang="en-US" sz="2000" dirty="0">
                <a:latin typeface="+mn-lt"/>
                <a:ea typeface="+mn-ea"/>
                <a:cs typeface="+mn-cs"/>
              </a:rPr>
              <a:t> model fuzzy </a:t>
            </a:r>
            <a:r>
              <a:rPr lang="en-US" altLang="en-US" sz="2000" dirty="0" err="1">
                <a:latin typeface="+mn-lt"/>
                <a:ea typeface="+mn-ea"/>
                <a:cs typeface="+mn-cs"/>
              </a:rPr>
              <a:t>tsukamoto</a:t>
            </a:r>
            <a:r>
              <a:rPr lang="en-US" altLang="en-US" sz="2000" dirty="0">
                <a:latin typeface="+mn-lt"/>
                <a:ea typeface="+mn-ea"/>
                <a:cs typeface="+mn-cs"/>
              </a:rPr>
              <a:t> </a:t>
            </a:r>
            <a:r>
              <a:rPr lang="en-US" altLang="en-US" sz="2000" dirty="0" err="1">
                <a:latin typeface="+mn-lt"/>
                <a:ea typeface="+mn-ea"/>
                <a:cs typeface="+mn-cs"/>
              </a:rPr>
              <a:t>adalah</a:t>
            </a:r>
            <a:r>
              <a:rPr lang="en-US" altLang="en-US" sz="2000" dirty="0">
                <a:latin typeface="+mn-lt"/>
                <a:ea typeface="+mn-ea"/>
                <a:cs typeface="+mn-cs"/>
              </a:rPr>
              <a:t>:</a:t>
            </a:r>
          </a:p>
          <a:p>
            <a:pPr eaLnBrk="1" hangingPunct="1">
              <a:spcBef>
                <a:spcPct val="0"/>
              </a:spcBef>
            </a:pPr>
            <a:endParaRPr lang="en-US" altLang="en-US" sz="2000" dirty="0">
              <a:latin typeface="+mn-lt"/>
              <a:ea typeface="+mn-ea"/>
              <a:cs typeface="+mn-cs"/>
            </a:endParaRPr>
          </a:p>
          <a:p>
            <a:pPr marL="0" indent="0" algn="ctr" eaLnBrk="1" hangingPunct="1">
              <a:spcBef>
                <a:spcPct val="0"/>
              </a:spcBef>
              <a:buNone/>
            </a:pPr>
            <a:r>
              <a:rPr lang="en-US" altLang="en-US" sz="2000" i="1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IF (X IS A) AND (Y IS B) THEN (Z IS C)</a:t>
            </a:r>
            <a:endParaRPr lang="id-ID" altLang="en-US" sz="2000" i="1" dirty="0">
              <a:solidFill>
                <a:srgbClr val="FF0000"/>
              </a:solidFill>
              <a:latin typeface="+mn-lt"/>
              <a:ea typeface="+mn-ea"/>
              <a:cs typeface="+mn-cs"/>
            </a:endParaRPr>
          </a:p>
          <a:p>
            <a:pPr eaLnBrk="1" hangingPunct="1">
              <a:spcBef>
                <a:spcPct val="0"/>
              </a:spcBef>
            </a:pPr>
            <a:endParaRPr lang="en-US" altLang="en-US" sz="2000" dirty="0">
              <a:latin typeface="+mn-lt"/>
              <a:ea typeface="+mn-ea"/>
              <a:cs typeface="+mn-cs"/>
            </a:endParaRPr>
          </a:p>
          <a:p>
            <a:pPr marL="0" indent="0" eaLnBrk="1" hangingPunct="1">
              <a:spcBef>
                <a:spcPct val="0"/>
              </a:spcBef>
              <a:buNone/>
            </a:pPr>
            <a:r>
              <a:rPr lang="en-US" altLang="en-US" sz="2000" dirty="0">
                <a:latin typeface="+mn-lt"/>
                <a:ea typeface="+mn-ea"/>
                <a:cs typeface="+mn-cs"/>
              </a:rPr>
              <a:t>d</a:t>
            </a:r>
            <a:r>
              <a:rPr lang="id-ID" altLang="en-US" sz="2000" dirty="0">
                <a:latin typeface="+mn-lt"/>
                <a:ea typeface="+mn-ea"/>
                <a:cs typeface="+mn-cs"/>
              </a:rPr>
              <a:t>imana </a:t>
            </a:r>
            <a:r>
              <a:rPr lang="en-US" altLang="en-US" sz="2000" dirty="0">
                <a:latin typeface="+mn-lt"/>
                <a:ea typeface="+mn-ea"/>
                <a:cs typeface="+mn-cs"/>
              </a:rPr>
              <a:t>A</a:t>
            </a:r>
            <a:r>
              <a:rPr lang="id-ID" altLang="en-US" sz="2000" dirty="0">
                <a:latin typeface="+mn-lt"/>
                <a:ea typeface="+mn-ea"/>
                <a:cs typeface="+mn-cs"/>
              </a:rPr>
              <a:t>, </a:t>
            </a:r>
            <a:r>
              <a:rPr lang="en-US" altLang="en-US" sz="2000" dirty="0">
                <a:latin typeface="+mn-lt"/>
                <a:ea typeface="+mn-ea"/>
                <a:cs typeface="+mn-cs"/>
              </a:rPr>
              <a:t>B</a:t>
            </a:r>
            <a:r>
              <a:rPr lang="id-ID" altLang="en-US" sz="2000" dirty="0">
                <a:latin typeface="+mn-lt"/>
                <a:ea typeface="+mn-ea"/>
                <a:cs typeface="+mn-cs"/>
              </a:rPr>
              <a:t>, dan </a:t>
            </a:r>
            <a:r>
              <a:rPr lang="en-US" altLang="en-US" sz="2000" dirty="0">
                <a:latin typeface="+mn-lt"/>
                <a:ea typeface="+mn-ea"/>
                <a:cs typeface="+mn-cs"/>
              </a:rPr>
              <a:t>C</a:t>
            </a:r>
            <a:r>
              <a:rPr lang="id-ID" altLang="en-US" sz="2000" dirty="0">
                <a:latin typeface="+mn-lt"/>
                <a:ea typeface="+mn-ea"/>
                <a:cs typeface="+mn-cs"/>
              </a:rPr>
              <a:t> adalah himpunan fuzzy.</a:t>
            </a:r>
          </a:p>
          <a:p>
            <a:pPr eaLnBrk="1" hangingPunct="1">
              <a:spcBef>
                <a:spcPct val="0"/>
              </a:spcBef>
            </a:pPr>
            <a:endParaRPr lang="en-US" altLang="en-US" sz="2000" dirty="0">
              <a:latin typeface="+mn-lt"/>
              <a:ea typeface="+mn-ea"/>
              <a:cs typeface="+mn-cs"/>
            </a:endParaRPr>
          </a:p>
          <a:p>
            <a:pPr eaLnBrk="1" hangingPunct="1">
              <a:spcBef>
                <a:spcPct val="0"/>
              </a:spcBef>
            </a:pPr>
            <a:r>
              <a:rPr lang="id-ID" altLang="en-US" sz="2000" dirty="0">
                <a:latin typeface="+mn-lt"/>
                <a:ea typeface="+mn-ea"/>
                <a:cs typeface="+mn-cs"/>
              </a:rPr>
              <a:t>Misalkan diketahui 2 rule berikut :</a:t>
            </a:r>
            <a:endParaRPr lang="en-US" altLang="en-US" sz="2000" dirty="0">
              <a:latin typeface="+mn-lt"/>
              <a:ea typeface="+mn-ea"/>
              <a:cs typeface="+mn-cs"/>
            </a:endParaRPr>
          </a:p>
          <a:p>
            <a:pPr eaLnBrk="1" hangingPunct="1">
              <a:spcBef>
                <a:spcPct val="0"/>
              </a:spcBef>
            </a:pPr>
            <a:endParaRPr lang="en-US" altLang="en-US" sz="2000" dirty="0">
              <a:latin typeface="+mn-lt"/>
              <a:ea typeface="+mn-ea"/>
              <a:cs typeface="+mn-cs"/>
            </a:endParaRPr>
          </a:p>
          <a:p>
            <a:pPr marL="0" indent="0" eaLnBrk="1" hangingPunct="1">
              <a:spcBef>
                <a:spcPct val="0"/>
              </a:spcBef>
              <a:buNone/>
            </a:pPr>
            <a:r>
              <a:rPr lang="en-US" altLang="en-US" sz="2000" i="1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If (x is A1) and (y is B1) then (z is C1)</a:t>
            </a:r>
          </a:p>
          <a:p>
            <a:pPr marL="0" indent="0" eaLnBrk="1" hangingPunct="1">
              <a:spcBef>
                <a:spcPct val="0"/>
              </a:spcBef>
              <a:buNone/>
            </a:pPr>
            <a:r>
              <a:rPr lang="en-US" altLang="en-US" sz="2000" i="1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If (x is A2) and (y is B2) then (z is C2)</a:t>
            </a:r>
          </a:p>
          <a:p>
            <a:pPr eaLnBrk="1" hangingPunct="1">
              <a:spcBef>
                <a:spcPct val="0"/>
              </a:spcBef>
            </a:pPr>
            <a:endParaRPr lang="en-US" altLang="en-US" sz="2000" dirty="0">
              <a:latin typeface="+mn-lt"/>
              <a:ea typeface="+mn-ea"/>
              <a:cs typeface="+mn-cs"/>
            </a:endParaRPr>
          </a:p>
          <a:p>
            <a:pPr eaLnBrk="1" hangingPunct="1">
              <a:spcBef>
                <a:spcPct val="0"/>
              </a:spcBef>
            </a:pPr>
            <a:endParaRPr lang="en-US" sz="2000" dirty="0">
              <a:latin typeface="+mn-lt"/>
              <a:ea typeface="+mn-ea"/>
              <a:cs typeface="+mn-cs"/>
            </a:endParaRPr>
          </a:p>
        </p:txBody>
      </p:sp>
      <p:pic>
        <p:nvPicPr>
          <p:cNvPr id="4" name="Picture 63">
            <a:extLst>
              <a:ext uri="{FF2B5EF4-FFF2-40B4-BE49-F238E27FC236}">
                <a16:creationId xmlns:a16="http://schemas.microsoft.com/office/drawing/2014/main" id="{3E018B2E-2DF2-A53A-3594-69935CEAA844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963"/>
          <a:stretch/>
        </p:blipFill>
        <p:spPr bwMode="auto">
          <a:xfrm>
            <a:off x="5867400" y="1789339"/>
            <a:ext cx="6104676" cy="3140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wip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41" descr="Oak">
            <a:extLst>
              <a:ext uri="{FF2B5EF4-FFF2-40B4-BE49-F238E27FC236}">
                <a16:creationId xmlns:a16="http://schemas.microsoft.com/office/drawing/2014/main" id="{CC66EC27-3DDA-EE3D-F41E-35D85B58BC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sz="6600" dirty="0" err="1"/>
              <a:t>Inferensi</a:t>
            </a:r>
            <a:r>
              <a:rPr lang="en-US" altLang="en-US" sz="6600" dirty="0"/>
              <a:t> </a:t>
            </a:r>
            <a:r>
              <a:rPr lang="en-US" altLang="en-US" sz="6600" dirty="0" err="1"/>
              <a:t>Metode</a:t>
            </a:r>
            <a:r>
              <a:rPr lang="en-US" altLang="en-US" sz="6600" dirty="0"/>
              <a:t> Mamdani 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A69EAB8-B7B3-5476-C408-3AB89221D3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524315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1800" dirty="0" err="1">
                <a:latin typeface="+mn-lt"/>
                <a:ea typeface="+mn-ea"/>
                <a:cs typeface="+mn-cs"/>
              </a:rPr>
              <a:t>Metode</a:t>
            </a:r>
            <a:r>
              <a:rPr lang="en-US" altLang="en-US" sz="1800" dirty="0">
                <a:latin typeface="+mn-lt"/>
                <a:ea typeface="+mn-ea"/>
                <a:cs typeface="+mn-cs"/>
              </a:rPr>
              <a:t> </a:t>
            </a:r>
            <a:r>
              <a:rPr lang="en-US" altLang="en-US" sz="1800" dirty="0" err="1">
                <a:latin typeface="+mn-lt"/>
                <a:ea typeface="+mn-ea"/>
                <a:cs typeface="+mn-cs"/>
              </a:rPr>
              <a:t>mamdani</a:t>
            </a:r>
            <a:r>
              <a:rPr lang="en-US" altLang="en-US" sz="1800" dirty="0">
                <a:latin typeface="+mn-lt"/>
                <a:ea typeface="+mn-ea"/>
                <a:cs typeface="+mn-cs"/>
              </a:rPr>
              <a:t> paling </a:t>
            </a:r>
            <a:r>
              <a:rPr lang="en-US" altLang="en-US" sz="1800" dirty="0" err="1">
                <a:latin typeface="+mn-lt"/>
                <a:ea typeface="+mn-ea"/>
                <a:cs typeface="+mn-cs"/>
              </a:rPr>
              <a:t>sering</a:t>
            </a:r>
            <a:r>
              <a:rPr lang="en-US" altLang="en-US" sz="1800" dirty="0">
                <a:latin typeface="+mn-lt"/>
                <a:ea typeface="+mn-ea"/>
                <a:cs typeface="+mn-cs"/>
              </a:rPr>
              <a:t> </a:t>
            </a:r>
            <a:r>
              <a:rPr lang="en-US" altLang="en-US" sz="1800" dirty="0" err="1">
                <a:latin typeface="+mn-lt"/>
                <a:ea typeface="+mn-ea"/>
                <a:cs typeface="+mn-cs"/>
              </a:rPr>
              <a:t>digunakan</a:t>
            </a:r>
            <a:r>
              <a:rPr lang="en-US" altLang="en-US" sz="1800" dirty="0">
                <a:latin typeface="+mn-lt"/>
                <a:ea typeface="+mn-ea"/>
                <a:cs typeface="+mn-cs"/>
              </a:rPr>
              <a:t> </a:t>
            </a:r>
            <a:r>
              <a:rPr lang="en-US" altLang="en-US" sz="1800" dirty="0" err="1">
                <a:latin typeface="+mn-lt"/>
                <a:ea typeface="+mn-ea"/>
                <a:cs typeface="+mn-cs"/>
              </a:rPr>
              <a:t>dalam</a:t>
            </a:r>
            <a:r>
              <a:rPr lang="en-US" altLang="en-US" sz="1800" dirty="0">
                <a:latin typeface="+mn-lt"/>
                <a:ea typeface="+mn-ea"/>
                <a:cs typeface="+mn-cs"/>
              </a:rPr>
              <a:t> </a:t>
            </a:r>
            <a:r>
              <a:rPr lang="en-US" altLang="en-US" sz="1800" dirty="0" err="1">
                <a:latin typeface="+mn-lt"/>
                <a:ea typeface="+mn-ea"/>
                <a:cs typeface="+mn-cs"/>
              </a:rPr>
              <a:t>aplikasi-aplikasi</a:t>
            </a:r>
            <a:r>
              <a:rPr lang="en-US" altLang="en-US" sz="1800" dirty="0">
                <a:latin typeface="+mn-lt"/>
                <a:ea typeface="+mn-ea"/>
                <a:cs typeface="+mn-cs"/>
              </a:rPr>
              <a:t> </a:t>
            </a:r>
            <a:r>
              <a:rPr lang="en-US" altLang="en-US" sz="1800" dirty="0" err="1">
                <a:latin typeface="+mn-lt"/>
                <a:ea typeface="+mn-ea"/>
                <a:cs typeface="+mn-cs"/>
              </a:rPr>
              <a:t>karena</a:t>
            </a:r>
            <a:r>
              <a:rPr lang="en-US" altLang="en-US" sz="1800" dirty="0">
                <a:latin typeface="+mn-lt"/>
                <a:ea typeface="+mn-ea"/>
                <a:cs typeface="+mn-cs"/>
              </a:rPr>
              <a:t> </a:t>
            </a:r>
            <a:r>
              <a:rPr lang="en-US" altLang="en-US" sz="1800" dirty="0" err="1">
                <a:latin typeface="+mn-lt"/>
                <a:ea typeface="+mn-ea"/>
                <a:cs typeface="+mn-cs"/>
              </a:rPr>
              <a:t>strukturnya</a:t>
            </a:r>
            <a:r>
              <a:rPr lang="en-US" altLang="en-US" sz="1800" dirty="0">
                <a:latin typeface="+mn-lt"/>
                <a:ea typeface="+mn-ea"/>
                <a:cs typeface="+mn-cs"/>
              </a:rPr>
              <a:t> yang </a:t>
            </a:r>
            <a:r>
              <a:rPr lang="en-US" altLang="en-US" sz="1800" dirty="0" err="1">
                <a:latin typeface="+mn-lt"/>
                <a:ea typeface="+mn-ea"/>
                <a:cs typeface="+mn-cs"/>
              </a:rPr>
              <a:t>sederhana</a:t>
            </a:r>
            <a:r>
              <a:rPr lang="en-US" altLang="en-US" sz="1800" dirty="0">
                <a:latin typeface="+mn-lt"/>
                <a:ea typeface="+mn-ea"/>
                <a:cs typeface="+mn-cs"/>
              </a:rPr>
              <a:t>, </a:t>
            </a:r>
            <a:r>
              <a:rPr lang="en-US" altLang="en-US" sz="1800" dirty="0" err="1">
                <a:latin typeface="+mn-lt"/>
                <a:ea typeface="+mn-ea"/>
                <a:cs typeface="+mn-cs"/>
              </a:rPr>
              <a:t>yaitu</a:t>
            </a:r>
            <a:r>
              <a:rPr lang="en-US" altLang="en-US" sz="1800" dirty="0">
                <a:latin typeface="+mn-lt"/>
                <a:ea typeface="+mn-ea"/>
                <a:cs typeface="+mn-cs"/>
              </a:rPr>
              <a:t> </a:t>
            </a:r>
            <a:r>
              <a:rPr lang="en-US" altLang="en-US" sz="1800" dirty="0" err="1">
                <a:latin typeface="+mn-lt"/>
                <a:ea typeface="+mn-ea"/>
                <a:cs typeface="+mn-cs"/>
              </a:rPr>
              <a:t>menggunakan</a:t>
            </a:r>
            <a:r>
              <a:rPr lang="en-US" altLang="en-US" sz="1800" dirty="0">
                <a:latin typeface="+mn-lt"/>
                <a:ea typeface="+mn-ea"/>
                <a:cs typeface="+mn-cs"/>
              </a:rPr>
              <a:t> </a:t>
            </a:r>
            <a:r>
              <a:rPr lang="en-US" altLang="en-US" sz="1800" dirty="0" err="1">
                <a:latin typeface="+mn-lt"/>
                <a:ea typeface="+mn-ea"/>
                <a:cs typeface="+mn-cs"/>
              </a:rPr>
              <a:t>operasi</a:t>
            </a:r>
            <a:r>
              <a:rPr lang="en-US" altLang="en-US" sz="1800" dirty="0">
                <a:latin typeface="+mn-lt"/>
                <a:ea typeface="+mn-ea"/>
                <a:cs typeface="+mn-cs"/>
              </a:rPr>
              <a:t> min-max </a:t>
            </a:r>
            <a:r>
              <a:rPr lang="en-US" altLang="en-US" sz="1800" dirty="0" err="1">
                <a:latin typeface="+mn-lt"/>
                <a:ea typeface="+mn-ea"/>
                <a:cs typeface="+mn-cs"/>
              </a:rPr>
              <a:t>atau</a:t>
            </a:r>
            <a:r>
              <a:rPr lang="en-US" altLang="en-US" sz="1800" dirty="0">
                <a:latin typeface="+mn-lt"/>
                <a:ea typeface="+mn-ea"/>
                <a:cs typeface="+mn-cs"/>
              </a:rPr>
              <a:t> max-product. </a:t>
            </a:r>
          </a:p>
          <a:p>
            <a:pPr marL="0" indent="0" eaLnBrk="1" hangingPunct="1">
              <a:lnSpc>
                <a:spcPct val="100000"/>
              </a:lnSpc>
              <a:spcBef>
                <a:spcPct val="0"/>
              </a:spcBef>
              <a:buNone/>
            </a:pPr>
            <a:endParaRPr lang="en-US" altLang="en-US" sz="1800" dirty="0">
              <a:latin typeface="+mn-lt"/>
              <a:ea typeface="+mn-ea"/>
              <a:cs typeface="+mn-cs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sv-SE" altLang="en-US" sz="1800" dirty="0">
                <a:latin typeface="+mn-lt"/>
                <a:ea typeface="+mn-ea"/>
                <a:cs typeface="+mn-cs"/>
              </a:rPr>
              <a:t>Untuk mendapatkan output, diperlukan 4 tahapan:</a:t>
            </a:r>
          </a:p>
          <a:p>
            <a:pPr marL="457200" indent="-274638" eaLnBrk="1" hangingPunct="1">
              <a:lnSpc>
                <a:spcPct val="100000"/>
              </a:lnSpc>
              <a:spcBef>
                <a:spcPct val="0"/>
              </a:spcBef>
              <a:buFont typeface="+mj-lt"/>
              <a:buAutoNum type="arabicPeriod"/>
            </a:pPr>
            <a:r>
              <a:rPr lang="sv-SE" altLang="en-US" sz="1800" dirty="0">
                <a:latin typeface="+mn-lt"/>
                <a:ea typeface="+mn-ea"/>
                <a:cs typeface="+mn-cs"/>
              </a:rPr>
              <a:t>Fuzzyfikasi (pembentukan himpunan fuzzy dan perhitungan derajat keanggotaan)</a:t>
            </a:r>
          </a:p>
          <a:p>
            <a:pPr marL="457200" indent="-274638" eaLnBrk="1" hangingPunct="1">
              <a:lnSpc>
                <a:spcPct val="100000"/>
              </a:lnSpc>
              <a:spcBef>
                <a:spcPct val="0"/>
              </a:spcBef>
              <a:buFont typeface="+mj-lt"/>
              <a:buAutoNum type="arabicPeriod"/>
            </a:pPr>
            <a:r>
              <a:rPr lang="sv-SE" altLang="en-US" sz="1800" dirty="0">
                <a:latin typeface="+mn-lt"/>
                <a:ea typeface="+mn-ea"/>
                <a:cs typeface="+mn-cs"/>
              </a:rPr>
              <a:t>Aplikasi fungsi implikasi menggunakan fungsi min</a:t>
            </a:r>
          </a:p>
          <a:p>
            <a:pPr marL="457200" indent="-274638" eaLnBrk="1" hangingPunct="1">
              <a:lnSpc>
                <a:spcPct val="100000"/>
              </a:lnSpc>
              <a:spcBef>
                <a:spcPct val="0"/>
              </a:spcBef>
              <a:buFont typeface="+mj-lt"/>
              <a:buAutoNum type="arabicPeriod"/>
            </a:pPr>
            <a:r>
              <a:rPr lang="sv-SE" altLang="en-US" sz="1800" dirty="0">
                <a:latin typeface="+mn-lt"/>
                <a:ea typeface="+mn-ea"/>
                <a:cs typeface="+mn-cs"/>
              </a:rPr>
              <a:t>Komposisi antar rule menggunakan fungsi</a:t>
            </a:r>
          </a:p>
          <a:p>
            <a:pPr marL="868362" lvl="1" indent="-342900" eaLnBrk="1" hangingPunct="1">
              <a:lnSpc>
                <a:spcPct val="100000"/>
              </a:lnSpc>
              <a:spcBef>
                <a:spcPct val="0"/>
              </a:spcBef>
              <a:buFont typeface="+mj-lt"/>
              <a:buAutoNum type="alphaLcParenR"/>
            </a:pPr>
            <a:r>
              <a:rPr lang="sv-SE" altLang="en-US" dirty="0">
                <a:latin typeface="+mn-lt"/>
                <a:ea typeface="+mn-ea"/>
                <a:cs typeface="+mn-cs"/>
              </a:rPr>
              <a:t>Metode Max</a:t>
            </a:r>
          </a:p>
          <a:p>
            <a:pPr marL="868362" lvl="1" indent="-342900" eaLnBrk="1" hangingPunct="1">
              <a:lnSpc>
                <a:spcPct val="100000"/>
              </a:lnSpc>
              <a:spcBef>
                <a:spcPct val="0"/>
              </a:spcBef>
              <a:buFont typeface="+mj-lt"/>
              <a:buAutoNum type="alphaLcParenR"/>
            </a:pPr>
            <a:r>
              <a:rPr lang="sv-SE" altLang="en-US" dirty="0">
                <a:latin typeface="+mn-lt"/>
                <a:ea typeface="+mn-ea"/>
                <a:cs typeface="+mn-cs"/>
              </a:rPr>
              <a:t>Metode Additive (SUM)</a:t>
            </a:r>
          </a:p>
          <a:p>
            <a:pPr marL="868362" lvl="1" indent="-342900" eaLnBrk="1" hangingPunct="1">
              <a:lnSpc>
                <a:spcPct val="100000"/>
              </a:lnSpc>
              <a:spcBef>
                <a:spcPct val="0"/>
              </a:spcBef>
              <a:buFont typeface="+mj-lt"/>
              <a:buAutoNum type="alphaLcParenR"/>
            </a:pPr>
            <a:r>
              <a:rPr lang="sv-SE" altLang="en-US" dirty="0">
                <a:latin typeface="+mn-lt"/>
                <a:ea typeface="+mn-ea"/>
                <a:cs typeface="+mn-cs"/>
              </a:rPr>
              <a:t>Metode Probabilistik OR</a:t>
            </a:r>
          </a:p>
          <a:p>
            <a:pPr marL="868362" lvl="1" indent="-342900" eaLnBrk="1" hangingPunct="1">
              <a:lnSpc>
                <a:spcPct val="100000"/>
              </a:lnSpc>
              <a:spcBef>
                <a:spcPct val="0"/>
              </a:spcBef>
              <a:buFont typeface="+mj-lt"/>
              <a:buAutoNum type="alphaLcParenR"/>
            </a:pPr>
            <a:endParaRPr lang="en-US" dirty="0">
              <a:latin typeface="+mn-lt"/>
              <a:ea typeface="+mn-ea"/>
              <a:cs typeface="+mn-cs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E1150B3-9869-F3EC-2A85-E8639F07DA0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361950" indent="-342900" eaLnBrk="1" hangingPunct="1">
              <a:lnSpc>
                <a:spcPct val="100000"/>
              </a:lnSpc>
              <a:spcBef>
                <a:spcPct val="0"/>
              </a:spcBef>
              <a:buFont typeface="+mj-lt"/>
              <a:buAutoNum type="arabicPeriod" startAt="4"/>
            </a:pPr>
            <a:r>
              <a:rPr lang="sv-SE" altLang="en-US" sz="1800" dirty="0">
                <a:latin typeface="+mn-lt"/>
                <a:ea typeface="+mn-ea"/>
                <a:cs typeface="+mn-cs"/>
              </a:rPr>
              <a:t>Penegasan (deffuzy), beberapa metode defuzzifikasi aturan MAMDANI :</a:t>
            </a:r>
          </a:p>
          <a:p>
            <a:pPr marL="361950" lvl="1" indent="-342900" eaLnBrk="1" hangingPunct="1">
              <a:lnSpc>
                <a:spcPct val="100000"/>
              </a:lnSpc>
              <a:spcBef>
                <a:spcPct val="0"/>
              </a:spcBef>
              <a:buFont typeface="+mj-lt"/>
              <a:buAutoNum type="alphaLcParenR"/>
            </a:pPr>
            <a:r>
              <a:rPr lang="en-US" dirty="0" err="1">
                <a:latin typeface="+mn-lt"/>
                <a:ea typeface="+mn-ea"/>
                <a:cs typeface="+mn-cs"/>
              </a:rPr>
              <a:t>Metode</a:t>
            </a:r>
            <a:r>
              <a:rPr lang="en-US" dirty="0">
                <a:latin typeface="+mn-lt"/>
                <a:ea typeface="+mn-ea"/>
                <a:cs typeface="+mn-cs"/>
              </a:rPr>
              <a:t> Centroid (Composite Moment)</a:t>
            </a:r>
          </a:p>
          <a:p>
            <a:pPr marL="361950" lvl="1" indent="-342900" eaLnBrk="1" hangingPunct="1">
              <a:lnSpc>
                <a:spcPct val="100000"/>
              </a:lnSpc>
              <a:spcBef>
                <a:spcPct val="0"/>
              </a:spcBef>
              <a:buFont typeface="+mj-lt"/>
              <a:buAutoNum type="alphaLcParenR"/>
            </a:pPr>
            <a:r>
              <a:rPr lang="en-US" dirty="0" err="1">
                <a:latin typeface="+mn-lt"/>
                <a:ea typeface="+mn-ea"/>
                <a:cs typeface="+mn-cs"/>
              </a:rPr>
              <a:t>Metode</a:t>
            </a:r>
            <a:r>
              <a:rPr lang="en-US" dirty="0">
                <a:latin typeface="+mn-lt"/>
                <a:ea typeface="+mn-ea"/>
                <a:cs typeface="+mn-cs"/>
              </a:rPr>
              <a:t> </a:t>
            </a:r>
            <a:r>
              <a:rPr lang="en-US" dirty="0" err="1">
                <a:latin typeface="+mn-lt"/>
                <a:ea typeface="+mn-ea"/>
                <a:cs typeface="+mn-cs"/>
              </a:rPr>
              <a:t>Bisektor</a:t>
            </a:r>
            <a:endParaRPr lang="en-US" dirty="0">
              <a:latin typeface="+mn-lt"/>
              <a:ea typeface="+mn-ea"/>
              <a:cs typeface="+mn-cs"/>
            </a:endParaRPr>
          </a:p>
          <a:p>
            <a:pPr marL="361950" lvl="1" indent="-342900" eaLnBrk="1" hangingPunct="1">
              <a:lnSpc>
                <a:spcPct val="100000"/>
              </a:lnSpc>
              <a:spcBef>
                <a:spcPct val="0"/>
              </a:spcBef>
              <a:buFont typeface="+mj-lt"/>
              <a:buAutoNum type="alphaLcParenR"/>
            </a:pPr>
            <a:r>
              <a:rPr lang="en-US" dirty="0" err="1">
                <a:latin typeface="+mn-lt"/>
                <a:ea typeface="+mn-ea"/>
                <a:cs typeface="+mn-cs"/>
              </a:rPr>
              <a:t>Metode</a:t>
            </a:r>
            <a:r>
              <a:rPr lang="en-US" dirty="0">
                <a:latin typeface="+mn-lt"/>
                <a:ea typeface="+mn-ea"/>
                <a:cs typeface="+mn-cs"/>
              </a:rPr>
              <a:t> Mean of </a:t>
            </a:r>
            <a:r>
              <a:rPr lang="en-US" dirty="0" err="1">
                <a:latin typeface="+mn-lt"/>
                <a:ea typeface="+mn-ea"/>
                <a:cs typeface="+mn-cs"/>
              </a:rPr>
              <a:t>Maximun</a:t>
            </a:r>
            <a:r>
              <a:rPr lang="en-US" dirty="0">
                <a:latin typeface="+mn-lt"/>
                <a:ea typeface="+mn-ea"/>
                <a:cs typeface="+mn-cs"/>
              </a:rPr>
              <a:t> (MOM)</a:t>
            </a:r>
          </a:p>
          <a:p>
            <a:pPr marL="361950" lvl="1" indent="-342900" eaLnBrk="1" hangingPunct="1">
              <a:lnSpc>
                <a:spcPct val="100000"/>
              </a:lnSpc>
              <a:spcBef>
                <a:spcPct val="0"/>
              </a:spcBef>
              <a:buFont typeface="+mj-lt"/>
              <a:buAutoNum type="alphaLcParenR"/>
            </a:pPr>
            <a:r>
              <a:rPr lang="en-US" dirty="0" err="1">
                <a:latin typeface="+mn-lt"/>
                <a:ea typeface="+mn-ea"/>
                <a:cs typeface="+mn-cs"/>
              </a:rPr>
              <a:t>Metode</a:t>
            </a:r>
            <a:r>
              <a:rPr lang="en-US" dirty="0">
                <a:latin typeface="+mn-lt"/>
                <a:ea typeface="+mn-ea"/>
                <a:cs typeface="+mn-cs"/>
              </a:rPr>
              <a:t> Largest of Maximum (LOM)</a:t>
            </a:r>
          </a:p>
          <a:p>
            <a:pPr marL="361950" lvl="1" indent="-342900" eaLnBrk="1" hangingPunct="1">
              <a:lnSpc>
                <a:spcPct val="100000"/>
              </a:lnSpc>
              <a:spcBef>
                <a:spcPct val="0"/>
              </a:spcBef>
              <a:buFont typeface="+mj-lt"/>
              <a:buAutoNum type="alphaLcParenR"/>
            </a:pPr>
            <a:r>
              <a:rPr lang="en-US" dirty="0" err="1">
                <a:latin typeface="+mn-lt"/>
                <a:ea typeface="+mn-ea"/>
                <a:cs typeface="+mn-cs"/>
              </a:rPr>
              <a:t>Metode</a:t>
            </a:r>
            <a:r>
              <a:rPr lang="en-US" dirty="0">
                <a:latin typeface="+mn-lt"/>
                <a:ea typeface="+mn-ea"/>
                <a:cs typeface="+mn-cs"/>
              </a:rPr>
              <a:t> Smallest of Maximum (SOM)</a:t>
            </a:r>
          </a:p>
          <a:p>
            <a:endParaRPr lang="en-US" dirty="0"/>
          </a:p>
        </p:txBody>
      </p:sp>
      <p:graphicFrame>
        <p:nvGraphicFramePr>
          <p:cNvPr id="6" name="Object 1">
            <a:extLst>
              <a:ext uri="{FF2B5EF4-FFF2-40B4-BE49-F238E27FC236}">
                <a16:creationId xmlns:a16="http://schemas.microsoft.com/office/drawing/2014/main" id="{C4442A38-961E-E0D6-4A8C-EF4243B0DCD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6146417"/>
              </p:ext>
            </p:extLst>
          </p:nvPr>
        </p:nvGraphicFramePr>
        <p:xfrm>
          <a:off x="6259339" y="4001294"/>
          <a:ext cx="5007322" cy="21566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3849651" imgH="1658026" progId="">
                  <p:embed/>
                </p:oleObj>
              </mc:Choice>
              <mc:Fallback>
                <p:oleObj name="Visio" r:id="rId2" imgW="3849651" imgH="1658026" progId="">
                  <p:embed/>
                  <p:pic>
                    <p:nvPicPr>
                      <p:cNvPr id="8" name="Object 1">
                        <a:extLst>
                          <a:ext uri="{FF2B5EF4-FFF2-40B4-BE49-F238E27FC236}">
                            <a16:creationId xmlns:a16="http://schemas.microsoft.com/office/drawing/2014/main" id="{3648BE35-4422-BA4F-89B5-FCB37122AFD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59339" y="4001294"/>
                        <a:ext cx="5007322" cy="215661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wip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34" descr="Oak">
            <a:extLst>
              <a:ext uri="{FF2B5EF4-FFF2-40B4-BE49-F238E27FC236}">
                <a16:creationId xmlns:a16="http://schemas.microsoft.com/office/drawing/2014/main" id="{9E313540-D24D-9942-2B72-A4DDC4C883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sz="6600" dirty="0" err="1"/>
              <a:t>Inferensi</a:t>
            </a:r>
            <a:r>
              <a:rPr lang="en-US" altLang="en-US" sz="6600" dirty="0"/>
              <a:t> </a:t>
            </a:r>
            <a:r>
              <a:rPr lang="en-US" altLang="en-US" sz="6600" dirty="0" err="1"/>
              <a:t>Metode</a:t>
            </a:r>
            <a:r>
              <a:rPr lang="en-US" altLang="en-US" sz="6600" dirty="0"/>
              <a:t> </a:t>
            </a:r>
            <a:r>
              <a:rPr lang="en-US" altLang="en-US" sz="6600" dirty="0" err="1"/>
              <a:t>Sugeno</a:t>
            </a:r>
            <a:r>
              <a:rPr lang="en-US" altLang="en-US" sz="6600" dirty="0"/>
              <a:t> 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4899ADE-1383-FC31-B74B-F11FA77623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862322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indent="0" eaLnBrk="1" hangingPunct="1">
              <a:spcBef>
                <a:spcPct val="0"/>
              </a:spcBef>
              <a:buNone/>
            </a:pPr>
            <a:r>
              <a:rPr lang="sv-SE" altLang="en-US" sz="2000" dirty="0">
                <a:latin typeface="+mn-lt"/>
                <a:ea typeface="+mn-ea"/>
                <a:cs typeface="+mn-cs"/>
              </a:rPr>
              <a:t>Secara umum bentuk model fuzzy SUGENO adalah:</a:t>
            </a:r>
          </a:p>
          <a:p>
            <a:pPr marL="0" indent="0" eaLnBrk="1" hangingPunct="1">
              <a:spcBef>
                <a:spcPct val="0"/>
              </a:spcBef>
              <a:buNone/>
            </a:pPr>
            <a:endParaRPr lang="en-US" altLang="en-US" sz="2000" dirty="0">
              <a:latin typeface="+mn-lt"/>
              <a:ea typeface="+mn-ea"/>
              <a:cs typeface="+mn-cs"/>
            </a:endParaRPr>
          </a:p>
          <a:p>
            <a:pPr marL="0" indent="0" eaLnBrk="1" hangingPunct="1">
              <a:spcBef>
                <a:spcPct val="0"/>
              </a:spcBef>
              <a:buNone/>
            </a:pPr>
            <a:r>
              <a:rPr lang="en-US" altLang="en-US" sz="2000" dirty="0">
                <a:latin typeface="+mn-lt"/>
                <a:ea typeface="+mn-ea"/>
                <a:cs typeface="+mn-cs"/>
              </a:rPr>
              <a:t>	IF (x1 is A1)· ...... · (</a:t>
            </a:r>
            <a:r>
              <a:rPr lang="en-US" altLang="en-US" sz="2000" dirty="0" err="1">
                <a:latin typeface="+mn-lt"/>
                <a:ea typeface="+mn-ea"/>
                <a:cs typeface="+mn-cs"/>
              </a:rPr>
              <a:t>xN</a:t>
            </a:r>
            <a:r>
              <a:rPr lang="en-US" altLang="en-US" sz="2000" dirty="0">
                <a:latin typeface="+mn-lt"/>
                <a:ea typeface="+mn-ea"/>
                <a:cs typeface="+mn-cs"/>
              </a:rPr>
              <a:t> is AN) THEN z = f(</a:t>
            </a:r>
            <a:r>
              <a:rPr lang="en-US" altLang="en-US" sz="2000" dirty="0" err="1">
                <a:latin typeface="+mn-lt"/>
                <a:ea typeface="+mn-ea"/>
                <a:cs typeface="+mn-cs"/>
              </a:rPr>
              <a:t>x,y</a:t>
            </a:r>
            <a:r>
              <a:rPr lang="en-US" altLang="en-US" sz="2000" dirty="0">
                <a:latin typeface="+mn-lt"/>
                <a:ea typeface="+mn-ea"/>
                <a:cs typeface="+mn-cs"/>
              </a:rPr>
              <a:t>) </a:t>
            </a:r>
          </a:p>
          <a:p>
            <a:pPr marL="0" indent="0" eaLnBrk="1" hangingPunct="1">
              <a:spcBef>
                <a:spcPct val="0"/>
              </a:spcBef>
              <a:buNone/>
            </a:pPr>
            <a:endParaRPr lang="en-US" altLang="en-US" sz="2000" dirty="0">
              <a:latin typeface="+mn-lt"/>
              <a:ea typeface="+mn-ea"/>
              <a:cs typeface="+mn-cs"/>
            </a:endParaRPr>
          </a:p>
          <a:p>
            <a:pPr marL="0" indent="0" eaLnBrk="1" hangingPunct="1">
              <a:spcBef>
                <a:spcPct val="0"/>
              </a:spcBef>
              <a:buNone/>
            </a:pPr>
            <a:r>
              <a:rPr lang="it-IT" altLang="en-US" sz="2000" dirty="0">
                <a:latin typeface="+mn-lt"/>
                <a:ea typeface="+mn-ea"/>
                <a:cs typeface="+mn-cs"/>
              </a:rPr>
              <a:t>Catatan : </a:t>
            </a:r>
          </a:p>
          <a:p>
            <a:pPr marL="0" indent="0" eaLnBrk="1" hangingPunct="1">
              <a:spcBef>
                <a:spcPct val="0"/>
              </a:spcBef>
              <a:buNone/>
            </a:pPr>
            <a:endParaRPr lang="it-IT" altLang="en-US" sz="2000" dirty="0">
              <a:latin typeface="+mn-lt"/>
              <a:ea typeface="+mn-ea"/>
              <a:cs typeface="+mn-cs"/>
            </a:endParaRPr>
          </a:p>
          <a:p>
            <a:pPr marL="0" indent="0" eaLnBrk="1" hangingPunct="1">
              <a:spcBef>
                <a:spcPct val="0"/>
              </a:spcBef>
              <a:buNone/>
            </a:pPr>
            <a:r>
              <a:rPr lang="it-IT" altLang="en-US" sz="2000" dirty="0">
                <a:latin typeface="+mn-lt"/>
                <a:ea typeface="+mn-ea"/>
                <a:cs typeface="+mn-cs"/>
              </a:rPr>
              <a:t>A1, A2, …. AN, adalah himpunan fuzzy ke-i sebagai anteseden </a:t>
            </a:r>
          </a:p>
          <a:p>
            <a:pPr marL="0" indent="0" eaLnBrk="1" hangingPunct="1">
              <a:spcBef>
                <a:spcPct val="0"/>
              </a:spcBef>
              <a:buNone/>
            </a:pPr>
            <a:endParaRPr lang="it-IT" altLang="en-US" sz="2000" dirty="0">
              <a:latin typeface="+mn-lt"/>
              <a:ea typeface="+mn-ea"/>
              <a:cs typeface="+mn-cs"/>
            </a:endParaRPr>
          </a:p>
          <a:p>
            <a:pPr marL="0" indent="0" eaLnBrk="1" hangingPunct="1">
              <a:spcBef>
                <a:spcPct val="0"/>
              </a:spcBef>
              <a:buNone/>
            </a:pPr>
            <a:r>
              <a:rPr lang="it-IT" altLang="en-US" sz="2000" dirty="0">
                <a:latin typeface="+mn-lt"/>
                <a:ea typeface="+mn-ea"/>
                <a:cs typeface="+mn-cs"/>
              </a:rPr>
              <a:t>z = f(x,y) adalah fungsi tegas (biasanya merupakan fungsi linier dari x dan y).</a:t>
            </a:r>
            <a:endParaRPr lang="en-US" altLang="en-US" sz="2000" dirty="0">
              <a:latin typeface="+mn-lt"/>
              <a:ea typeface="+mn-ea"/>
              <a:cs typeface="+mn-cs"/>
            </a:endParaRPr>
          </a:p>
          <a:p>
            <a:pPr marL="0" indent="0" eaLnBrk="1" hangingPunct="1">
              <a:spcBef>
                <a:spcPct val="0"/>
              </a:spcBef>
              <a:buNone/>
            </a:pPr>
            <a:endParaRPr lang="en-US" sz="20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>
    <p:wip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3B0BE16-EA97-9B47-AFA5-BE036045EACF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sz="6600" dirty="0"/>
              <a:t>Defuzzification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42A6BB2B-0833-E17B-EA06-D28C17C4F1C0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2474253"/>
                <a:ext cx="5181600" cy="3702709"/>
              </a:xfrm>
            </p:spPr>
            <p:txBody>
              <a:bodyPr/>
              <a:lstStyle/>
              <a:p>
                <a:pPr marL="0" indent="0">
                  <a:lnSpc>
                    <a:spcPct val="100000"/>
                  </a:lnSpc>
                  <a:buNone/>
                </a:pPr>
                <a:r>
                  <a:rPr lang="id-ID" sz="2000" b="1" i="1" dirty="0"/>
                  <a:t>Centroid method</a:t>
                </a:r>
                <a:endParaRPr lang="en-US" sz="2000" b="1" i="1" dirty="0"/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limLoc m:val="undOvr"/>
                              <m:subHide m:val="on"/>
                              <m:supHide m:val="on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</m:nary>
                          <m:r>
                            <a:rPr lang="en-US" sz="2000" b="0" i="1" baseline="-25000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nary>
                            <m:naryPr>
                              <m:limLoc m:val="undOvr"/>
                              <m:subHide m:val="on"/>
                              <m:supHide m:val="on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</m:nary>
                          <m:r>
                            <a:rPr lang="en-US" sz="2000" b="0" i="1" baseline="-250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𝑑𝑦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000" dirty="0"/>
                  <a:t>Jika y </a:t>
                </a:r>
                <a:r>
                  <a:rPr lang="en-US" sz="2000" dirty="0" err="1"/>
                  <a:t>bernilai</a:t>
                </a:r>
                <a:r>
                  <a:rPr lang="en-US" sz="2000" dirty="0"/>
                  <a:t> </a:t>
                </a:r>
                <a:r>
                  <a:rPr lang="en-US" sz="2000" dirty="0" err="1"/>
                  <a:t>diskrit</a:t>
                </a:r>
                <a:endParaRPr lang="en-US" sz="2000" dirty="0"/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limLoc m:val="undOvr"/>
                              <m:subHide m:val="on"/>
                              <m:supHide m:val="on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</m:nary>
                          <m:r>
                            <a:rPr lang="en-US" sz="2000" b="0" i="1" baseline="-25000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num>
                        <m:den>
                          <m:nary>
                            <m:naryPr>
                              <m:limLoc m:val="undOvr"/>
                              <m:subHide m:val="on"/>
                              <m:supHide m:val="on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</m:nary>
                          <m:r>
                            <a:rPr lang="en-US" sz="2000" b="0" i="1" baseline="-250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sz="2000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000" dirty="0"/>
                  <a:t>d</a:t>
                </a:r>
                <a:r>
                  <a:rPr lang="id-ID" sz="2000" dirty="0"/>
                  <a:t>i mana y* : nilai crisp dan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US" sz="2000" b="0" i="0" baseline="-25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R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000" b="0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y</m:t>
                        </m:r>
                      </m:e>
                    </m:d>
                  </m:oMath>
                </a14:m>
                <a:r>
                  <a:rPr lang="id-ID" sz="2000" dirty="0"/>
                  <a:t> : derajat keanggotaan dari </a:t>
                </a:r>
                <a:r>
                  <a:rPr lang="id-ID" sz="2000" dirty="0" err="1"/>
                  <a:t>y</a:t>
                </a:r>
                <a:endParaRPr lang="id-ID" sz="2000" dirty="0"/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id-ID" sz="2000" b="1" i="1" dirty="0"/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id-ID" sz="2000" b="1" i="1" dirty="0"/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sz="2000" dirty="0"/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id-ID" sz="2000" b="1" i="1" dirty="0"/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42A6BB2B-0833-E17B-EA06-D28C17C4F1C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2474253"/>
                <a:ext cx="5181600" cy="3702709"/>
              </a:xfrm>
              <a:blipFill>
                <a:blip r:embed="rId2"/>
                <a:stretch>
                  <a:fillRect l="-1294" t="-8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5D6DDE5-945A-0544-CADC-F17624231A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74253"/>
            <a:ext cx="5181600" cy="3702709"/>
          </a:xfrm>
        </p:spPr>
        <p:txBody>
          <a:bodyPr/>
          <a:lstStyle/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id-ID" sz="2000" b="1" i="1" dirty="0"/>
              <a:t>Height method</a:t>
            </a:r>
          </a:p>
          <a:p>
            <a:pPr marL="354013" indent="0">
              <a:lnSpc>
                <a:spcPct val="100000"/>
              </a:lnSpc>
              <a:buNone/>
            </a:pPr>
            <a:r>
              <a:rPr lang="id-ID" sz="2000" dirty="0"/>
              <a:t>Memilih nilai crisp yang memiliki derajat keanggotaan maksimum.</a:t>
            </a:r>
            <a:endParaRPr lang="en-US" sz="2000" dirty="0"/>
          </a:p>
          <a:p>
            <a:pPr marL="354013" indent="0">
              <a:lnSpc>
                <a:spcPct val="100000"/>
              </a:lnSpc>
              <a:buNone/>
            </a:pPr>
            <a:endParaRPr lang="id-ID" sz="2000" dirty="0"/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id-ID" sz="2000" b="1" i="1" dirty="0"/>
              <a:t>First (or Last) of Maxima</a:t>
            </a:r>
          </a:p>
          <a:p>
            <a:pPr marL="354013" indent="0">
              <a:lnSpc>
                <a:spcPct val="100000"/>
              </a:lnSpc>
              <a:buNone/>
            </a:pPr>
            <a:r>
              <a:rPr lang="id-ID" sz="2000" dirty="0"/>
              <a:t>Nilai crisp yang digunakan adalah salah satu dari nilai yang dihasilkan dari maksimum pertama atau maksimum terakhir.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0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5926F78-3368-EE4D-9F7E-113E6B824AA5}"/>
              </a:ext>
            </a:extLst>
          </p:cNvPr>
          <p:cNvSpPr txBox="1">
            <a:spLocks/>
          </p:cNvSpPr>
          <p:nvPr/>
        </p:nvSpPr>
        <p:spPr>
          <a:xfrm>
            <a:off x="7315200" y="5182220"/>
            <a:ext cx="10275166" cy="3702708"/>
          </a:xfrm>
          <a:prstGeom prst="rect">
            <a:avLst/>
          </a:prstGeom>
        </p:spPr>
        <p:txBody>
          <a:bodyPr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3"/>
              </a:buBlip>
              <a:defRPr sz="2400" kern="12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593725" indent="-182563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2pPr>
            <a:lvl3pPr marL="822325" indent="-182563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3pPr>
            <a:lvl4pPr marL="1050925" indent="-182563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4pPr>
            <a:lvl5pPr marL="1233488" indent="-182563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endParaRPr lang="id-ID" sz="2000" b="1" i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22B294-8A63-C74E-801A-43F0B5435FF7}"/>
              </a:ext>
            </a:extLst>
          </p:cNvPr>
          <p:cNvSpPr txBox="1"/>
          <p:nvPr/>
        </p:nvSpPr>
        <p:spPr>
          <a:xfrm>
            <a:off x="2161309" y="2729345"/>
            <a:ext cx="184731" cy="369332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0DED138-1263-5864-7A4B-9A29DE6A55E8}"/>
              </a:ext>
            </a:extLst>
          </p:cNvPr>
          <p:cNvSpPr txBox="1"/>
          <p:nvPr/>
        </p:nvSpPr>
        <p:spPr>
          <a:xfrm>
            <a:off x="838200" y="1444359"/>
            <a:ext cx="10744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i="1" dirty="0"/>
              <a:t>Fuzzy output </a:t>
            </a:r>
            <a:r>
              <a:rPr lang="en-US" sz="1800" dirty="0" err="1"/>
              <a:t>dikonversi</a:t>
            </a:r>
            <a:r>
              <a:rPr lang="en-US" sz="1800" dirty="0"/>
              <a:t> </a:t>
            </a:r>
            <a:r>
              <a:rPr lang="en-US" sz="1800" dirty="0" err="1"/>
              <a:t>kembali</a:t>
            </a:r>
            <a:r>
              <a:rPr lang="en-US" sz="1800" dirty="0"/>
              <a:t> </a:t>
            </a:r>
            <a:r>
              <a:rPr lang="en-US" sz="1800" dirty="0" err="1"/>
              <a:t>menjadi</a:t>
            </a:r>
            <a:r>
              <a:rPr lang="en-US" sz="1800" dirty="0"/>
              <a:t> </a:t>
            </a:r>
            <a:r>
              <a:rPr lang="en-US" sz="1800" dirty="0" err="1"/>
              <a:t>nilai</a:t>
            </a:r>
            <a:r>
              <a:rPr lang="en-US" sz="1800" dirty="0"/>
              <a:t> </a:t>
            </a:r>
            <a:r>
              <a:rPr lang="en-US" sz="1800" i="1" dirty="0"/>
              <a:t>crisp</a:t>
            </a:r>
            <a:r>
              <a:rPr lang="en-US" sz="1800" dirty="0"/>
              <a:t> yang </a:t>
            </a:r>
            <a:r>
              <a:rPr lang="en-US" sz="1800" dirty="0" err="1"/>
              <a:t>nilai</a:t>
            </a:r>
            <a:r>
              <a:rPr lang="en-US" sz="1800" dirty="0"/>
              <a:t> </a:t>
            </a:r>
            <a:r>
              <a:rPr lang="en-US" sz="1800" dirty="0" err="1"/>
              <a:t>kebenarannya</a:t>
            </a:r>
            <a:r>
              <a:rPr lang="en-US" sz="1800" dirty="0"/>
              <a:t> </a:t>
            </a:r>
            <a:r>
              <a:rPr lang="en-US" sz="1800" dirty="0" err="1"/>
              <a:t>bersifat</a:t>
            </a:r>
            <a:r>
              <a:rPr lang="en-US" sz="1800" dirty="0"/>
              <a:t> </a:t>
            </a:r>
            <a:r>
              <a:rPr lang="en-US" sz="1800" dirty="0" err="1"/>
              <a:t>pasti</a:t>
            </a:r>
            <a:r>
              <a:rPr lang="en-US" sz="1800" dirty="0"/>
              <a:t>.</a:t>
            </a:r>
          </a:p>
          <a:p>
            <a:pPr marL="0" indent="0">
              <a:buNone/>
            </a:pPr>
            <a:r>
              <a:rPr lang="en-US" sz="1800" dirty="0" err="1"/>
              <a:t>Beberapa</a:t>
            </a:r>
            <a:r>
              <a:rPr lang="en-US" sz="1800" dirty="0"/>
              <a:t> </a:t>
            </a:r>
            <a:r>
              <a:rPr lang="en-US" sz="1800" dirty="0" err="1"/>
              <a:t>metode</a:t>
            </a:r>
            <a:r>
              <a:rPr lang="en-US" sz="1800" dirty="0"/>
              <a:t> yang </a:t>
            </a:r>
            <a:r>
              <a:rPr lang="en-US" sz="1800" dirty="0" err="1"/>
              <a:t>digunakan</a:t>
            </a:r>
            <a:r>
              <a:rPr lang="en-US" sz="1800" dirty="0"/>
              <a:t> :</a:t>
            </a:r>
          </a:p>
        </p:txBody>
      </p:sp>
    </p:spTree>
    <p:extLst>
      <p:ext uri="{BB962C8B-B14F-4D97-AF65-F5344CB8AC3E}">
        <p14:creationId xmlns:p14="http://schemas.microsoft.com/office/powerpoint/2010/main" val="2344117581"/>
      </p:ext>
    </p:extLst>
  </p:cSld>
  <p:clrMapOvr>
    <a:masterClrMapping/>
  </p:clrMapOvr>
  <p:transition spd="slow">
    <p:wip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3B0BE16-EA97-9B47-AFA5-BE036045EACF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sz="6600" dirty="0"/>
              <a:t>Defuzzification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8E412618-012A-AD9B-9CCE-10B865EA008A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id-ID" sz="2000" b="1" i="1" dirty="0"/>
                  <a:t>Mean-Max method</a:t>
                </a:r>
                <a:endParaRPr lang="en-US" sz="2000" b="1" i="1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num>
                        <m:den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  <a:p>
                <a:pPr marL="354013" indent="0">
                  <a:lnSpc>
                    <a:spcPct val="150000"/>
                  </a:lnSpc>
                  <a:buNone/>
                </a:pPr>
                <a:r>
                  <a:rPr lang="en-US" sz="2000" dirty="0"/>
                  <a:t>d</a:t>
                </a:r>
                <a:r>
                  <a:rPr lang="id-ID" sz="2000" dirty="0"/>
                  <a:t>i mana </a:t>
                </a:r>
                <a:endParaRPr lang="en-US" sz="2000" dirty="0"/>
              </a:p>
              <a:p>
                <a:pPr marL="354013" indent="0">
                  <a:lnSpc>
                    <a:spcPct val="150000"/>
                  </a:lnSpc>
                  <a:buNone/>
                </a:pPr>
                <a:r>
                  <a:rPr lang="id-ID" sz="2000" i="1" dirty="0"/>
                  <a:t>m</a:t>
                </a:r>
                <a:r>
                  <a:rPr lang="id-ID" sz="2000" dirty="0"/>
                  <a:t> : nilai crisp yang paling kecil dan </a:t>
                </a:r>
                <a:endParaRPr lang="en-US" sz="2000" dirty="0"/>
              </a:p>
              <a:p>
                <a:pPr marL="354013" indent="0">
                  <a:lnSpc>
                    <a:spcPct val="150000"/>
                  </a:lnSpc>
                  <a:buNone/>
                </a:pPr>
                <a:r>
                  <a:rPr lang="id-ID" sz="2000" dirty="0"/>
                  <a:t>M : nilai crisp yang paling besar.</a:t>
                </a:r>
                <a:endParaRPr lang="id-ID" sz="2000" b="1" i="1" dirty="0"/>
              </a:p>
              <a:p>
                <a:endParaRPr lang="en-US" sz="2000" dirty="0"/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8E412618-012A-AD9B-9CCE-10B865EA00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0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0DF2BF62-C010-B8E2-288F-2394B1321A87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id-ID" sz="2000" b="1" i="1" dirty="0"/>
                  <a:t>Weight Average</a:t>
                </a:r>
              </a:p>
              <a:p>
                <a:pPr marL="0" indent="0">
                  <a:buNone/>
                </a:pPr>
                <a:endParaRPr lang="en-US" sz="20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∗ 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num>
                            <m:den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0DF2BF62-C010-B8E2-288F-2394B1321A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l="-1294" t="-12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5926F78-3368-EE4D-9F7E-113E6B824AA5}"/>
              </a:ext>
            </a:extLst>
          </p:cNvPr>
          <p:cNvSpPr txBox="1">
            <a:spLocks/>
          </p:cNvSpPr>
          <p:nvPr/>
        </p:nvSpPr>
        <p:spPr>
          <a:xfrm>
            <a:off x="-3352800" y="1181265"/>
            <a:ext cx="9903213" cy="4054844"/>
          </a:xfrm>
          <a:prstGeom prst="rect">
            <a:avLst/>
          </a:prstGeom>
        </p:spPr>
        <p:txBody>
          <a:bodyPr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4"/>
              </a:buBlip>
              <a:defRPr sz="2400" kern="12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593725" indent="-182563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2pPr>
            <a:lvl3pPr marL="822325" indent="-182563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3pPr>
            <a:lvl4pPr marL="1050925" indent="-182563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4pPr>
            <a:lvl5pPr marL="1233488" indent="-182563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id-ID" sz="2000" b="1" i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22B294-8A63-C74E-801A-43F0B5435FF7}"/>
              </a:ext>
            </a:extLst>
          </p:cNvPr>
          <p:cNvSpPr txBox="1"/>
          <p:nvPr/>
        </p:nvSpPr>
        <p:spPr>
          <a:xfrm>
            <a:off x="2161309" y="2729345"/>
            <a:ext cx="184731" cy="369332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13205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34" descr="Oak">
            <a:extLst>
              <a:ext uri="{FF2B5EF4-FFF2-40B4-BE49-F238E27FC236}">
                <a16:creationId xmlns:a16="http://schemas.microsoft.com/office/drawing/2014/main" id="{981884E1-F1E6-4C72-905F-28DD431C00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sz="6600" dirty="0" err="1"/>
              <a:t>Studi</a:t>
            </a:r>
            <a:r>
              <a:rPr lang="en-US" altLang="en-US" sz="6600" dirty="0"/>
              <a:t> </a:t>
            </a:r>
            <a:r>
              <a:rPr lang="en-US" altLang="en-US" sz="6600" dirty="0" err="1"/>
              <a:t>Kasus</a:t>
            </a:r>
            <a:endParaRPr lang="en-US" altLang="en-US" sz="660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8B89F63-947A-8164-BD8F-1296501902B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en-US" sz="1600" b="1" dirty="0" err="1">
                <a:latin typeface="+mn-lt"/>
              </a:rPr>
              <a:t>Sistem</a:t>
            </a:r>
            <a:r>
              <a:rPr lang="en-US" altLang="en-US" sz="1600" b="1" dirty="0">
                <a:latin typeface="+mn-lt"/>
              </a:rPr>
              <a:t> </a:t>
            </a:r>
            <a:r>
              <a:rPr lang="en-US" altLang="en-US" sz="1600" b="1" dirty="0" err="1">
                <a:latin typeface="+mn-lt"/>
              </a:rPr>
              <a:t>Kontrol</a:t>
            </a:r>
            <a:r>
              <a:rPr lang="en-US" altLang="en-US" sz="1600" b="1" dirty="0">
                <a:latin typeface="+mn-lt"/>
              </a:rPr>
              <a:t> </a:t>
            </a:r>
            <a:r>
              <a:rPr lang="en-US" altLang="en-US" sz="1600" b="1" dirty="0" err="1">
                <a:latin typeface="+mn-lt"/>
              </a:rPr>
              <a:t>Frekuensi</a:t>
            </a:r>
            <a:r>
              <a:rPr lang="en-US" altLang="en-US" sz="1600" b="1" dirty="0">
                <a:latin typeface="+mn-lt"/>
              </a:rPr>
              <a:t> </a:t>
            </a:r>
            <a:r>
              <a:rPr lang="en-US" altLang="en-US" sz="1600" b="1" dirty="0" err="1">
                <a:latin typeface="+mn-lt"/>
              </a:rPr>
              <a:t>Putar</a:t>
            </a:r>
            <a:r>
              <a:rPr lang="en-US" altLang="en-US" sz="1600" b="1" dirty="0">
                <a:latin typeface="+mn-lt"/>
              </a:rPr>
              <a:t> </a:t>
            </a:r>
            <a:r>
              <a:rPr lang="en-US" altLang="en-US" sz="1600" b="1" dirty="0" err="1">
                <a:latin typeface="+mn-lt"/>
              </a:rPr>
              <a:t>Kipas</a:t>
            </a:r>
            <a:r>
              <a:rPr lang="en-US" altLang="en-US" sz="1600" b="1" dirty="0">
                <a:latin typeface="+mn-lt"/>
              </a:rPr>
              <a:t> </a:t>
            </a:r>
            <a:r>
              <a:rPr lang="en-US" altLang="en-US" sz="1600" b="1" dirty="0" err="1">
                <a:latin typeface="+mn-lt"/>
              </a:rPr>
              <a:t>Angin</a:t>
            </a:r>
            <a:r>
              <a:rPr lang="en-US" altLang="en-US" sz="1600" dirty="0">
                <a:latin typeface="+mn-lt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en-US" sz="1600" dirty="0" err="1">
                <a:latin typeface="+mn-lt"/>
              </a:rPr>
              <a:t>Untuk</a:t>
            </a:r>
            <a:r>
              <a:rPr lang="en-US" altLang="en-US" sz="1600" dirty="0">
                <a:latin typeface="+mn-lt"/>
              </a:rPr>
              <a:t> </a:t>
            </a:r>
            <a:r>
              <a:rPr lang="en-US" altLang="en-US" sz="1600" dirty="0" err="1">
                <a:latin typeface="+mn-lt"/>
              </a:rPr>
              <a:t>mengatur</a:t>
            </a:r>
            <a:r>
              <a:rPr lang="en-US" altLang="en-US" sz="1600" dirty="0">
                <a:latin typeface="+mn-lt"/>
              </a:rPr>
              <a:t> </a:t>
            </a:r>
            <a:r>
              <a:rPr lang="en-US" altLang="en-US" sz="1600" dirty="0" err="1">
                <a:latin typeface="+mn-lt"/>
              </a:rPr>
              <a:t>frekuensi</a:t>
            </a:r>
            <a:r>
              <a:rPr lang="en-US" altLang="en-US" sz="1600" dirty="0">
                <a:latin typeface="+mn-lt"/>
              </a:rPr>
              <a:t> </a:t>
            </a:r>
            <a:r>
              <a:rPr lang="en-US" altLang="en-US" sz="1600" dirty="0" err="1">
                <a:latin typeface="+mn-lt"/>
              </a:rPr>
              <a:t>putar</a:t>
            </a:r>
            <a:r>
              <a:rPr lang="en-US" altLang="en-US" sz="1600" dirty="0">
                <a:latin typeface="+mn-lt"/>
              </a:rPr>
              <a:t> </a:t>
            </a:r>
            <a:r>
              <a:rPr lang="en-US" altLang="en-US" sz="1600" dirty="0" err="1">
                <a:latin typeface="+mn-lt"/>
              </a:rPr>
              <a:t>kipas</a:t>
            </a:r>
            <a:r>
              <a:rPr lang="en-US" altLang="en-US" sz="1600" dirty="0">
                <a:latin typeface="+mn-lt"/>
              </a:rPr>
              <a:t> </a:t>
            </a:r>
            <a:r>
              <a:rPr lang="en-US" altLang="en-US" sz="1600" dirty="0" err="1">
                <a:latin typeface="+mn-lt"/>
              </a:rPr>
              <a:t>angin</a:t>
            </a:r>
            <a:r>
              <a:rPr lang="en-US" altLang="en-US" sz="1600" dirty="0">
                <a:latin typeface="+mn-lt"/>
              </a:rPr>
              <a:t> </a:t>
            </a:r>
            <a:r>
              <a:rPr lang="en-US" altLang="en-US" sz="1600" dirty="0" err="1">
                <a:latin typeface="+mn-lt"/>
              </a:rPr>
              <a:t>secara</a:t>
            </a:r>
            <a:r>
              <a:rPr lang="en-US" altLang="en-US" sz="1600" dirty="0">
                <a:latin typeface="+mn-lt"/>
              </a:rPr>
              <a:t> </a:t>
            </a:r>
            <a:r>
              <a:rPr lang="en-US" altLang="en-US" sz="1600" dirty="0" err="1">
                <a:latin typeface="+mn-lt"/>
              </a:rPr>
              <a:t>otomatis</a:t>
            </a:r>
            <a:r>
              <a:rPr lang="en-US" altLang="en-US" sz="1600" dirty="0">
                <a:latin typeface="+mn-lt"/>
              </a:rPr>
              <a:t> </a:t>
            </a:r>
            <a:r>
              <a:rPr lang="en-US" altLang="en-US" sz="1600" dirty="0" err="1">
                <a:latin typeface="+mn-lt"/>
              </a:rPr>
              <a:t>digunakan</a:t>
            </a:r>
            <a:r>
              <a:rPr lang="en-US" altLang="en-US" sz="1600" dirty="0">
                <a:latin typeface="+mn-lt"/>
              </a:rPr>
              <a:t> </a:t>
            </a:r>
            <a:r>
              <a:rPr lang="en-US" altLang="en-US" sz="1600" dirty="0" err="1">
                <a:latin typeface="+mn-lt"/>
              </a:rPr>
              <a:t>sistem</a:t>
            </a:r>
            <a:r>
              <a:rPr lang="en-US" altLang="en-US" sz="1600" dirty="0">
                <a:latin typeface="+mn-lt"/>
              </a:rPr>
              <a:t> </a:t>
            </a:r>
            <a:r>
              <a:rPr lang="en-US" altLang="en-US" sz="1600" dirty="0" err="1">
                <a:latin typeface="+mn-lt"/>
              </a:rPr>
              <a:t>kontrol</a:t>
            </a:r>
            <a:r>
              <a:rPr lang="en-US" altLang="en-US" sz="1600" dirty="0">
                <a:latin typeface="+mn-lt"/>
              </a:rPr>
              <a:t>. </a:t>
            </a:r>
            <a:r>
              <a:rPr lang="en-US" altLang="en-US" sz="1600" dirty="0" err="1">
                <a:latin typeface="+mn-lt"/>
              </a:rPr>
              <a:t>Sistem</a:t>
            </a:r>
            <a:r>
              <a:rPr lang="en-US" altLang="en-US" sz="1600" dirty="0">
                <a:latin typeface="+mn-lt"/>
              </a:rPr>
              <a:t> </a:t>
            </a:r>
            <a:r>
              <a:rPr lang="en-US" altLang="en-US" sz="1600" dirty="0" err="1">
                <a:latin typeface="+mn-lt"/>
              </a:rPr>
              <a:t>ini</a:t>
            </a:r>
            <a:r>
              <a:rPr lang="en-US" altLang="en-US" sz="1600" dirty="0">
                <a:latin typeface="+mn-lt"/>
              </a:rPr>
              <a:t> </a:t>
            </a:r>
            <a:r>
              <a:rPr lang="en-US" altLang="en-US" sz="1600" dirty="0" err="1">
                <a:latin typeface="+mn-lt"/>
              </a:rPr>
              <a:t>dipengaruhi</a:t>
            </a:r>
            <a:r>
              <a:rPr lang="en-US" altLang="en-US" sz="1600" dirty="0">
                <a:latin typeface="+mn-lt"/>
              </a:rPr>
              <a:t> oleh </a:t>
            </a:r>
            <a:r>
              <a:rPr lang="en-US" altLang="en-US" sz="1600" dirty="0" err="1">
                <a:latin typeface="+mn-lt"/>
              </a:rPr>
              <a:t>tiga</a:t>
            </a:r>
            <a:r>
              <a:rPr lang="en-US" altLang="en-US" sz="1600" dirty="0">
                <a:latin typeface="+mn-lt"/>
              </a:rPr>
              <a:t> </a:t>
            </a:r>
            <a:r>
              <a:rPr lang="en-US" altLang="en-US" sz="1600" dirty="0" err="1">
                <a:latin typeface="+mn-lt"/>
              </a:rPr>
              <a:t>variabel</a:t>
            </a:r>
            <a:r>
              <a:rPr lang="en-US" altLang="en-US" sz="1600" dirty="0">
                <a:latin typeface="+mn-lt"/>
              </a:rPr>
              <a:t> </a:t>
            </a:r>
            <a:r>
              <a:rPr lang="en-US" altLang="en-US" sz="1600" dirty="0" err="1">
                <a:latin typeface="+mn-lt"/>
              </a:rPr>
              <a:t>yaitu</a:t>
            </a:r>
            <a:r>
              <a:rPr lang="en-US" altLang="en-US" sz="1600" dirty="0">
                <a:latin typeface="+mn-lt"/>
              </a:rPr>
              <a:t> </a:t>
            </a:r>
            <a:r>
              <a:rPr lang="en-US" altLang="en-US" sz="1600" dirty="0" err="1">
                <a:latin typeface="+mn-lt"/>
              </a:rPr>
              <a:t>kecepatan</a:t>
            </a:r>
            <a:r>
              <a:rPr lang="en-US" altLang="en-US" sz="1600" dirty="0">
                <a:latin typeface="+mn-lt"/>
              </a:rPr>
              <a:t> </a:t>
            </a:r>
            <a:r>
              <a:rPr lang="en-US" altLang="en-US" sz="1600" dirty="0" err="1">
                <a:latin typeface="+mn-lt"/>
              </a:rPr>
              <a:t>putar</a:t>
            </a:r>
            <a:r>
              <a:rPr lang="en-US" altLang="en-US" sz="1600" dirty="0">
                <a:latin typeface="+mn-lt"/>
              </a:rPr>
              <a:t> </a:t>
            </a:r>
            <a:r>
              <a:rPr lang="en-US" altLang="en-US" sz="1600" dirty="0" err="1">
                <a:latin typeface="+mn-lt"/>
              </a:rPr>
              <a:t>kipas</a:t>
            </a:r>
            <a:r>
              <a:rPr lang="en-US" altLang="en-US" sz="1600" dirty="0">
                <a:latin typeface="+mn-lt"/>
              </a:rPr>
              <a:t> </a:t>
            </a:r>
            <a:r>
              <a:rPr lang="en-US" altLang="en-US" sz="1600" dirty="0" err="1">
                <a:latin typeface="+mn-lt"/>
              </a:rPr>
              <a:t>angin</a:t>
            </a:r>
            <a:r>
              <a:rPr lang="en-US" altLang="en-US" sz="1600" dirty="0">
                <a:latin typeface="+mn-lt"/>
              </a:rPr>
              <a:t>, </a:t>
            </a:r>
            <a:r>
              <a:rPr lang="en-US" altLang="en-US" sz="1600" dirty="0" err="1">
                <a:latin typeface="+mn-lt"/>
              </a:rPr>
              <a:t>suhu</a:t>
            </a:r>
            <a:r>
              <a:rPr lang="en-US" altLang="en-US" sz="1600" dirty="0">
                <a:latin typeface="+mn-lt"/>
              </a:rPr>
              <a:t> </a:t>
            </a:r>
            <a:r>
              <a:rPr lang="en-US" altLang="en-US" sz="1600" dirty="0" err="1">
                <a:latin typeface="+mn-lt"/>
              </a:rPr>
              <a:t>ruangan</a:t>
            </a:r>
            <a:r>
              <a:rPr lang="en-US" altLang="en-US" sz="1600" dirty="0">
                <a:latin typeface="+mn-lt"/>
              </a:rPr>
              <a:t>, dan </a:t>
            </a:r>
            <a:r>
              <a:rPr lang="en-US" altLang="en-US" sz="1600" dirty="0" err="1">
                <a:latin typeface="+mn-lt"/>
              </a:rPr>
              <a:t>sumber</a:t>
            </a:r>
            <a:r>
              <a:rPr lang="en-US" altLang="en-US" sz="1600" dirty="0">
                <a:latin typeface="+mn-lt"/>
              </a:rPr>
              <a:t> </a:t>
            </a:r>
            <a:r>
              <a:rPr lang="en-US" altLang="en-US" sz="1600" dirty="0" err="1">
                <a:latin typeface="+mn-lt"/>
              </a:rPr>
              <a:t>frekuensi</a:t>
            </a:r>
            <a:r>
              <a:rPr lang="en-US" altLang="en-US" sz="1600" dirty="0">
                <a:latin typeface="+mn-lt"/>
              </a:rPr>
              <a:t> </a:t>
            </a:r>
            <a:r>
              <a:rPr lang="en-US" altLang="en-US" sz="1600" dirty="0" err="1">
                <a:latin typeface="+mn-lt"/>
              </a:rPr>
              <a:t>putar</a:t>
            </a:r>
            <a:r>
              <a:rPr lang="en-US" altLang="en-US" sz="1600" dirty="0">
                <a:latin typeface="+mn-lt"/>
              </a:rPr>
              <a:t> </a:t>
            </a:r>
            <a:r>
              <a:rPr lang="en-US" altLang="en-US" sz="1600" dirty="0" err="1">
                <a:latin typeface="+mn-lt"/>
              </a:rPr>
              <a:t>kipas</a:t>
            </a:r>
            <a:r>
              <a:rPr lang="en-US" altLang="en-US" sz="1600" dirty="0">
                <a:latin typeface="+mn-lt"/>
              </a:rPr>
              <a:t> </a:t>
            </a:r>
            <a:r>
              <a:rPr lang="en-US" altLang="en-US" sz="1600" dirty="0" err="1">
                <a:latin typeface="+mn-lt"/>
              </a:rPr>
              <a:t>angin</a:t>
            </a:r>
            <a:r>
              <a:rPr lang="en-US" altLang="en-US" sz="1600" dirty="0">
                <a:latin typeface="+mn-lt"/>
              </a:rPr>
              <a:t>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en-US" sz="1600" dirty="0" err="1">
                <a:latin typeface="+mn-lt"/>
              </a:rPr>
              <a:t>Berdasarkan</a:t>
            </a:r>
            <a:r>
              <a:rPr lang="en-US" altLang="en-US" sz="1600" dirty="0">
                <a:latin typeface="+mn-lt"/>
              </a:rPr>
              <a:t> data </a:t>
            </a:r>
            <a:r>
              <a:rPr lang="en-US" altLang="en-US" sz="1600" dirty="0" err="1">
                <a:latin typeface="+mn-lt"/>
              </a:rPr>
              <a:t>spesifikasi</a:t>
            </a:r>
            <a:r>
              <a:rPr lang="en-US" altLang="en-US" sz="1600" dirty="0">
                <a:latin typeface="+mn-lt"/>
              </a:rPr>
              <a:t> </a:t>
            </a:r>
            <a:r>
              <a:rPr lang="en-US" altLang="en-US" sz="1600" dirty="0" err="1">
                <a:latin typeface="+mn-lt"/>
              </a:rPr>
              <a:t>dari</a:t>
            </a:r>
            <a:r>
              <a:rPr lang="en-US" altLang="en-US" sz="1600" dirty="0">
                <a:latin typeface="+mn-lt"/>
              </a:rPr>
              <a:t> </a:t>
            </a:r>
            <a:r>
              <a:rPr lang="en-US" altLang="en-US" sz="1600" dirty="0" err="1">
                <a:latin typeface="+mn-lt"/>
              </a:rPr>
              <a:t>pabrik</a:t>
            </a:r>
            <a:r>
              <a:rPr lang="en-US" altLang="en-US" sz="1600" dirty="0">
                <a:latin typeface="+mn-lt"/>
              </a:rPr>
              <a:t>, </a:t>
            </a:r>
            <a:r>
              <a:rPr lang="en-US" altLang="en-US" sz="1600" dirty="0" err="1">
                <a:solidFill>
                  <a:srgbClr val="FF3300"/>
                </a:solidFill>
                <a:latin typeface="+mn-lt"/>
              </a:rPr>
              <a:t>kecepatan</a:t>
            </a:r>
            <a:r>
              <a:rPr lang="en-US" altLang="en-US" sz="1600" dirty="0">
                <a:latin typeface="+mn-lt"/>
              </a:rPr>
              <a:t> </a:t>
            </a:r>
            <a:r>
              <a:rPr lang="en-US" altLang="en-US" sz="1600" dirty="0" err="1">
                <a:latin typeface="+mn-lt"/>
              </a:rPr>
              <a:t>putar</a:t>
            </a:r>
            <a:r>
              <a:rPr lang="en-US" altLang="en-US" sz="1600" dirty="0">
                <a:latin typeface="+mn-lt"/>
              </a:rPr>
              <a:t> </a:t>
            </a:r>
            <a:r>
              <a:rPr lang="en-US" altLang="en-US" sz="1600" dirty="0" err="1">
                <a:latin typeface="+mn-lt"/>
              </a:rPr>
              <a:t>kipas</a:t>
            </a:r>
            <a:r>
              <a:rPr lang="en-US" altLang="en-US" sz="1600" dirty="0">
                <a:latin typeface="+mn-lt"/>
              </a:rPr>
              <a:t> </a:t>
            </a:r>
            <a:r>
              <a:rPr lang="en-US" altLang="en-US" sz="1600" dirty="0" err="1">
                <a:latin typeface="+mn-lt"/>
              </a:rPr>
              <a:t>angin</a:t>
            </a:r>
            <a:r>
              <a:rPr lang="en-US" altLang="en-US" sz="1600" dirty="0">
                <a:latin typeface="+mn-lt"/>
              </a:rPr>
              <a:t> </a:t>
            </a:r>
            <a:r>
              <a:rPr lang="en-US" altLang="en-US" sz="1600" dirty="0" err="1">
                <a:latin typeface="+mn-lt"/>
              </a:rPr>
              <a:t>terkecil</a:t>
            </a:r>
            <a:r>
              <a:rPr lang="en-US" altLang="en-US" sz="1600" dirty="0">
                <a:latin typeface="+mn-lt"/>
              </a:rPr>
              <a:t> 1000 rpm (rotary per </a:t>
            </a:r>
            <a:r>
              <a:rPr lang="en-US" altLang="en-US" sz="1600" dirty="0" err="1">
                <a:latin typeface="+mn-lt"/>
              </a:rPr>
              <a:t>menit</a:t>
            </a:r>
            <a:r>
              <a:rPr lang="en-US" altLang="en-US" sz="1600" dirty="0">
                <a:latin typeface="+mn-lt"/>
              </a:rPr>
              <a:t>) dan </a:t>
            </a:r>
            <a:r>
              <a:rPr lang="en-US" altLang="en-US" sz="1600" dirty="0" err="1">
                <a:latin typeface="+mn-lt"/>
              </a:rPr>
              <a:t>terbesar</a:t>
            </a:r>
            <a:r>
              <a:rPr lang="en-US" altLang="en-US" sz="1600" dirty="0">
                <a:latin typeface="+mn-lt"/>
              </a:rPr>
              <a:t> 5000 rpm, </a:t>
            </a:r>
            <a:r>
              <a:rPr lang="en-US" altLang="en-US" sz="1600" dirty="0" err="1">
                <a:latin typeface="+mn-lt"/>
              </a:rPr>
              <a:t>kemampuan</a:t>
            </a:r>
            <a:r>
              <a:rPr lang="en-US" altLang="en-US" sz="1600" dirty="0">
                <a:latin typeface="+mn-lt"/>
              </a:rPr>
              <a:t> sensor</a:t>
            </a:r>
            <a:r>
              <a:rPr lang="en-US" altLang="en-US" sz="1600" dirty="0">
                <a:solidFill>
                  <a:srgbClr val="FF3300"/>
                </a:solidFill>
                <a:latin typeface="+mn-lt"/>
              </a:rPr>
              <a:t> </a:t>
            </a:r>
            <a:r>
              <a:rPr lang="en-US" altLang="en-US" sz="1600" dirty="0" err="1">
                <a:solidFill>
                  <a:srgbClr val="FF3300"/>
                </a:solidFill>
                <a:latin typeface="+mn-lt"/>
              </a:rPr>
              <a:t>suhu</a:t>
            </a:r>
            <a:r>
              <a:rPr lang="en-US" altLang="en-US" sz="1600" dirty="0">
                <a:latin typeface="+mn-lt"/>
              </a:rPr>
              <a:t> </a:t>
            </a:r>
            <a:r>
              <a:rPr lang="en-US" altLang="en-US" sz="1600" dirty="0" err="1">
                <a:latin typeface="+mn-lt"/>
              </a:rPr>
              <a:t>ruangan</a:t>
            </a:r>
            <a:r>
              <a:rPr lang="en-US" altLang="en-US" sz="1600" dirty="0">
                <a:latin typeface="+mn-lt"/>
              </a:rPr>
              <a:t> </a:t>
            </a:r>
            <a:r>
              <a:rPr lang="en-US" altLang="en-US" sz="1600" dirty="0" err="1">
                <a:latin typeface="+mn-lt"/>
              </a:rPr>
              <a:t>berada</a:t>
            </a:r>
            <a:r>
              <a:rPr lang="en-US" altLang="en-US" sz="1600" dirty="0">
                <a:latin typeface="+mn-lt"/>
              </a:rPr>
              <a:t> </a:t>
            </a:r>
            <a:r>
              <a:rPr lang="en-US" altLang="en-US" sz="1600" dirty="0" err="1">
                <a:latin typeface="+mn-lt"/>
              </a:rPr>
              <a:t>dalam</a:t>
            </a:r>
            <a:r>
              <a:rPr lang="en-US" altLang="en-US" sz="1600" dirty="0">
                <a:latin typeface="+mn-lt"/>
              </a:rPr>
              <a:t> interval 100 Kelvin </a:t>
            </a:r>
            <a:r>
              <a:rPr lang="en-US" altLang="en-US" sz="1600" dirty="0" err="1">
                <a:latin typeface="+mn-lt"/>
              </a:rPr>
              <a:t>hingga</a:t>
            </a:r>
            <a:r>
              <a:rPr lang="en-US" altLang="en-US" sz="1600" dirty="0">
                <a:latin typeface="+mn-lt"/>
              </a:rPr>
              <a:t> 600 Kelvin, </a:t>
            </a:r>
            <a:r>
              <a:rPr lang="en-US" altLang="en-US" sz="1600" dirty="0" err="1">
                <a:latin typeface="+mn-lt"/>
              </a:rPr>
              <a:t>sedangkan</a:t>
            </a:r>
            <a:r>
              <a:rPr lang="en-US" altLang="en-US" sz="1600" dirty="0">
                <a:latin typeface="+mn-lt"/>
              </a:rPr>
              <a:t> </a:t>
            </a:r>
            <a:r>
              <a:rPr lang="en-US" altLang="en-US" sz="1600" dirty="0" err="1">
                <a:latin typeface="+mn-lt"/>
              </a:rPr>
              <a:t>sumber</a:t>
            </a:r>
            <a:r>
              <a:rPr lang="en-US" altLang="en-US" sz="1600" dirty="0">
                <a:latin typeface="+mn-lt"/>
              </a:rPr>
              <a:t> </a:t>
            </a:r>
            <a:r>
              <a:rPr lang="en-US" altLang="en-US" sz="1600" dirty="0" err="1">
                <a:latin typeface="+mn-lt"/>
              </a:rPr>
              <a:t>frekuensi</a:t>
            </a:r>
            <a:r>
              <a:rPr lang="en-US" altLang="en-US" sz="1600" dirty="0">
                <a:latin typeface="+mn-lt"/>
              </a:rPr>
              <a:t> </a:t>
            </a:r>
            <a:r>
              <a:rPr lang="en-US" altLang="en-US" sz="1600" dirty="0" err="1">
                <a:latin typeface="+mn-lt"/>
              </a:rPr>
              <a:t>putar</a:t>
            </a:r>
            <a:r>
              <a:rPr lang="en-US" altLang="en-US" sz="1600" dirty="0">
                <a:latin typeface="+mn-lt"/>
              </a:rPr>
              <a:t> </a:t>
            </a:r>
            <a:r>
              <a:rPr lang="en-US" altLang="en-US" sz="1600" dirty="0" err="1">
                <a:latin typeface="+mn-lt"/>
              </a:rPr>
              <a:t>kipas</a:t>
            </a:r>
            <a:r>
              <a:rPr lang="en-US" altLang="en-US" sz="1600" dirty="0">
                <a:latin typeface="+mn-lt"/>
              </a:rPr>
              <a:t> </a:t>
            </a:r>
            <a:r>
              <a:rPr lang="en-US" altLang="en-US" sz="1600" dirty="0" err="1">
                <a:latin typeface="+mn-lt"/>
              </a:rPr>
              <a:t>angin</a:t>
            </a:r>
            <a:r>
              <a:rPr lang="en-US" altLang="en-US" sz="1600" dirty="0">
                <a:latin typeface="+mn-lt"/>
              </a:rPr>
              <a:t> </a:t>
            </a:r>
            <a:r>
              <a:rPr lang="en-US" altLang="en-US" sz="1600" dirty="0" err="1">
                <a:latin typeface="+mn-lt"/>
              </a:rPr>
              <a:t>hanya</a:t>
            </a:r>
            <a:r>
              <a:rPr lang="en-US" altLang="en-US" sz="1600" dirty="0">
                <a:latin typeface="+mn-lt"/>
              </a:rPr>
              <a:t> </a:t>
            </a:r>
            <a:r>
              <a:rPr lang="en-US" altLang="en-US" sz="1600" dirty="0" err="1">
                <a:latin typeface="+mn-lt"/>
              </a:rPr>
              <a:t>mampu</a:t>
            </a:r>
            <a:r>
              <a:rPr lang="en-US" altLang="en-US" sz="1600" dirty="0">
                <a:latin typeface="+mn-lt"/>
              </a:rPr>
              <a:t> </a:t>
            </a:r>
            <a:r>
              <a:rPr lang="en-US" altLang="en-US" sz="1600" dirty="0" err="1">
                <a:latin typeface="+mn-lt"/>
              </a:rPr>
              <a:t>menyediakan</a:t>
            </a:r>
            <a:r>
              <a:rPr lang="en-US" altLang="en-US" sz="1600" dirty="0">
                <a:latin typeface="+mn-lt"/>
              </a:rPr>
              <a:t> </a:t>
            </a:r>
            <a:r>
              <a:rPr lang="en-US" altLang="en-US" sz="1600" dirty="0" err="1">
                <a:solidFill>
                  <a:srgbClr val="FF3300"/>
                </a:solidFill>
                <a:latin typeface="+mn-lt"/>
              </a:rPr>
              <a:t>frekuensi</a:t>
            </a:r>
            <a:r>
              <a:rPr lang="en-US" altLang="en-US" sz="1600" dirty="0">
                <a:solidFill>
                  <a:srgbClr val="FF3300"/>
                </a:solidFill>
                <a:latin typeface="+mn-lt"/>
              </a:rPr>
              <a:t> </a:t>
            </a:r>
            <a:r>
              <a:rPr lang="en-US" altLang="en-US" sz="1600" dirty="0" err="1">
                <a:latin typeface="+mn-lt"/>
              </a:rPr>
              <a:t>sebesar</a:t>
            </a:r>
            <a:r>
              <a:rPr lang="en-US" altLang="en-US" sz="1600" dirty="0">
                <a:latin typeface="+mn-lt"/>
              </a:rPr>
              <a:t> 2000 rpm </a:t>
            </a:r>
            <a:r>
              <a:rPr lang="en-US" altLang="en-US" sz="1600" dirty="0" err="1">
                <a:latin typeface="+mn-lt"/>
              </a:rPr>
              <a:t>hingga</a:t>
            </a:r>
            <a:r>
              <a:rPr lang="en-US" altLang="en-US" sz="1600" dirty="0">
                <a:latin typeface="+mn-lt"/>
              </a:rPr>
              <a:t> 7000 rpm. </a:t>
            </a:r>
            <a:r>
              <a:rPr lang="en-US" altLang="en-US" sz="1600" dirty="0" err="1">
                <a:latin typeface="+mn-lt"/>
              </a:rPr>
              <a:t>Apabila</a:t>
            </a:r>
            <a:r>
              <a:rPr lang="en-US" altLang="en-US" sz="1600" dirty="0">
                <a:latin typeface="+mn-lt"/>
              </a:rPr>
              <a:t> </a:t>
            </a:r>
            <a:r>
              <a:rPr lang="en-US" altLang="en-US" sz="1600" dirty="0" err="1">
                <a:latin typeface="+mn-lt"/>
              </a:rPr>
              <a:t>sistem</a:t>
            </a:r>
            <a:r>
              <a:rPr lang="en-US" altLang="en-US" sz="1600" dirty="0">
                <a:latin typeface="+mn-lt"/>
              </a:rPr>
              <a:t> </a:t>
            </a:r>
            <a:r>
              <a:rPr lang="en-US" altLang="en-US" sz="1600" dirty="0" err="1">
                <a:latin typeface="+mn-lt"/>
              </a:rPr>
              <a:t>kontrol</a:t>
            </a:r>
            <a:r>
              <a:rPr lang="en-US" altLang="en-US" sz="1600" dirty="0">
                <a:latin typeface="+mn-lt"/>
              </a:rPr>
              <a:t> </a:t>
            </a:r>
            <a:r>
              <a:rPr lang="en-US" altLang="en-US" sz="1600" dirty="0" err="1">
                <a:latin typeface="+mn-lt"/>
              </a:rPr>
              <a:t>ruangan</a:t>
            </a:r>
            <a:r>
              <a:rPr lang="en-US" altLang="en-US" sz="1600" dirty="0">
                <a:latin typeface="+mn-lt"/>
              </a:rPr>
              <a:t> </a:t>
            </a:r>
            <a:r>
              <a:rPr lang="en-US" altLang="en-US" sz="1600" dirty="0" err="1">
                <a:latin typeface="+mn-lt"/>
              </a:rPr>
              <a:t>tersebut</a:t>
            </a:r>
            <a:r>
              <a:rPr lang="en-US" altLang="en-US" sz="1600" dirty="0">
                <a:latin typeface="+mn-lt"/>
              </a:rPr>
              <a:t> </a:t>
            </a:r>
            <a:r>
              <a:rPr lang="en-US" altLang="en-US" sz="1600" dirty="0" err="1">
                <a:latin typeface="+mn-lt"/>
              </a:rPr>
              <a:t>menggunakan</a:t>
            </a:r>
            <a:r>
              <a:rPr lang="en-US" altLang="en-US" sz="1600" dirty="0">
                <a:latin typeface="+mn-lt"/>
              </a:rPr>
              <a:t> 4 rule</a:t>
            </a:r>
            <a:endParaRPr lang="en-US" sz="1600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B6D2E0-6207-71B3-5F01-B9140284AB6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 eaLnBrk="1" hangingPunct="1">
              <a:buNone/>
            </a:pPr>
            <a:r>
              <a:rPr lang="en-US" altLang="en-US" sz="1600" dirty="0">
                <a:solidFill>
                  <a:srgbClr val="0070C0"/>
                </a:solidFill>
                <a:latin typeface="+mn-lt"/>
              </a:rPr>
              <a:t>[R1] IF </a:t>
            </a:r>
            <a:r>
              <a:rPr lang="en-US" altLang="en-US" sz="1600" dirty="0" err="1">
                <a:solidFill>
                  <a:srgbClr val="0070C0"/>
                </a:solidFill>
                <a:latin typeface="+mn-lt"/>
              </a:rPr>
              <a:t>kecepatan</a:t>
            </a:r>
            <a:r>
              <a:rPr lang="en-US" altLang="en-US" sz="1600" dirty="0">
                <a:solidFill>
                  <a:srgbClr val="0070C0"/>
                </a:solidFill>
                <a:latin typeface="+mn-lt"/>
              </a:rPr>
              <a:t> LAMBAT </a:t>
            </a:r>
            <a:r>
              <a:rPr lang="en-US" altLang="en-US" sz="1600" u="sng" dirty="0">
                <a:solidFill>
                  <a:srgbClr val="0070C0"/>
                </a:solidFill>
                <a:latin typeface="+mn-lt"/>
              </a:rPr>
              <a:t>And</a:t>
            </a:r>
            <a:r>
              <a:rPr lang="en-US" altLang="en-US" sz="1600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altLang="en-US" sz="1600" dirty="0" err="1">
                <a:solidFill>
                  <a:srgbClr val="0070C0"/>
                </a:solidFill>
                <a:latin typeface="+mn-lt"/>
              </a:rPr>
              <a:t>suhu</a:t>
            </a:r>
            <a:r>
              <a:rPr lang="en-US" altLang="en-US" sz="1600" dirty="0">
                <a:solidFill>
                  <a:srgbClr val="0070C0"/>
                </a:solidFill>
                <a:latin typeface="+mn-lt"/>
              </a:rPr>
              <a:t> TINGGI 	THEN </a:t>
            </a:r>
            <a:r>
              <a:rPr lang="en-US" altLang="en-US" sz="1600" dirty="0" err="1">
                <a:solidFill>
                  <a:srgbClr val="0070C0"/>
                </a:solidFill>
                <a:latin typeface="+mn-lt"/>
              </a:rPr>
              <a:t>frekuensi</a:t>
            </a:r>
            <a:r>
              <a:rPr lang="en-US" altLang="en-US" sz="1600" dirty="0">
                <a:solidFill>
                  <a:srgbClr val="0070C0"/>
                </a:solidFill>
                <a:latin typeface="+mn-lt"/>
              </a:rPr>
              <a:t> KECIL;</a:t>
            </a:r>
          </a:p>
          <a:p>
            <a:pPr marL="0" indent="0" eaLnBrk="1" hangingPunct="1">
              <a:buNone/>
            </a:pPr>
            <a:r>
              <a:rPr lang="en-US" altLang="en-US" sz="1600" dirty="0">
                <a:solidFill>
                  <a:srgbClr val="0070C0"/>
                </a:solidFill>
                <a:latin typeface="+mn-lt"/>
              </a:rPr>
              <a:t>[R2] IF </a:t>
            </a:r>
            <a:r>
              <a:rPr lang="en-US" altLang="en-US" sz="1600" dirty="0" err="1">
                <a:solidFill>
                  <a:srgbClr val="0070C0"/>
                </a:solidFill>
                <a:latin typeface="+mn-lt"/>
              </a:rPr>
              <a:t>kecepatan</a:t>
            </a:r>
            <a:r>
              <a:rPr lang="en-US" altLang="en-US" sz="1600" dirty="0">
                <a:solidFill>
                  <a:srgbClr val="0070C0"/>
                </a:solidFill>
                <a:latin typeface="+mn-lt"/>
              </a:rPr>
              <a:t> LAMBAT </a:t>
            </a:r>
            <a:r>
              <a:rPr lang="en-US" altLang="en-US" sz="1600" u="sng" dirty="0">
                <a:solidFill>
                  <a:srgbClr val="0070C0"/>
                </a:solidFill>
                <a:latin typeface="+mn-lt"/>
              </a:rPr>
              <a:t>And</a:t>
            </a:r>
            <a:r>
              <a:rPr lang="en-US" altLang="en-US" sz="1600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altLang="en-US" sz="1600" dirty="0" err="1">
                <a:solidFill>
                  <a:srgbClr val="0070C0"/>
                </a:solidFill>
                <a:latin typeface="+mn-lt"/>
              </a:rPr>
              <a:t>suhu</a:t>
            </a:r>
            <a:r>
              <a:rPr lang="en-US" altLang="en-US" sz="1600" dirty="0">
                <a:solidFill>
                  <a:srgbClr val="0070C0"/>
                </a:solidFill>
                <a:latin typeface="+mn-lt"/>
              </a:rPr>
              <a:t> RENDAH THEN </a:t>
            </a:r>
            <a:r>
              <a:rPr lang="en-US" altLang="en-US" sz="1600" dirty="0" err="1">
                <a:solidFill>
                  <a:srgbClr val="0070C0"/>
                </a:solidFill>
                <a:latin typeface="+mn-lt"/>
              </a:rPr>
              <a:t>frekuensi</a:t>
            </a:r>
            <a:r>
              <a:rPr lang="en-US" altLang="en-US" sz="1600" dirty="0">
                <a:solidFill>
                  <a:srgbClr val="0070C0"/>
                </a:solidFill>
                <a:latin typeface="+mn-lt"/>
              </a:rPr>
              <a:t> KECIL;</a:t>
            </a:r>
          </a:p>
          <a:p>
            <a:pPr marL="0" indent="0" eaLnBrk="1" hangingPunct="1">
              <a:buNone/>
            </a:pPr>
            <a:r>
              <a:rPr lang="en-US" altLang="en-US" sz="1600" dirty="0">
                <a:solidFill>
                  <a:srgbClr val="0070C0"/>
                </a:solidFill>
                <a:latin typeface="+mn-lt"/>
              </a:rPr>
              <a:t>[R3] IF </a:t>
            </a:r>
            <a:r>
              <a:rPr lang="en-US" altLang="en-US" sz="1600" dirty="0" err="1">
                <a:solidFill>
                  <a:srgbClr val="0070C0"/>
                </a:solidFill>
                <a:latin typeface="+mn-lt"/>
              </a:rPr>
              <a:t>kecepatan</a:t>
            </a:r>
            <a:r>
              <a:rPr lang="en-US" altLang="en-US" sz="1600" dirty="0">
                <a:solidFill>
                  <a:srgbClr val="0070C0"/>
                </a:solidFill>
                <a:latin typeface="+mn-lt"/>
              </a:rPr>
              <a:t> CEPAT </a:t>
            </a:r>
            <a:r>
              <a:rPr lang="en-US" altLang="en-US" sz="1600" u="sng" dirty="0">
                <a:solidFill>
                  <a:srgbClr val="0070C0"/>
                </a:solidFill>
                <a:latin typeface="+mn-lt"/>
              </a:rPr>
              <a:t>And</a:t>
            </a:r>
            <a:r>
              <a:rPr lang="en-US" altLang="en-US" sz="1600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altLang="en-US" sz="1600" dirty="0" err="1">
                <a:solidFill>
                  <a:srgbClr val="0070C0"/>
                </a:solidFill>
                <a:latin typeface="+mn-lt"/>
              </a:rPr>
              <a:t>suhu</a:t>
            </a:r>
            <a:r>
              <a:rPr lang="en-US" altLang="en-US" sz="1600" dirty="0">
                <a:solidFill>
                  <a:srgbClr val="0070C0"/>
                </a:solidFill>
                <a:latin typeface="+mn-lt"/>
              </a:rPr>
              <a:t> TINGGI THEN </a:t>
            </a:r>
            <a:r>
              <a:rPr lang="en-US" altLang="en-US" sz="1600" dirty="0" err="1">
                <a:solidFill>
                  <a:srgbClr val="0070C0"/>
                </a:solidFill>
                <a:latin typeface="+mn-lt"/>
              </a:rPr>
              <a:t>frekuensi</a:t>
            </a:r>
            <a:r>
              <a:rPr lang="en-US" altLang="en-US" sz="1600" dirty="0">
                <a:solidFill>
                  <a:srgbClr val="0070C0"/>
                </a:solidFill>
                <a:latin typeface="+mn-lt"/>
              </a:rPr>
              <a:t> BESAR;</a:t>
            </a:r>
          </a:p>
          <a:p>
            <a:pPr marL="0" indent="0" eaLnBrk="1" hangingPunct="1">
              <a:buNone/>
            </a:pPr>
            <a:r>
              <a:rPr lang="en-US" altLang="en-US" sz="1600" dirty="0">
                <a:solidFill>
                  <a:srgbClr val="0070C0"/>
                </a:solidFill>
                <a:latin typeface="+mn-lt"/>
              </a:rPr>
              <a:t>[R4] IF </a:t>
            </a:r>
            <a:r>
              <a:rPr lang="en-US" altLang="en-US" sz="1600" dirty="0" err="1">
                <a:solidFill>
                  <a:srgbClr val="0070C0"/>
                </a:solidFill>
                <a:latin typeface="+mn-lt"/>
              </a:rPr>
              <a:t>kecepatan</a:t>
            </a:r>
            <a:r>
              <a:rPr lang="en-US" altLang="en-US" sz="1600" dirty="0">
                <a:solidFill>
                  <a:srgbClr val="0070C0"/>
                </a:solidFill>
                <a:latin typeface="+mn-lt"/>
              </a:rPr>
              <a:t> CEPAT </a:t>
            </a:r>
            <a:r>
              <a:rPr lang="en-US" altLang="en-US" sz="1600" u="sng" dirty="0">
                <a:solidFill>
                  <a:srgbClr val="0070C0"/>
                </a:solidFill>
                <a:latin typeface="+mn-lt"/>
              </a:rPr>
              <a:t>And</a:t>
            </a:r>
            <a:r>
              <a:rPr lang="en-US" altLang="en-US" sz="1600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altLang="en-US" sz="1600" dirty="0" err="1">
                <a:solidFill>
                  <a:srgbClr val="0070C0"/>
                </a:solidFill>
                <a:latin typeface="+mn-lt"/>
              </a:rPr>
              <a:t>suhu</a:t>
            </a:r>
            <a:r>
              <a:rPr lang="en-US" altLang="en-US" sz="1600" dirty="0">
                <a:solidFill>
                  <a:srgbClr val="0070C0"/>
                </a:solidFill>
                <a:latin typeface="+mn-lt"/>
              </a:rPr>
              <a:t> RENDAH THEN </a:t>
            </a:r>
            <a:r>
              <a:rPr lang="en-US" altLang="en-US" sz="1600" dirty="0" err="1">
                <a:solidFill>
                  <a:srgbClr val="0070C0"/>
                </a:solidFill>
                <a:latin typeface="+mn-lt"/>
              </a:rPr>
              <a:t>frekuensi</a:t>
            </a:r>
            <a:r>
              <a:rPr lang="en-US" altLang="en-US" sz="1600" dirty="0">
                <a:solidFill>
                  <a:srgbClr val="0070C0"/>
                </a:solidFill>
                <a:latin typeface="+mn-lt"/>
              </a:rPr>
              <a:t> BESAR;</a:t>
            </a:r>
          </a:p>
          <a:p>
            <a:pPr marL="0" indent="0" eaLnBrk="1" hangingPunct="1">
              <a:buNone/>
            </a:pPr>
            <a:endParaRPr lang="en-US" altLang="en-US" sz="1600" dirty="0">
              <a:solidFill>
                <a:srgbClr val="FF3300"/>
              </a:solidFill>
              <a:latin typeface="+mn-lt"/>
            </a:endParaRPr>
          </a:p>
          <a:p>
            <a:pPr marL="0" indent="0" eaLnBrk="1" hangingPunct="1">
              <a:buNone/>
            </a:pPr>
            <a:r>
              <a:rPr lang="en-US" altLang="en-US" sz="1600" dirty="0" err="1">
                <a:latin typeface="+mn-lt"/>
              </a:rPr>
              <a:t>Berapa</a:t>
            </a:r>
            <a:r>
              <a:rPr lang="en-US" altLang="en-US" sz="1600" dirty="0">
                <a:latin typeface="+mn-lt"/>
              </a:rPr>
              <a:t> </a:t>
            </a:r>
            <a:r>
              <a:rPr lang="en-US" altLang="en-US" sz="1600" dirty="0" err="1">
                <a:latin typeface="+mn-lt"/>
              </a:rPr>
              <a:t>sumber</a:t>
            </a:r>
            <a:r>
              <a:rPr lang="en-US" altLang="en-US" sz="1600" dirty="0">
                <a:latin typeface="+mn-lt"/>
              </a:rPr>
              <a:t> </a:t>
            </a:r>
            <a:r>
              <a:rPr lang="en-US" altLang="en-US" sz="1600" dirty="0" err="1">
                <a:latin typeface="+mn-lt"/>
              </a:rPr>
              <a:t>frekuensi</a:t>
            </a:r>
            <a:r>
              <a:rPr lang="en-US" altLang="en-US" sz="1600" dirty="0">
                <a:latin typeface="+mn-lt"/>
              </a:rPr>
              <a:t> </a:t>
            </a:r>
            <a:r>
              <a:rPr lang="en-US" altLang="en-US" sz="1600" dirty="0" err="1">
                <a:latin typeface="+mn-lt"/>
              </a:rPr>
              <a:t>putar</a:t>
            </a:r>
            <a:r>
              <a:rPr lang="en-US" altLang="en-US" sz="1600" dirty="0">
                <a:latin typeface="+mn-lt"/>
              </a:rPr>
              <a:t> </a:t>
            </a:r>
            <a:r>
              <a:rPr lang="en-US" altLang="en-US" sz="1600" dirty="0" err="1">
                <a:latin typeface="+mn-lt"/>
              </a:rPr>
              <a:t>kipas</a:t>
            </a:r>
            <a:r>
              <a:rPr lang="en-US" altLang="en-US" sz="1600" dirty="0">
                <a:latin typeface="+mn-lt"/>
              </a:rPr>
              <a:t> </a:t>
            </a:r>
            <a:r>
              <a:rPr lang="en-US" altLang="en-US" sz="1600" dirty="0" err="1">
                <a:latin typeface="+mn-lt"/>
              </a:rPr>
              <a:t>angin</a:t>
            </a:r>
            <a:r>
              <a:rPr lang="en-US" altLang="en-US" sz="1600" dirty="0">
                <a:latin typeface="+mn-lt"/>
              </a:rPr>
              <a:t> yang </a:t>
            </a:r>
            <a:r>
              <a:rPr lang="en-US" altLang="en-US" sz="1600" dirty="0" err="1">
                <a:latin typeface="+mn-lt"/>
              </a:rPr>
              <a:t>dihasilkan</a:t>
            </a:r>
            <a:r>
              <a:rPr lang="en-US" altLang="en-US" sz="1600" dirty="0">
                <a:latin typeface="+mn-lt"/>
              </a:rPr>
              <a:t> </a:t>
            </a:r>
            <a:r>
              <a:rPr lang="en-US" altLang="en-US" sz="1600" dirty="0" err="1">
                <a:latin typeface="+mn-lt"/>
              </a:rPr>
              <a:t>sistem</a:t>
            </a:r>
            <a:r>
              <a:rPr lang="en-US" altLang="en-US" sz="1600" dirty="0">
                <a:latin typeface="+mn-lt"/>
              </a:rPr>
              <a:t> </a:t>
            </a:r>
            <a:r>
              <a:rPr lang="en-US" altLang="en-US" sz="1600" dirty="0" err="1">
                <a:latin typeface="+mn-lt"/>
              </a:rPr>
              <a:t>kontrol</a:t>
            </a:r>
            <a:r>
              <a:rPr lang="en-US" altLang="en-US" sz="1600" dirty="0">
                <a:latin typeface="+mn-lt"/>
              </a:rPr>
              <a:t> </a:t>
            </a:r>
            <a:r>
              <a:rPr lang="en-US" altLang="en-US" sz="1600" dirty="0" err="1">
                <a:latin typeface="+mn-lt"/>
              </a:rPr>
              <a:t>tersebut</a:t>
            </a:r>
            <a:r>
              <a:rPr lang="en-US" altLang="en-US" sz="1600" dirty="0">
                <a:latin typeface="+mn-lt"/>
              </a:rPr>
              <a:t> </a:t>
            </a:r>
            <a:r>
              <a:rPr lang="en-US" altLang="en-US" sz="1600" dirty="0" err="1">
                <a:latin typeface="+mn-lt"/>
              </a:rPr>
              <a:t>bila</a:t>
            </a:r>
            <a:r>
              <a:rPr lang="en-US" altLang="en-US" sz="1600" dirty="0">
                <a:latin typeface="+mn-lt"/>
              </a:rPr>
              <a:t> pada </a:t>
            </a:r>
            <a:r>
              <a:rPr lang="en-US" altLang="en-US" sz="1600" dirty="0" err="1">
                <a:latin typeface="+mn-lt"/>
              </a:rPr>
              <a:t>saat</a:t>
            </a:r>
            <a:r>
              <a:rPr lang="en-US" altLang="en-US" sz="1600" dirty="0">
                <a:latin typeface="+mn-lt"/>
              </a:rPr>
              <a:t> </a:t>
            </a:r>
            <a:r>
              <a:rPr lang="en-US" altLang="en-US" sz="1600" dirty="0" err="1">
                <a:latin typeface="+mn-lt"/>
              </a:rPr>
              <a:t>itu</a:t>
            </a:r>
            <a:r>
              <a:rPr lang="en-US" altLang="en-US" sz="1600" dirty="0">
                <a:latin typeface="+mn-lt"/>
              </a:rPr>
              <a:t> sensor </a:t>
            </a:r>
            <a:r>
              <a:rPr lang="en-US" altLang="en-US" sz="1600" dirty="0" err="1">
                <a:latin typeface="+mn-lt"/>
              </a:rPr>
              <a:t>suhu</a:t>
            </a:r>
            <a:r>
              <a:rPr lang="en-US" altLang="en-US" sz="1600" dirty="0">
                <a:latin typeface="+mn-lt"/>
              </a:rPr>
              <a:t> </a:t>
            </a:r>
            <a:r>
              <a:rPr lang="en-US" altLang="en-US" sz="1600" dirty="0" err="1">
                <a:latin typeface="+mn-lt"/>
              </a:rPr>
              <a:t>menunjukkan</a:t>
            </a:r>
            <a:r>
              <a:rPr lang="en-US" altLang="en-US" sz="1600" dirty="0">
                <a:latin typeface="+mn-lt"/>
              </a:rPr>
              <a:t> </a:t>
            </a:r>
            <a:r>
              <a:rPr lang="en-US" altLang="en-US" sz="1600" dirty="0" err="1">
                <a:latin typeface="+mn-lt"/>
              </a:rPr>
              <a:t>angka</a:t>
            </a:r>
            <a:r>
              <a:rPr lang="en-US" altLang="en-US" sz="1600" dirty="0">
                <a:latin typeface="+mn-lt"/>
              </a:rPr>
              <a:t> 300 Kelvin </a:t>
            </a:r>
            <a:r>
              <a:rPr lang="en-US" altLang="en-US" sz="1600" dirty="0" err="1">
                <a:latin typeface="+mn-lt"/>
              </a:rPr>
              <a:t>sedangkan</a:t>
            </a:r>
            <a:r>
              <a:rPr lang="en-US" altLang="en-US" sz="1600" dirty="0">
                <a:latin typeface="+mn-lt"/>
              </a:rPr>
              <a:t> </a:t>
            </a:r>
            <a:r>
              <a:rPr lang="en-US" altLang="en-US" sz="1600" dirty="0" err="1">
                <a:latin typeface="+mn-lt"/>
              </a:rPr>
              <a:t>kipas</a:t>
            </a:r>
            <a:r>
              <a:rPr lang="en-US" altLang="en-US" sz="1600" dirty="0">
                <a:latin typeface="+mn-lt"/>
              </a:rPr>
              <a:t> </a:t>
            </a:r>
            <a:r>
              <a:rPr lang="en-US" altLang="en-US" sz="1600" dirty="0" err="1">
                <a:latin typeface="+mn-lt"/>
              </a:rPr>
              <a:t>angin</a:t>
            </a:r>
            <a:r>
              <a:rPr lang="en-US" altLang="en-US" sz="1600" dirty="0">
                <a:latin typeface="+mn-lt"/>
              </a:rPr>
              <a:t> </a:t>
            </a:r>
            <a:r>
              <a:rPr lang="en-US" altLang="en-US" sz="1600" dirty="0" err="1">
                <a:latin typeface="+mn-lt"/>
              </a:rPr>
              <a:t>berputar</a:t>
            </a:r>
            <a:r>
              <a:rPr lang="en-US" altLang="en-US" sz="1600" dirty="0">
                <a:latin typeface="+mn-lt"/>
              </a:rPr>
              <a:t> </a:t>
            </a:r>
            <a:r>
              <a:rPr lang="en-US" altLang="en-US" sz="1600" dirty="0" err="1">
                <a:latin typeface="+mn-lt"/>
              </a:rPr>
              <a:t>dengan</a:t>
            </a:r>
            <a:r>
              <a:rPr lang="en-US" altLang="en-US" sz="1600" dirty="0">
                <a:latin typeface="+mn-lt"/>
              </a:rPr>
              <a:t> </a:t>
            </a:r>
            <a:r>
              <a:rPr lang="en-US" altLang="en-US" sz="1600" dirty="0" err="1">
                <a:latin typeface="+mn-lt"/>
              </a:rPr>
              <a:t>kecepatan</a:t>
            </a:r>
            <a:r>
              <a:rPr lang="en-US" altLang="en-US" sz="1600" dirty="0">
                <a:latin typeface="+mn-lt"/>
              </a:rPr>
              <a:t> 4000 rpm ? </a:t>
            </a:r>
          </a:p>
          <a:p>
            <a:pPr marL="0" indent="0" eaLnBrk="1" hangingPunct="1">
              <a:buNone/>
            </a:pPr>
            <a:endParaRPr lang="en-US" altLang="en-US" sz="1600" dirty="0">
              <a:latin typeface="+mn-lt"/>
            </a:endParaRPr>
          </a:p>
        </p:txBody>
      </p:sp>
    </p:spTree>
  </p:cSld>
  <p:clrMapOvr>
    <a:masterClrMapping/>
  </p:clrMapOvr>
  <p:transition spd="slow">
    <p:wip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6D88E-CB19-933F-7F50-0FC7ACAFB26A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sz="6600" dirty="0" err="1"/>
              <a:t>Penyelesaian</a:t>
            </a:r>
            <a:r>
              <a:rPr lang="en-US" altLang="en-US" sz="6600" dirty="0"/>
              <a:t>: </a:t>
            </a:r>
            <a:endParaRPr lang="en-US" sz="6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5A745C-F219-2009-E671-A8EE44C88057}"/>
              </a:ext>
            </a:extLst>
          </p:cNvPr>
          <p:cNvSpPr txBox="1"/>
          <p:nvPr/>
        </p:nvSpPr>
        <p:spPr>
          <a:xfrm>
            <a:off x="685800" y="1690688"/>
            <a:ext cx="5029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sv-SE" altLang="en-US" sz="1800" dirty="0">
                <a:latin typeface="+mn-lt"/>
              </a:rPr>
              <a:t>Kecepatan</a:t>
            </a:r>
            <a:r>
              <a:rPr lang="es-ES" altLang="en-US" sz="1800" dirty="0">
                <a:latin typeface="+mn-lt"/>
              </a:rPr>
              <a:t>; </a:t>
            </a:r>
            <a:r>
              <a:rPr lang="es-ES" altLang="en-US" sz="1800" dirty="0" err="1">
                <a:latin typeface="+mn-lt"/>
              </a:rPr>
              <a:t>terdiri</a:t>
            </a:r>
            <a:r>
              <a:rPr lang="es-ES" altLang="en-US" sz="1800" dirty="0">
                <a:latin typeface="+mn-lt"/>
              </a:rPr>
              <a:t>-atas 2 </a:t>
            </a:r>
            <a:r>
              <a:rPr lang="es-ES" altLang="en-US" sz="1800" dirty="0" err="1">
                <a:latin typeface="+mn-lt"/>
              </a:rPr>
              <a:t>himpunan</a:t>
            </a:r>
            <a:r>
              <a:rPr lang="es-ES" altLang="en-US" sz="1800" dirty="0">
                <a:latin typeface="+mn-lt"/>
              </a:rPr>
              <a:t> </a:t>
            </a:r>
            <a:r>
              <a:rPr lang="es-ES" altLang="en-US" sz="1800" dirty="0" err="1">
                <a:latin typeface="+mn-lt"/>
              </a:rPr>
              <a:t>fuzzy</a:t>
            </a:r>
            <a:r>
              <a:rPr lang="es-ES" altLang="en-US" sz="1800" dirty="0">
                <a:latin typeface="+mn-lt"/>
              </a:rPr>
              <a:t>, </a:t>
            </a:r>
            <a:r>
              <a:rPr lang="es-ES" altLang="en-US" sz="1800" dirty="0" err="1">
                <a:latin typeface="+mn-lt"/>
              </a:rPr>
              <a:t>yaitu</a:t>
            </a:r>
            <a:r>
              <a:rPr lang="es-ES" altLang="en-US" sz="1800" dirty="0">
                <a:latin typeface="+mn-lt"/>
              </a:rPr>
              <a:t>: </a:t>
            </a:r>
            <a:r>
              <a:rPr lang="sv-SE" altLang="en-US" sz="1800" dirty="0">
                <a:latin typeface="+mn-lt"/>
              </a:rPr>
              <a:t>LAMBAT</a:t>
            </a:r>
            <a:r>
              <a:rPr lang="es-ES" altLang="en-US" sz="1800" dirty="0">
                <a:latin typeface="+mn-lt"/>
              </a:rPr>
              <a:t> dan </a:t>
            </a:r>
            <a:r>
              <a:rPr lang="sv-SE" altLang="en-US" sz="1800" dirty="0">
                <a:latin typeface="+mn-lt"/>
              </a:rPr>
              <a:t>CEPAT </a:t>
            </a:r>
            <a:endParaRPr lang="en-US" altLang="en-US" sz="1800" dirty="0">
              <a:latin typeface="+mn-lt"/>
            </a:endParaRPr>
          </a:p>
        </p:txBody>
      </p:sp>
      <p:pic>
        <p:nvPicPr>
          <p:cNvPr id="7" name="Picture 13">
            <a:extLst>
              <a:ext uri="{FF2B5EF4-FFF2-40B4-BE49-F238E27FC236}">
                <a16:creationId xmlns:a16="http://schemas.microsoft.com/office/drawing/2014/main" id="{A691958A-5172-623C-21FB-03714D13EAE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50" r="17756" b="15798"/>
          <a:stretch/>
        </p:blipFill>
        <p:spPr bwMode="auto">
          <a:xfrm>
            <a:off x="533400" y="2644498"/>
            <a:ext cx="5699166" cy="30712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8" name="Object 10">
            <a:extLst>
              <a:ext uri="{FF2B5EF4-FFF2-40B4-BE49-F238E27FC236}">
                <a16:creationId xmlns:a16="http://schemas.microsoft.com/office/drawing/2014/main" id="{A933E99E-B07B-E2F4-5FEA-04A461FA0F4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1921156"/>
              </p:ext>
            </p:extLst>
          </p:nvPr>
        </p:nvGraphicFramePr>
        <p:xfrm>
          <a:off x="6605020" y="886093"/>
          <a:ext cx="4879839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654300" imgH="762000" progId="Equation.3">
                  <p:embed/>
                </p:oleObj>
              </mc:Choice>
              <mc:Fallback>
                <p:oleObj name="Equation" r:id="rId3" imgW="2654300" imgH="762000" progId="Equation.3">
                  <p:embed/>
                  <p:pic>
                    <p:nvPicPr>
                      <p:cNvPr id="67588" name="Object 10">
                        <a:extLst>
                          <a:ext uri="{FF2B5EF4-FFF2-40B4-BE49-F238E27FC236}">
                            <a16:creationId xmlns:a16="http://schemas.microsoft.com/office/drawing/2014/main" id="{39900BE4-9E1A-FFC3-C9FE-AD98A8F5749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05020" y="886093"/>
                        <a:ext cx="4879839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2">
            <a:extLst>
              <a:ext uri="{FF2B5EF4-FFF2-40B4-BE49-F238E27FC236}">
                <a16:creationId xmlns:a16="http://schemas.microsoft.com/office/drawing/2014/main" id="{74F6AD99-52E5-099F-C005-4607C0CD4A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7522293"/>
              </p:ext>
            </p:extLst>
          </p:nvPr>
        </p:nvGraphicFramePr>
        <p:xfrm>
          <a:off x="6858000" y="2226896"/>
          <a:ext cx="4191000" cy="12863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578100" imgH="762000" progId="Equation.3">
                  <p:embed/>
                </p:oleObj>
              </mc:Choice>
              <mc:Fallback>
                <p:oleObj name="Equation" r:id="rId5" imgW="2578100" imgH="762000" progId="Equation.3">
                  <p:embed/>
                  <p:pic>
                    <p:nvPicPr>
                      <p:cNvPr id="67590" name="Object 12">
                        <a:extLst>
                          <a:ext uri="{FF2B5EF4-FFF2-40B4-BE49-F238E27FC236}">
                            <a16:creationId xmlns:a16="http://schemas.microsoft.com/office/drawing/2014/main" id="{EB076B80-56C2-538B-3DC0-7CE5D1A9162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0" y="2226896"/>
                        <a:ext cx="4191000" cy="12863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5103435-0695-2F16-9917-2021E2BDE471}"/>
                  </a:ext>
                </a:extLst>
              </p:cNvPr>
              <p:cNvSpPr txBox="1"/>
              <p:nvPr/>
            </p:nvSpPr>
            <p:spPr>
              <a:xfrm>
                <a:off x="6605020" y="4041140"/>
                <a:ext cx="4879839" cy="14773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eaLnBrk="1" hangingPunct="1">
                  <a:spcBef>
                    <a:spcPct val="50000"/>
                  </a:spcBef>
                  <a:defRPr sz="1800">
                    <a:latin typeface="+mn-lt"/>
                  </a:defRPr>
                </a:lvl1pPr>
              </a:lstStyle>
              <a:p>
                <a:r>
                  <a:rPr lang="fi-FI" altLang="en-US" dirty="0"/>
                  <a:t>Derajat keanggotaan untuk kecepatan 4000 rpm adalah: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800" i="1" dirty="0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zh-CN" sz="1800" b="0" i="1" dirty="0" smtClean="0">
                            <a:latin typeface="Cambria Math" panose="02040503050406030204" pitchFamily="18" charset="0"/>
                          </a:rPr>
                          <m:t>𝐿𝐴𝑀𝐵𝐴𝑇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CN" sz="18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800" b="0" i="1" dirty="0" smtClean="0">
                            <a:latin typeface="Cambria Math" panose="02040503050406030204" pitchFamily="18" charset="0"/>
                          </a:rPr>
                          <m:t>4000</m:t>
                        </m:r>
                      </m:e>
                    </m:d>
                    <m:r>
                      <a:rPr lang="en-US" altLang="zh-CN" sz="18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US" dirty="0"/>
                  <a:t>= (5000-4000)/4000 = 0,25	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800" i="1" dirty="0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zh-CN" sz="1800" b="0" i="1" dirty="0" smtClean="0">
                            <a:latin typeface="Cambria Math" panose="02040503050406030204" pitchFamily="18" charset="0"/>
                          </a:rPr>
                          <m:t>𝐶𝐸𝑃𝐴𝑇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CN" sz="18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800" b="0" i="1" dirty="0" smtClean="0">
                            <a:latin typeface="Cambria Math" panose="02040503050406030204" pitchFamily="18" charset="0"/>
                          </a:rPr>
                          <m:t>4000</m:t>
                        </m:r>
                      </m:e>
                    </m:d>
                    <m:r>
                      <a:rPr lang="en-US" altLang="zh-CN" sz="18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US" dirty="0"/>
                  <a:t>= (4000-1000)/4000 = 0,75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5103435-0695-2F16-9917-2021E2BDE4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5020" y="4041140"/>
                <a:ext cx="4879839" cy="1477328"/>
              </a:xfrm>
              <a:prstGeom prst="rect">
                <a:avLst/>
              </a:prstGeom>
              <a:blipFill>
                <a:blip r:embed="rId7"/>
                <a:stretch>
                  <a:fillRect l="-1125" t="-2066" b="-61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58965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5" name="Text Box 10">
            <a:extLst>
              <a:ext uri="{FF2B5EF4-FFF2-40B4-BE49-F238E27FC236}">
                <a16:creationId xmlns:a16="http://schemas.microsoft.com/office/drawing/2014/main" id="{051F4D89-16B8-32D6-2563-703873C60E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555790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eaLnBrk="1" hangingPunct="1">
              <a:spcBef>
                <a:spcPct val="50000"/>
              </a:spcBef>
              <a:defRPr sz="1800">
                <a:latin typeface="+mn-lt"/>
              </a:defRPr>
            </a:lvl1pPr>
          </a:lstStyle>
          <a:p>
            <a:r>
              <a:rPr lang="es-ES" altLang="en-US" dirty="0" err="1"/>
              <a:t>Suhu</a:t>
            </a:r>
            <a:r>
              <a:rPr lang="es-ES" altLang="en-US" dirty="0"/>
              <a:t>; </a:t>
            </a:r>
            <a:r>
              <a:rPr lang="es-ES" altLang="en-US" dirty="0" err="1"/>
              <a:t>terdiri</a:t>
            </a:r>
            <a:r>
              <a:rPr lang="es-ES" altLang="en-US" dirty="0"/>
              <a:t>-atas 2 </a:t>
            </a:r>
            <a:r>
              <a:rPr lang="es-ES" altLang="en-US" dirty="0" err="1"/>
              <a:t>himpunan</a:t>
            </a:r>
            <a:r>
              <a:rPr lang="es-ES" altLang="en-US" dirty="0"/>
              <a:t> </a:t>
            </a:r>
            <a:r>
              <a:rPr lang="es-ES" altLang="en-US" dirty="0" err="1"/>
              <a:t>fuzzy</a:t>
            </a:r>
            <a:r>
              <a:rPr lang="es-ES" altLang="en-US" dirty="0"/>
              <a:t>, </a:t>
            </a:r>
            <a:r>
              <a:rPr lang="es-ES" altLang="en-US" dirty="0" err="1"/>
              <a:t>yaitu</a:t>
            </a:r>
            <a:r>
              <a:rPr lang="es-ES" altLang="en-US" dirty="0"/>
              <a:t>: RENDAH dan TINGGI </a:t>
            </a:r>
            <a:endParaRPr lang="en-US" altLang="en-US" dirty="0"/>
          </a:p>
        </p:txBody>
      </p:sp>
      <p:pic>
        <p:nvPicPr>
          <p:cNvPr id="69636" name="Picture 11">
            <a:extLst>
              <a:ext uri="{FF2B5EF4-FFF2-40B4-BE49-F238E27FC236}">
                <a16:creationId xmlns:a16="http://schemas.microsoft.com/office/drawing/2014/main" id="{C9FF93B3-663E-5D39-0CD5-B18D431FD2F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6" r="15534" b="17041"/>
          <a:stretch/>
        </p:blipFill>
        <p:spPr bwMode="auto">
          <a:xfrm>
            <a:off x="688013" y="2363997"/>
            <a:ext cx="5059680" cy="27709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F4F6C3-5388-110E-F560-7D4DF4C92E1E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sz="6600" dirty="0" err="1"/>
              <a:t>Penyelesaian</a:t>
            </a:r>
            <a:r>
              <a:rPr lang="en-US" altLang="en-US" sz="6600" dirty="0"/>
              <a:t>: </a:t>
            </a:r>
            <a:endParaRPr lang="en-US" sz="6600" dirty="0"/>
          </a:p>
        </p:txBody>
      </p:sp>
      <p:graphicFrame>
        <p:nvGraphicFramePr>
          <p:cNvPr id="3" name="Object 9">
            <a:extLst>
              <a:ext uri="{FF2B5EF4-FFF2-40B4-BE49-F238E27FC236}">
                <a16:creationId xmlns:a16="http://schemas.microsoft.com/office/drawing/2014/main" id="{BDD8DCB0-8814-8CFA-EC6A-749E55403E4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670444"/>
              </p:ext>
            </p:extLst>
          </p:nvPr>
        </p:nvGraphicFramePr>
        <p:xfrm>
          <a:off x="6096000" y="967356"/>
          <a:ext cx="5532847" cy="13966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476500" imgH="787400" progId="Equation.3">
                  <p:embed/>
                </p:oleObj>
              </mc:Choice>
              <mc:Fallback>
                <p:oleObj name="Equation" r:id="rId3" imgW="2476500" imgH="787400" progId="Equation.3">
                  <p:embed/>
                  <p:pic>
                    <p:nvPicPr>
                      <p:cNvPr id="70660" name="Object 9">
                        <a:extLst>
                          <a:ext uri="{FF2B5EF4-FFF2-40B4-BE49-F238E27FC236}">
                            <a16:creationId xmlns:a16="http://schemas.microsoft.com/office/drawing/2014/main" id="{0D052816-74D6-CEA3-F8A2-7ED6A8AD078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967356"/>
                        <a:ext cx="5532847" cy="13966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11">
            <a:extLst>
              <a:ext uri="{FF2B5EF4-FFF2-40B4-BE49-F238E27FC236}">
                <a16:creationId xmlns:a16="http://schemas.microsoft.com/office/drawing/2014/main" id="{1C045AFB-3667-FDC4-8FA5-24189256F12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8488128"/>
              </p:ext>
            </p:extLst>
          </p:nvPr>
        </p:nvGraphicFramePr>
        <p:xfrm>
          <a:off x="6169987" y="2766218"/>
          <a:ext cx="4909493" cy="1325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400300" imgH="787400" progId="Equation.3">
                  <p:embed/>
                </p:oleObj>
              </mc:Choice>
              <mc:Fallback>
                <p:oleObj name="Equation" r:id="rId5" imgW="2400300" imgH="787400" progId="Equation.3">
                  <p:embed/>
                  <p:pic>
                    <p:nvPicPr>
                      <p:cNvPr id="70662" name="Object 11">
                        <a:extLst>
                          <a:ext uri="{FF2B5EF4-FFF2-40B4-BE49-F238E27FC236}">
                            <a16:creationId xmlns:a16="http://schemas.microsoft.com/office/drawing/2014/main" id="{ED1E8E20-C320-74BA-06C3-74FE62BC73A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69987" y="2766218"/>
                        <a:ext cx="4909493" cy="1325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D4784AC-9FF1-40DA-A747-A7749084C8DA}"/>
                  </a:ext>
                </a:extLst>
              </p:cNvPr>
              <p:cNvSpPr txBox="1"/>
              <p:nvPr/>
            </p:nvSpPr>
            <p:spPr>
              <a:xfrm>
                <a:off x="6126480" y="4534797"/>
                <a:ext cx="5576354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eaLnBrk="1" hangingPunct="1"/>
                <a:r>
                  <a:rPr lang="fi-FI" altLang="en-US" sz="1800" dirty="0">
                    <a:latin typeface="Arial" panose="020B0604020202020204" pitchFamily="34" charset="0"/>
                  </a:rPr>
                  <a:t>Derajat keanggotaan untuk suhu 300 Kelvin adalah:</a:t>
                </a:r>
              </a:p>
              <a:p>
                <a:pPr eaLnBrk="1" hangingPunct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800" i="1" dirty="0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zh-CN" sz="1800" b="0" i="1" dirty="0" smtClean="0">
                            <a:latin typeface="Cambria Math" panose="02040503050406030204" pitchFamily="18" charset="0"/>
                          </a:rPr>
                          <m:t>𝑅𝐸𝑁𝐷𝐴𝐻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CN" sz="18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800" b="0" i="1" dirty="0" smtClean="0">
                            <a:latin typeface="Cambria Math" panose="02040503050406030204" pitchFamily="18" charset="0"/>
                          </a:rPr>
                          <m:t>300</m:t>
                        </m:r>
                      </m:e>
                    </m:d>
                    <m:r>
                      <a:rPr lang="en-US" altLang="zh-CN" sz="18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US" sz="1800" dirty="0">
                    <a:latin typeface="Arial" panose="020B0604020202020204" pitchFamily="34" charset="0"/>
                  </a:rPr>
                  <a:t>= (600-300)/500 = 0,6</a:t>
                </a:r>
              </a:p>
              <a:p>
                <a:pPr eaLnBrk="1" hangingPunct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800" i="1" dirty="0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zh-CN" sz="1800" b="0" i="1" dirty="0" smtClean="0">
                            <a:latin typeface="Cambria Math" panose="02040503050406030204" pitchFamily="18" charset="0"/>
                          </a:rPr>
                          <m:t>𝑇𝐼𝑁𝐺𝐺𝐼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CN" sz="18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800" b="0" i="1" dirty="0" smtClean="0">
                            <a:latin typeface="Cambria Math" panose="02040503050406030204" pitchFamily="18" charset="0"/>
                          </a:rPr>
                          <m:t>300</m:t>
                        </m:r>
                      </m:e>
                    </m:d>
                    <m:r>
                      <a:rPr lang="en-US" altLang="zh-CN" sz="18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US" sz="1800" dirty="0">
                    <a:latin typeface="Arial" panose="020B0604020202020204" pitchFamily="34" charset="0"/>
                  </a:rPr>
                  <a:t>= (300-100)/500 = 0,4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D4784AC-9FF1-40DA-A747-A7749084C8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6480" y="4534797"/>
                <a:ext cx="5576354" cy="923330"/>
              </a:xfrm>
              <a:prstGeom prst="rect">
                <a:avLst/>
              </a:prstGeom>
              <a:blipFill>
                <a:blip r:embed="rId7"/>
                <a:stretch>
                  <a:fillRect l="-874" t="-3974" b="-99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slow">
    <p:wip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5" name="Text Box 10">
            <a:extLst>
              <a:ext uri="{FF2B5EF4-FFF2-40B4-BE49-F238E27FC236}">
                <a16:creationId xmlns:a16="http://schemas.microsoft.com/office/drawing/2014/main" id="{051F4D89-16B8-32D6-2563-703873C60E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555790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eaLnBrk="1" hangingPunct="1">
              <a:spcBef>
                <a:spcPct val="50000"/>
              </a:spcBef>
              <a:defRPr sz="1800">
                <a:latin typeface="+mn-lt"/>
              </a:defRPr>
            </a:lvl1pPr>
          </a:lstStyle>
          <a:p>
            <a:r>
              <a:rPr lang="es-ES" altLang="en-US" dirty="0" err="1"/>
              <a:t>Frekuensi</a:t>
            </a:r>
            <a:r>
              <a:rPr lang="es-ES" altLang="en-US" dirty="0"/>
              <a:t>; </a:t>
            </a:r>
            <a:r>
              <a:rPr lang="es-ES" altLang="en-US" dirty="0" err="1"/>
              <a:t>terdiri</a:t>
            </a:r>
            <a:r>
              <a:rPr lang="es-ES" altLang="en-US" dirty="0"/>
              <a:t>-atas 2 </a:t>
            </a:r>
            <a:r>
              <a:rPr lang="es-ES" altLang="en-US" dirty="0" err="1"/>
              <a:t>himpunan</a:t>
            </a:r>
            <a:r>
              <a:rPr lang="es-ES" altLang="en-US" dirty="0"/>
              <a:t> </a:t>
            </a:r>
            <a:r>
              <a:rPr lang="es-ES" altLang="en-US" dirty="0" err="1"/>
              <a:t>fuzzy</a:t>
            </a:r>
            <a:r>
              <a:rPr lang="es-ES" altLang="en-US" dirty="0"/>
              <a:t>, </a:t>
            </a:r>
            <a:r>
              <a:rPr lang="es-ES" altLang="en-US" dirty="0" err="1"/>
              <a:t>yaitu</a:t>
            </a:r>
            <a:r>
              <a:rPr lang="es-ES" altLang="en-US" dirty="0"/>
              <a:t>: KECIL dan BESAR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F4F6C3-5388-110E-F560-7D4DF4C92E1E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sz="6600" dirty="0" err="1"/>
              <a:t>Penyelesaian</a:t>
            </a:r>
            <a:r>
              <a:rPr lang="en-US" altLang="en-US" sz="6600" dirty="0"/>
              <a:t>: </a:t>
            </a:r>
            <a:endParaRPr lang="en-US" sz="6600" dirty="0"/>
          </a:p>
        </p:txBody>
      </p:sp>
      <p:pic>
        <p:nvPicPr>
          <p:cNvPr id="5" name="Picture 10">
            <a:extLst>
              <a:ext uri="{FF2B5EF4-FFF2-40B4-BE49-F238E27FC236}">
                <a16:creationId xmlns:a16="http://schemas.microsoft.com/office/drawing/2014/main" id="{5F655052-AE33-4C31-19EE-0ED88BC8A2A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29" r="21155" b="16394"/>
          <a:stretch/>
        </p:blipFill>
        <p:spPr bwMode="auto">
          <a:xfrm>
            <a:off x="868680" y="2486124"/>
            <a:ext cx="4572000" cy="3211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7" name="Object 12">
            <a:extLst>
              <a:ext uri="{FF2B5EF4-FFF2-40B4-BE49-F238E27FC236}">
                <a16:creationId xmlns:a16="http://schemas.microsoft.com/office/drawing/2014/main" id="{78748C39-503B-E171-84BD-810829B3874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2503067"/>
              </p:ext>
            </p:extLst>
          </p:nvPr>
        </p:nvGraphicFramePr>
        <p:xfrm>
          <a:off x="6096000" y="1981200"/>
          <a:ext cx="6065837" cy="1212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590800" imgH="762000" progId="Equation.3">
                  <p:embed/>
                </p:oleObj>
              </mc:Choice>
              <mc:Fallback>
                <p:oleObj name="Equation" r:id="rId3" imgW="2590800" imgH="762000" progId="Equation.3">
                  <p:embed/>
                  <p:pic>
                    <p:nvPicPr>
                      <p:cNvPr id="73732" name="Object 12">
                        <a:extLst>
                          <a:ext uri="{FF2B5EF4-FFF2-40B4-BE49-F238E27FC236}">
                            <a16:creationId xmlns:a16="http://schemas.microsoft.com/office/drawing/2014/main" id="{936A9C06-E497-3D52-4EDB-E4F5A7ED581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1981200"/>
                        <a:ext cx="6065837" cy="1212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4">
            <a:extLst>
              <a:ext uri="{FF2B5EF4-FFF2-40B4-BE49-F238E27FC236}">
                <a16:creationId xmlns:a16="http://schemas.microsoft.com/office/drawing/2014/main" id="{814FDF77-4ABD-C9F9-8418-7CF02579F9A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7425970"/>
              </p:ext>
            </p:extLst>
          </p:nvPr>
        </p:nvGraphicFramePr>
        <p:xfrm>
          <a:off x="6096000" y="3666785"/>
          <a:ext cx="4876800" cy="13998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603500" imgH="762000" progId="Equation.3">
                  <p:embed/>
                </p:oleObj>
              </mc:Choice>
              <mc:Fallback>
                <p:oleObj name="Equation" r:id="rId5" imgW="2603500" imgH="762000" progId="Equation.3">
                  <p:embed/>
                  <p:pic>
                    <p:nvPicPr>
                      <p:cNvPr id="73734" name="Object 14">
                        <a:extLst>
                          <a:ext uri="{FF2B5EF4-FFF2-40B4-BE49-F238E27FC236}">
                            <a16:creationId xmlns:a16="http://schemas.microsoft.com/office/drawing/2014/main" id="{6E89F514-ED74-E774-53C4-52DCD4580BE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3666785"/>
                        <a:ext cx="4876800" cy="13998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84425618"/>
      </p:ext>
    </p:extLst>
  </p:cSld>
  <p:clrMapOvr>
    <a:masterClrMapping/>
  </p:clrMapOvr>
  <p:transition spd="slow">
    <p:wip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6" name="Title 1">
            <a:extLst>
              <a:ext uri="{FF2B5EF4-FFF2-40B4-BE49-F238E27FC236}">
                <a16:creationId xmlns:a16="http://schemas.microsoft.com/office/drawing/2014/main" id="{CE2BCB18-3387-3E07-AF21-CCDDBBC851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sz="6600" dirty="0" err="1"/>
              <a:t>Penyelesaian</a:t>
            </a:r>
            <a:r>
              <a:rPr lang="en-US" altLang="en-US" sz="6600" dirty="0"/>
              <a:t>: </a:t>
            </a:r>
            <a:r>
              <a:rPr lang="en-US" altLang="en-US" sz="6600" dirty="0" err="1">
                <a:solidFill>
                  <a:schemeClr val="accent6"/>
                </a:solidFill>
              </a:rPr>
              <a:t>Metode</a:t>
            </a:r>
            <a:r>
              <a:rPr lang="en-US" altLang="en-US" sz="6600" dirty="0">
                <a:solidFill>
                  <a:schemeClr val="accent6"/>
                </a:solidFill>
              </a:rPr>
              <a:t> Tsukamoto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0E4F1E1-40AB-9649-A47A-98D64F3D2492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533400" y="1883410"/>
                <a:ext cx="5486400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1800" dirty="0">
                    <a:solidFill>
                      <a:srgbClr val="FF0000"/>
                    </a:solidFill>
                  </a:rPr>
                  <a:t>[R1] IF </a:t>
                </a:r>
                <a:r>
                  <a:rPr lang="en-US" sz="1800" dirty="0" err="1">
                    <a:solidFill>
                      <a:srgbClr val="FF0000"/>
                    </a:solidFill>
                  </a:rPr>
                  <a:t>kecepatan</a:t>
                </a:r>
                <a:r>
                  <a:rPr lang="en-US" sz="1800" dirty="0">
                    <a:solidFill>
                      <a:srgbClr val="FF0000"/>
                    </a:solidFill>
                  </a:rPr>
                  <a:t> LAMBAT AND </a:t>
                </a:r>
                <a:r>
                  <a:rPr lang="en-US" sz="1800" dirty="0" err="1">
                    <a:solidFill>
                      <a:srgbClr val="FF0000"/>
                    </a:solidFill>
                  </a:rPr>
                  <a:t>suhu</a:t>
                </a:r>
                <a:r>
                  <a:rPr lang="en-US" sz="1800" dirty="0">
                    <a:solidFill>
                      <a:srgbClr val="FF0000"/>
                    </a:solidFill>
                  </a:rPr>
                  <a:t> TINGGI THEN </a:t>
                </a:r>
                <a:r>
                  <a:rPr lang="en-US" sz="1800" dirty="0" err="1">
                    <a:solidFill>
                      <a:srgbClr val="FF0000"/>
                    </a:solidFill>
                  </a:rPr>
                  <a:t>frekuensi</a:t>
                </a:r>
                <a:r>
                  <a:rPr lang="en-US" sz="1800" dirty="0">
                    <a:solidFill>
                      <a:srgbClr val="FF0000"/>
                    </a:solidFill>
                  </a:rPr>
                  <a:t> KECIL;</a:t>
                </a:r>
              </a:p>
              <a:p>
                <a:pPr marL="0" indent="0">
                  <a:buNone/>
                </a:pPr>
                <a:endParaRPr lang="en-US" sz="1800" dirty="0">
                  <a:solidFill>
                    <a:srgbClr val="FF0000"/>
                  </a:solidFill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𝑝𝑟𝑒𝑑𝑖𝑘𝑎𝑡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1=</m:t>
                      </m:r>
                      <m:sSub>
                        <m:sSubPr>
                          <m:ctrlPr>
                            <a:rPr lang="en-US" altLang="zh-CN" sz="1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800" i="1" dirty="0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zh-CN" sz="1800" b="0" i="1" dirty="0" smtClean="0">
                              <a:latin typeface="Cambria Math" panose="02040503050406030204" pitchFamily="18" charset="0"/>
                            </a:rPr>
                            <m:t>𝐿𝐴𝑀𝐵𝐴𝑇</m:t>
                          </m:r>
                          <m:r>
                            <a:rPr lang="en-US" altLang="zh-CN" sz="1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∩</m:t>
                          </m:r>
                          <m:r>
                            <a:rPr lang="en-US" altLang="zh-CN" sz="1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𝑇𝐼𝑁𝐺𝐺𝐼</m:t>
                          </m:r>
                        </m:sub>
                      </m:sSub>
                      <m:r>
                        <a:rPr lang="en-US" altLang="zh-CN" sz="1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zh-CN" sz="1800" b="0" dirty="0">
                  <a:ea typeface="Cambria Math" panose="02040503050406030204" pitchFamily="18" charset="0"/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𝑝𝑟𝑒𝑑𝑖𝑘𝑎𝑡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sz="1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800" b="0" i="0" smtClean="0"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𝐿𝐴𝑀𝐵𝐴𝑇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4000</m:t>
                                  </m:r>
                                </m:e>
                              </m:d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𝑇𝐼𝑁𝐺𝐺𝐼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300</m:t>
                                  </m:r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US" sz="1800" b="0" dirty="0"/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𝑝𝑟𝑒𝑑𝑖𝑘𝑎𝑡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en-US" sz="1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800" b="0" i="0" smtClean="0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0.25,0.4</m:t>
                            </m:r>
                          </m:e>
                        </m:d>
                      </m:e>
                    </m:func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=0.25</m:t>
                    </m:r>
                  </m:oMath>
                </a14:m>
                <a:r>
                  <a:rPr lang="en-US" sz="1800" dirty="0"/>
                  <a:t> 	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r>
                  <a:rPr lang="en-US" sz="1800" dirty="0" err="1"/>
                  <a:t>Lihat</a:t>
                </a:r>
                <a:r>
                  <a:rPr lang="en-US" sz="1800" dirty="0"/>
                  <a:t> </a:t>
                </a:r>
                <a:r>
                  <a:rPr lang="en-US" sz="1800" dirty="0" err="1"/>
                  <a:t>himpunan</a:t>
                </a:r>
                <a:r>
                  <a:rPr lang="en-US" sz="1800" dirty="0"/>
                  <a:t> KECIL pada </a:t>
                </a:r>
                <a:r>
                  <a:rPr lang="en-US" sz="1800" dirty="0" err="1"/>
                  <a:t>grafik</a:t>
                </a:r>
                <a:r>
                  <a:rPr lang="en-US" sz="1800" dirty="0"/>
                  <a:t> </a:t>
                </a:r>
                <a:r>
                  <a:rPr lang="en-US" sz="1800" dirty="0" err="1"/>
                  <a:t>keanggotaan</a:t>
                </a:r>
                <a:r>
                  <a:rPr lang="en-US" sz="1800" dirty="0"/>
                  <a:t> </a:t>
                </a:r>
                <a:r>
                  <a:rPr lang="en-US" sz="1800" dirty="0" err="1"/>
                  <a:t>variabel</a:t>
                </a:r>
                <a:r>
                  <a:rPr lang="en-US" sz="1800" dirty="0"/>
                  <a:t> </a:t>
                </a:r>
                <a:r>
                  <a:rPr lang="en-US" sz="1800" dirty="0" err="1"/>
                  <a:t>frekuensi</a:t>
                </a:r>
                <a:r>
                  <a:rPr lang="en-US" sz="1800" dirty="0"/>
                  <a:t>, </a:t>
                </a:r>
              </a:p>
              <a:p>
                <a:pPr marL="0" indent="0">
                  <a:buNone/>
                </a:pPr>
                <a:r>
                  <a:rPr lang="en-US" sz="1800" dirty="0"/>
                  <a:t>(7000-z)/5000 = 0,25 </a:t>
                </a:r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800" dirty="0"/>
                  <a:t> z1 = 5750 (rpm)</a:t>
                </a:r>
              </a:p>
              <a:p>
                <a:pPr marL="0" indent="0">
                  <a:buNone/>
                </a:pPr>
                <a:endParaRPr lang="en-US" sz="1800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0E4F1E1-40AB-9649-A47A-98D64F3D24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533400" y="1883410"/>
                <a:ext cx="5486400" cy="4351338"/>
              </a:xfrm>
              <a:blipFill>
                <a:blip r:embed="rId2"/>
                <a:stretch>
                  <a:fillRect l="-1000" t="-14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38DC59-BF46-B01F-FB28-75641626D156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172200" y="1825625"/>
                <a:ext cx="5638800" cy="4351338"/>
              </a:xfr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indent="0">
                  <a:buNone/>
                </a:pPr>
                <a:r>
                  <a:rPr lang="en-US" altLang="en-US" sz="1800" dirty="0">
                    <a:solidFill>
                      <a:srgbClr val="FF0000"/>
                    </a:solidFill>
                  </a:rPr>
                  <a:t>[R2] IF </a:t>
                </a:r>
                <a:r>
                  <a:rPr lang="en-US" altLang="en-US" sz="1800" dirty="0" err="1">
                    <a:solidFill>
                      <a:srgbClr val="FF0000"/>
                    </a:solidFill>
                  </a:rPr>
                  <a:t>kecepatan</a:t>
                </a:r>
                <a:r>
                  <a:rPr lang="en-US" altLang="en-US" sz="1800" dirty="0">
                    <a:solidFill>
                      <a:srgbClr val="FF0000"/>
                    </a:solidFill>
                  </a:rPr>
                  <a:t> LAMBAT And </a:t>
                </a:r>
                <a:r>
                  <a:rPr lang="en-US" altLang="en-US" sz="1800" dirty="0" err="1">
                    <a:solidFill>
                      <a:srgbClr val="FF0000"/>
                    </a:solidFill>
                  </a:rPr>
                  <a:t>suhu</a:t>
                </a:r>
                <a:r>
                  <a:rPr lang="en-US" altLang="en-US" sz="1800" dirty="0">
                    <a:solidFill>
                      <a:srgbClr val="FF0000"/>
                    </a:solidFill>
                  </a:rPr>
                  <a:t> RENDAH THEN </a:t>
                </a:r>
                <a:r>
                  <a:rPr lang="en-US" altLang="en-US" sz="1800" dirty="0" err="1">
                    <a:solidFill>
                      <a:srgbClr val="FF0000"/>
                    </a:solidFill>
                  </a:rPr>
                  <a:t>frekuensi</a:t>
                </a:r>
                <a:r>
                  <a:rPr lang="en-US" altLang="en-US" sz="1800" dirty="0">
                    <a:solidFill>
                      <a:srgbClr val="FF0000"/>
                    </a:solidFill>
                  </a:rPr>
                  <a:t> KECIL;</a:t>
                </a:r>
              </a:p>
              <a:p>
                <a:pPr marL="0" indent="0">
                  <a:buNone/>
                </a:pPr>
                <a:endParaRPr lang="en-US" altLang="en-US" sz="1800" dirty="0">
                  <a:solidFill>
                    <a:srgbClr val="FF0000"/>
                  </a:solidFill>
                  <a:sym typeface="Symbol" panose="05050102010706020507" pitchFamily="18" charset="2"/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𝑝𝑟𝑒𝑑𝑖𝑘𝑎𝑡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2=</m:t>
                      </m:r>
                      <m:sSub>
                        <m:sSubPr>
                          <m:ctrlPr>
                            <a:rPr lang="en-US" altLang="zh-CN" sz="1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800" i="1" dirty="0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zh-CN" sz="1800" b="0" i="1" dirty="0" smtClean="0">
                              <a:latin typeface="Cambria Math" panose="02040503050406030204" pitchFamily="18" charset="0"/>
                            </a:rPr>
                            <m:t>𝐿𝐴𝑀𝐵𝐴𝑇</m:t>
                          </m:r>
                          <m:r>
                            <a:rPr lang="en-US" altLang="zh-CN" sz="1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∩</m:t>
                          </m:r>
                          <m:r>
                            <a:rPr lang="en-US" altLang="zh-CN" sz="1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𝑅𝐸𝑁𝐷𝐴𝐻</m:t>
                          </m:r>
                        </m:sub>
                      </m:sSub>
                      <m:r>
                        <a:rPr lang="en-US" altLang="zh-CN" sz="1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zh-CN" sz="1800" b="0" dirty="0">
                  <a:ea typeface="Cambria Math" panose="02040503050406030204" pitchFamily="18" charset="0"/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𝑝𝑟𝑒𝑑𝑖𝑘𝑎𝑡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US" sz="1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800" b="0" i="0" smtClean="0"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𝐿𝐴𝑀𝐵𝐴𝑇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4000</m:t>
                                  </m:r>
                                </m:e>
                              </m:d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𝑅𝐸𝑁𝐷𝐴𝐻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300</m:t>
                                  </m:r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US" sz="1800" b="0" dirty="0"/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𝑝𝑟𝑒𝑑𝑖𝑘𝑎𝑡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n-US" sz="1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800" b="0" i="0" smtClean="0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0.25,0.6</m:t>
                            </m:r>
                          </m:e>
                        </m:d>
                      </m:e>
                    </m:func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=0.25</m:t>
                    </m:r>
                  </m:oMath>
                </a14:m>
                <a:r>
                  <a:rPr lang="en-US" sz="1800" dirty="0"/>
                  <a:t> 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US" sz="1800" dirty="0"/>
                  <a:t>	</a:t>
                </a:r>
              </a:p>
              <a:p>
                <a:pPr marL="0" indent="0">
                  <a:buNone/>
                </a:pPr>
                <a:r>
                  <a:rPr lang="en-US" sz="1800" dirty="0"/>
                  <a:t>Lihat </a:t>
                </a:r>
                <a:r>
                  <a:rPr lang="en-US" sz="1800" dirty="0" err="1"/>
                  <a:t>himpunan</a:t>
                </a:r>
                <a:r>
                  <a:rPr lang="en-US" sz="1800" dirty="0"/>
                  <a:t> KECIL pada </a:t>
                </a:r>
                <a:r>
                  <a:rPr lang="en-US" sz="1800" dirty="0" err="1"/>
                  <a:t>grafik</a:t>
                </a:r>
                <a:r>
                  <a:rPr lang="en-US" sz="1800" dirty="0"/>
                  <a:t> </a:t>
                </a:r>
                <a:r>
                  <a:rPr lang="en-US" sz="1800" dirty="0" err="1"/>
                  <a:t>keanggotaan</a:t>
                </a:r>
                <a:r>
                  <a:rPr lang="en-US" sz="1800" dirty="0"/>
                  <a:t> </a:t>
                </a:r>
                <a:r>
                  <a:rPr lang="en-US" sz="1800" dirty="0" err="1"/>
                  <a:t>variabel</a:t>
                </a:r>
                <a:r>
                  <a:rPr lang="en-US" sz="1800" dirty="0"/>
                  <a:t> </a:t>
                </a:r>
                <a:r>
                  <a:rPr lang="en-US" sz="1800" dirty="0" err="1"/>
                  <a:t>frekuensi</a:t>
                </a:r>
                <a:r>
                  <a:rPr lang="en-US" sz="1800" dirty="0"/>
                  <a:t>, </a:t>
                </a:r>
              </a:p>
              <a:p>
                <a:pPr marL="0" indent="0">
                  <a:buNone/>
                </a:pPr>
                <a:r>
                  <a:rPr lang="en-US" sz="1800" dirty="0"/>
                  <a:t>(7000-z)/5000 = 0,25 </a:t>
                </a:r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800" dirty="0"/>
                  <a:t> z2 = 5750 (rpm)</a:t>
                </a:r>
              </a:p>
              <a:p>
                <a:pPr marL="0" indent="0">
                  <a:buNone/>
                </a:pPr>
                <a:endParaRPr lang="en-US" altLang="en-US" sz="1800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en-US" sz="1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38DC59-BF46-B01F-FB28-75641626D1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172200" y="1825625"/>
                <a:ext cx="5638800" cy="4351338"/>
              </a:xfrm>
              <a:blipFill>
                <a:blip r:embed="rId3"/>
                <a:stretch>
                  <a:fillRect l="-973" t="-126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slow">
    <p:wip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6" name="Title 1">
            <a:extLst>
              <a:ext uri="{FF2B5EF4-FFF2-40B4-BE49-F238E27FC236}">
                <a16:creationId xmlns:a16="http://schemas.microsoft.com/office/drawing/2014/main" id="{CE2BCB18-3387-3E07-AF21-CCDDBBC851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sz="6600" dirty="0" err="1"/>
              <a:t>Penyelesaian</a:t>
            </a:r>
            <a:r>
              <a:rPr lang="en-US" altLang="en-US" sz="6600" dirty="0"/>
              <a:t>: </a:t>
            </a:r>
            <a:r>
              <a:rPr lang="en-US" altLang="en-US" sz="6600" dirty="0" err="1">
                <a:solidFill>
                  <a:schemeClr val="accent6"/>
                </a:solidFill>
              </a:rPr>
              <a:t>Metode</a:t>
            </a:r>
            <a:r>
              <a:rPr lang="en-US" altLang="en-US" sz="6600" dirty="0">
                <a:solidFill>
                  <a:schemeClr val="accent6"/>
                </a:solidFill>
              </a:rPr>
              <a:t> Tsukamoto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0E4F1E1-40AB-9649-A47A-98D64F3D2492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533400" y="1883410"/>
                <a:ext cx="5486400" cy="4351338"/>
              </a:xfrm>
            </p:spPr>
            <p:txBody>
              <a:bodyPr/>
              <a:lstStyle/>
              <a:p>
                <a:pPr marL="0" indent="0" eaLnBrk="1" hangingPunct="1">
                  <a:buNone/>
                </a:pPr>
                <a:r>
                  <a:rPr lang="en-US" altLang="en-US" sz="1800" dirty="0">
                    <a:solidFill>
                      <a:srgbClr val="FF3300"/>
                    </a:solidFill>
                    <a:latin typeface="+mn-lt"/>
                  </a:rPr>
                  <a:t>[R3] IF </a:t>
                </a:r>
                <a:r>
                  <a:rPr lang="en-US" altLang="en-US" sz="1800" dirty="0" err="1">
                    <a:solidFill>
                      <a:srgbClr val="FF3300"/>
                    </a:solidFill>
                    <a:latin typeface="+mn-lt"/>
                  </a:rPr>
                  <a:t>kecepatan</a:t>
                </a:r>
                <a:r>
                  <a:rPr lang="en-US" altLang="en-US" sz="1800" dirty="0">
                    <a:solidFill>
                      <a:srgbClr val="FF3300"/>
                    </a:solidFill>
                    <a:latin typeface="+mn-lt"/>
                  </a:rPr>
                  <a:t> CEPAT </a:t>
                </a:r>
                <a:r>
                  <a:rPr lang="en-US" altLang="en-US" sz="1800" u="sng" dirty="0">
                    <a:solidFill>
                      <a:srgbClr val="FF3300"/>
                    </a:solidFill>
                    <a:latin typeface="+mn-lt"/>
                  </a:rPr>
                  <a:t>And</a:t>
                </a:r>
                <a:r>
                  <a:rPr lang="en-US" altLang="en-US" sz="1800" dirty="0">
                    <a:solidFill>
                      <a:srgbClr val="FF3300"/>
                    </a:solidFill>
                    <a:latin typeface="+mn-lt"/>
                  </a:rPr>
                  <a:t> </a:t>
                </a:r>
                <a:r>
                  <a:rPr lang="en-US" altLang="en-US" sz="1800" dirty="0" err="1">
                    <a:solidFill>
                      <a:srgbClr val="FF3300"/>
                    </a:solidFill>
                    <a:latin typeface="+mn-lt"/>
                  </a:rPr>
                  <a:t>suhu</a:t>
                </a:r>
                <a:r>
                  <a:rPr lang="en-US" altLang="en-US" sz="1800" dirty="0">
                    <a:solidFill>
                      <a:srgbClr val="FF3300"/>
                    </a:solidFill>
                    <a:latin typeface="+mn-lt"/>
                  </a:rPr>
                  <a:t> TINGGI THEN </a:t>
                </a:r>
                <a:r>
                  <a:rPr lang="en-US" altLang="en-US" sz="1800" dirty="0" err="1">
                    <a:solidFill>
                      <a:srgbClr val="FF3300"/>
                    </a:solidFill>
                    <a:latin typeface="+mn-lt"/>
                  </a:rPr>
                  <a:t>frekuensi</a:t>
                </a:r>
                <a:r>
                  <a:rPr lang="en-US" altLang="en-US" sz="1800" dirty="0">
                    <a:solidFill>
                      <a:srgbClr val="FF3300"/>
                    </a:solidFill>
                    <a:latin typeface="+mn-lt"/>
                  </a:rPr>
                  <a:t> BESAR;</a:t>
                </a:r>
                <a:r>
                  <a:rPr lang="en-US" altLang="en-US" sz="1800" dirty="0">
                    <a:latin typeface="+mn-lt"/>
                  </a:rPr>
                  <a:t>	</a:t>
                </a:r>
                <a:endParaRPr lang="en-US" altLang="en-US" sz="1800" dirty="0">
                  <a:latin typeface="+mn-lt"/>
                  <a:sym typeface="Symbol" panose="05050102010706020507" pitchFamily="18" charset="2"/>
                </a:endParaRPr>
              </a:p>
              <a:p>
                <a:pPr marL="0" indent="0">
                  <a:buNone/>
                </a:pPr>
                <a:endParaRPr lang="en-US" sz="1800" dirty="0">
                  <a:solidFill>
                    <a:srgbClr val="FF0000"/>
                  </a:solidFill>
                  <a:latin typeface="+mn-lt"/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𝑝𝑟𝑒𝑑𝑖𝑘𝑎𝑡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3=</m:t>
                      </m:r>
                      <m:sSub>
                        <m:sSubPr>
                          <m:ctrlPr>
                            <a:rPr lang="en-US" altLang="zh-CN" sz="1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800" i="1" dirty="0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zh-CN" sz="1800" b="0" i="1" dirty="0" smtClean="0">
                              <a:latin typeface="Cambria Math" panose="02040503050406030204" pitchFamily="18" charset="0"/>
                            </a:rPr>
                            <m:t>𝐶𝐸𝑃𝐴𝑇</m:t>
                          </m:r>
                          <m:r>
                            <a:rPr lang="en-US" altLang="zh-CN" sz="1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∩</m:t>
                          </m:r>
                          <m:r>
                            <a:rPr lang="en-US" altLang="zh-CN" sz="1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𝑇𝐼𝑁𝐺𝐺𝐼</m:t>
                          </m:r>
                        </m:sub>
                      </m:sSub>
                      <m:r>
                        <a:rPr lang="en-US" altLang="zh-CN" sz="1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zh-CN" sz="1800" b="0" dirty="0">
                  <a:latin typeface="+mn-lt"/>
                  <a:ea typeface="Cambria Math" panose="02040503050406030204" pitchFamily="18" charset="0"/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𝑝𝑟𝑒𝑑𝑖𝑘𝑎𝑡</m:t>
                      </m:r>
                      <m:r>
                        <a:rPr lang="en-US" sz="1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3=</m:t>
                      </m:r>
                      <m:func>
                        <m:func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800" b="0" i="0" smtClean="0"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𝐶𝐸𝑃𝐴𝑇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4000</m:t>
                                  </m:r>
                                </m:e>
                              </m:d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𝑇𝐼𝑁𝐺𝐺𝐼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300</m:t>
                                  </m:r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US" sz="1800" b="0" dirty="0">
                  <a:latin typeface="+mn-lt"/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𝑝𝑟𝑒𝑑𝑖𝑘𝑎𝑡</m:t>
                    </m:r>
                    <m:r>
                      <a:rPr lang="en-US" sz="1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3=</m:t>
                    </m:r>
                    <m:func>
                      <m:funcPr>
                        <m:ctrlP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800" b="0" i="0" smtClean="0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0.75,0.4</m:t>
                            </m:r>
                          </m:e>
                        </m:d>
                      </m:e>
                    </m:func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=0.4</m:t>
                    </m:r>
                  </m:oMath>
                </a14:m>
                <a:r>
                  <a:rPr lang="en-US" sz="1800" dirty="0">
                    <a:latin typeface="+mn-lt"/>
                  </a:rPr>
                  <a:t> 	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endParaRPr lang="en-US" sz="1800" dirty="0">
                  <a:latin typeface="+mn-lt"/>
                </a:endParaRPr>
              </a:p>
              <a:p>
                <a:pPr marL="0" indent="0" eaLnBrk="1" hangingPunct="1">
                  <a:buNone/>
                </a:pPr>
                <a:r>
                  <a:rPr lang="sv-SE" altLang="en-US" sz="1800" dirty="0">
                    <a:latin typeface="+mn-lt"/>
                  </a:rPr>
                  <a:t>Lihat himpunan BESAR pada grafik keanggotaan variabel frekuensi,</a:t>
                </a:r>
              </a:p>
              <a:p>
                <a:pPr marL="0" indent="0" eaLnBrk="1" hangingPunct="1">
                  <a:buNone/>
                </a:pPr>
                <a:r>
                  <a:rPr lang="sv-SE" altLang="en-US" sz="1800" dirty="0">
                    <a:latin typeface="+mn-lt"/>
                  </a:rPr>
                  <a:t>	(z-2000)/5000 = 0,4</a:t>
                </a:r>
                <a:r>
                  <a:rPr lang="en-US" sz="18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800" dirty="0">
                    <a:latin typeface="+mn-lt"/>
                  </a:rPr>
                  <a:t> </a:t>
                </a:r>
                <a:r>
                  <a:rPr lang="sv-SE" altLang="en-US" sz="1800" dirty="0">
                    <a:latin typeface="+mn-lt"/>
                  </a:rPr>
                  <a:t>z3 = 4000 (rpm)</a:t>
                </a:r>
                <a:r>
                  <a:rPr lang="en-US" altLang="en-US" sz="1800" dirty="0">
                    <a:latin typeface="+mn-lt"/>
                  </a:rPr>
                  <a:t> </a:t>
                </a:r>
              </a:p>
              <a:p>
                <a:pPr marL="0" indent="0">
                  <a:buNone/>
                </a:pPr>
                <a:endParaRPr lang="en-US" sz="1800" dirty="0">
                  <a:latin typeface="+mn-lt"/>
                </a:endParaRP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0E4F1E1-40AB-9649-A47A-98D64F3D24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533400" y="1883410"/>
                <a:ext cx="5486400" cy="4351338"/>
              </a:xfrm>
              <a:blipFill>
                <a:blip r:embed="rId2"/>
                <a:stretch>
                  <a:fillRect l="-1000" t="-14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38DC59-BF46-B01F-FB28-75641626D156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172200" y="1825625"/>
                <a:ext cx="5638800" cy="4351338"/>
              </a:xfr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indent="0" eaLnBrk="1" hangingPunct="1">
                  <a:buNone/>
                </a:pPr>
                <a:r>
                  <a:rPr lang="sv-SE" altLang="en-US" sz="1800" dirty="0">
                    <a:solidFill>
                      <a:srgbClr val="FF3300"/>
                    </a:solidFill>
                    <a:latin typeface="+mn-lt"/>
                  </a:rPr>
                  <a:t>[R4]	IF kecepatan CEPAT </a:t>
                </a:r>
                <a:r>
                  <a:rPr lang="sv-SE" altLang="en-US" sz="1800" u="sng" dirty="0">
                    <a:solidFill>
                      <a:srgbClr val="FF3300"/>
                    </a:solidFill>
                    <a:latin typeface="+mn-lt"/>
                  </a:rPr>
                  <a:t>And</a:t>
                </a:r>
                <a:r>
                  <a:rPr lang="sv-SE" altLang="en-US" sz="1800" dirty="0">
                    <a:solidFill>
                      <a:srgbClr val="FF3300"/>
                    </a:solidFill>
                    <a:latin typeface="+mn-lt"/>
                  </a:rPr>
                  <a:t> suhu RENDAH THEN frekuensi BESAR;</a:t>
                </a:r>
                <a:endParaRPr lang="en-US" altLang="en-US" sz="1800" dirty="0">
                  <a:solidFill>
                    <a:srgbClr val="FF3300"/>
                  </a:solidFill>
                  <a:latin typeface="+mn-lt"/>
                  <a:sym typeface="Symbol" panose="05050102010706020507" pitchFamily="18" charset="2"/>
                </a:endParaRPr>
              </a:p>
              <a:p>
                <a:pPr marL="0" indent="0">
                  <a:buNone/>
                </a:pPr>
                <a:endParaRPr lang="en-US" altLang="en-US" sz="1800" dirty="0">
                  <a:solidFill>
                    <a:srgbClr val="FF0000"/>
                  </a:solidFill>
                  <a:latin typeface="+mn-lt"/>
                  <a:sym typeface="Symbol" panose="05050102010706020507" pitchFamily="18" charset="2"/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𝑝𝑟𝑒𝑑𝑖𝑘𝑎𝑡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4=</m:t>
                      </m:r>
                      <m:sSub>
                        <m:sSubPr>
                          <m:ctrlPr>
                            <a:rPr lang="en-US" altLang="zh-CN" sz="1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800" i="1" dirty="0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zh-CN" sz="1800" b="0" i="1" dirty="0" smtClean="0">
                              <a:latin typeface="Cambria Math" panose="02040503050406030204" pitchFamily="18" charset="0"/>
                            </a:rPr>
                            <m:t>𝐶𝐸𝑃𝐴𝑇</m:t>
                          </m:r>
                          <m:r>
                            <a:rPr lang="en-US" altLang="zh-CN" sz="1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∩</m:t>
                          </m:r>
                          <m:r>
                            <a:rPr lang="en-US" altLang="zh-CN" sz="1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𝑅𝐸𝑁𝐷𝐴𝐻</m:t>
                          </m:r>
                        </m:sub>
                      </m:sSub>
                      <m:r>
                        <a:rPr lang="en-US" altLang="zh-CN" sz="1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zh-CN" sz="1800" b="0" dirty="0">
                  <a:latin typeface="+mn-lt"/>
                  <a:ea typeface="Cambria Math" panose="02040503050406030204" pitchFamily="18" charset="0"/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𝑝𝑟𝑒𝑑𝑖𝑘𝑎𝑡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</m:t>
                      </m:r>
                      <m:r>
                        <a:rPr lang="en-US" sz="1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800" b="0" i="0" smtClean="0"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𝐶𝐸𝑃𝐴𝑇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4000</m:t>
                                  </m:r>
                                </m:e>
                              </m:d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𝑅𝐸𝑁𝐷𝐴𝐻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300</m:t>
                                  </m:r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US" sz="1800" b="0" dirty="0">
                  <a:latin typeface="+mn-lt"/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𝑝𝑟𝑒𝑑𝑖𝑘𝑎𝑡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</m:t>
                    </m:r>
                    <m:r>
                      <a:rPr lang="en-US" sz="1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800" b="0" i="0" smtClean="0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0.75,0.6</m:t>
                            </m:r>
                          </m:e>
                        </m:d>
                      </m:e>
                    </m:func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=0.6</m:t>
                    </m:r>
                  </m:oMath>
                </a14:m>
                <a:r>
                  <a:rPr lang="en-US" sz="1800" dirty="0">
                    <a:latin typeface="+mn-lt"/>
                  </a:rPr>
                  <a:t> 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US" sz="1800" dirty="0">
                    <a:latin typeface="+mn-lt"/>
                  </a:rPr>
                  <a:t>	</a:t>
                </a:r>
              </a:p>
              <a:p>
                <a:pPr marL="0" indent="0" eaLnBrk="1" hangingPunct="1">
                  <a:buNone/>
                </a:pPr>
                <a:r>
                  <a:rPr lang="sv-SE" altLang="en-US" sz="1800" dirty="0">
                    <a:latin typeface="+mn-lt"/>
                  </a:rPr>
                  <a:t>Lihat himpunan BESAR pada grafik keanggotaan variabel frekuensi,</a:t>
                </a:r>
              </a:p>
              <a:p>
                <a:pPr marL="0" indent="0" eaLnBrk="1" hangingPunct="1">
                  <a:buNone/>
                </a:pPr>
                <a:r>
                  <a:rPr lang="sv-SE" altLang="en-US" sz="1800" dirty="0">
                    <a:latin typeface="+mn-lt"/>
                  </a:rPr>
                  <a:t>	(z-2000)/5000 = 0,6	</a:t>
                </a:r>
                <a:r>
                  <a:rPr lang="en-US" sz="18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800" dirty="0">
                    <a:latin typeface="+mn-lt"/>
                  </a:rPr>
                  <a:t> </a:t>
                </a:r>
                <a:r>
                  <a:rPr lang="sv-SE" altLang="en-US" sz="1800" dirty="0">
                    <a:latin typeface="+mn-lt"/>
                  </a:rPr>
                  <a:t>z4 = 5000 (rpm)</a:t>
                </a:r>
                <a:r>
                  <a:rPr lang="en-US" altLang="en-US" sz="1800" dirty="0">
                    <a:latin typeface="+mn-lt"/>
                  </a:rPr>
                  <a:t> </a:t>
                </a:r>
                <a:endParaRPr lang="en-US" altLang="en-US" sz="1800" dirty="0">
                  <a:solidFill>
                    <a:srgbClr val="FF0000"/>
                  </a:solidFill>
                  <a:latin typeface="+mn-lt"/>
                </a:endParaRPr>
              </a:p>
              <a:p>
                <a:pPr marL="0" indent="0">
                  <a:buNone/>
                </a:pPr>
                <a:endParaRPr lang="en-US" sz="1800" dirty="0">
                  <a:solidFill>
                    <a:srgbClr val="FF0000"/>
                  </a:solidFill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38DC59-BF46-B01F-FB28-75641626D1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172200" y="1825625"/>
                <a:ext cx="5638800" cy="4351338"/>
              </a:xfrm>
              <a:blipFill>
                <a:blip r:embed="rId3"/>
                <a:stretch>
                  <a:fillRect l="-973" t="-126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70141965"/>
      </p:ext>
    </p:extLst>
  </p:cSld>
  <p:clrMapOvr>
    <a:masterClrMapping/>
  </p:clrMapOvr>
  <p:transition spd="slow">
    <p:wip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6" name="Title 1">
            <a:extLst>
              <a:ext uri="{FF2B5EF4-FFF2-40B4-BE49-F238E27FC236}">
                <a16:creationId xmlns:a16="http://schemas.microsoft.com/office/drawing/2014/main" id="{CE2BCB18-3387-3E07-AF21-CCDDBBC851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sz="6600" dirty="0" err="1"/>
              <a:t>Penyelesaian</a:t>
            </a:r>
            <a:r>
              <a:rPr lang="en-US" altLang="en-US" sz="6600" dirty="0"/>
              <a:t>: </a:t>
            </a:r>
            <a:r>
              <a:rPr lang="en-US" altLang="en-US" sz="6600" dirty="0" err="1">
                <a:solidFill>
                  <a:schemeClr val="accent6"/>
                </a:solidFill>
              </a:rPr>
              <a:t>Metode</a:t>
            </a:r>
            <a:r>
              <a:rPr lang="en-US" altLang="en-US" sz="6600" dirty="0">
                <a:solidFill>
                  <a:schemeClr val="accent6"/>
                </a:solidFill>
              </a:rPr>
              <a:t> Tsukamoto</a:t>
            </a:r>
          </a:p>
        </p:txBody>
      </p:sp>
      <p:sp>
        <p:nvSpPr>
          <p:cNvPr id="4" name="Text Box 8">
            <a:extLst>
              <a:ext uri="{FF2B5EF4-FFF2-40B4-BE49-F238E27FC236}">
                <a16:creationId xmlns:a16="http://schemas.microsoft.com/office/drawing/2014/main" id="{EBA82836-7D23-0F5F-9A01-C41B8C2022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9171" y="1544677"/>
            <a:ext cx="8458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eaLnBrk="1" hangingPunct="1">
              <a:spcBef>
                <a:spcPct val="50000"/>
              </a:spcBef>
              <a:defRPr sz="1800">
                <a:latin typeface="+mn-lt"/>
              </a:defRPr>
            </a:lvl1pPr>
          </a:lstStyle>
          <a:p>
            <a:r>
              <a:rPr lang="sv-SE" altLang="en-US" dirty="0"/>
              <a:t>Nilai tegas z dapat dicari menggunakan rata-rata terbobot, yaitu:</a:t>
            </a:r>
            <a:endParaRPr lang="en-US" altLang="en-US" dirty="0"/>
          </a:p>
        </p:txBody>
      </p:sp>
      <p:graphicFrame>
        <p:nvGraphicFramePr>
          <p:cNvPr id="5" name="Object 9">
            <a:extLst>
              <a:ext uri="{FF2B5EF4-FFF2-40B4-BE49-F238E27FC236}">
                <a16:creationId xmlns:a16="http://schemas.microsoft.com/office/drawing/2014/main" id="{20A83365-3E58-4DBF-954F-3C1F060A75F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1226261"/>
              </p:ext>
            </p:extLst>
          </p:nvPr>
        </p:nvGraphicFramePr>
        <p:xfrm>
          <a:off x="859971" y="2056901"/>
          <a:ext cx="8915400" cy="1009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467100" imgH="444500" progId="Equation.3">
                  <p:embed/>
                </p:oleObj>
              </mc:Choice>
              <mc:Fallback>
                <p:oleObj name="Equation" r:id="rId2" imgW="3467100" imgH="444500" progId="Equation.3">
                  <p:embed/>
                  <p:pic>
                    <p:nvPicPr>
                      <p:cNvPr id="78853" name="Object 9">
                        <a:extLst>
                          <a:ext uri="{FF2B5EF4-FFF2-40B4-BE49-F238E27FC236}">
                            <a16:creationId xmlns:a16="http://schemas.microsoft.com/office/drawing/2014/main" id="{89B28C97-6E9E-4784-1437-141A596E1EE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9971" y="2056901"/>
                        <a:ext cx="8915400" cy="1009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1">
            <a:extLst>
              <a:ext uri="{FF2B5EF4-FFF2-40B4-BE49-F238E27FC236}">
                <a16:creationId xmlns:a16="http://schemas.microsoft.com/office/drawing/2014/main" id="{751199DD-8AFB-58BD-3D74-537ECF4568B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3916721"/>
              </p:ext>
            </p:extLst>
          </p:nvPr>
        </p:nvGraphicFramePr>
        <p:xfrm>
          <a:off x="990600" y="3445375"/>
          <a:ext cx="8915400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975100" imgH="330200" progId="Equation.3">
                  <p:embed/>
                </p:oleObj>
              </mc:Choice>
              <mc:Fallback>
                <p:oleObj name="Equation" r:id="rId4" imgW="3975100" imgH="330200" progId="Equation.3">
                  <p:embed/>
                  <p:pic>
                    <p:nvPicPr>
                      <p:cNvPr id="78855" name="Object 11">
                        <a:extLst>
                          <a:ext uri="{FF2B5EF4-FFF2-40B4-BE49-F238E27FC236}">
                            <a16:creationId xmlns:a16="http://schemas.microsoft.com/office/drawing/2014/main" id="{897D5AE4-8394-24C7-B0CF-9F22ADEE64C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3445375"/>
                        <a:ext cx="8915400" cy="692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13">
            <a:extLst>
              <a:ext uri="{FF2B5EF4-FFF2-40B4-BE49-F238E27FC236}">
                <a16:creationId xmlns:a16="http://schemas.microsoft.com/office/drawing/2014/main" id="{00155DDD-3DC6-F918-9938-9BE0E3DB20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9971" y="4821238"/>
            <a:ext cx="10134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eaLnBrk="1" hangingPunct="1">
              <a:spcBef>
                <a:spcPct val="50000"/>
              </a:spcBef>
              <a:defRPr sz="1800">
                <a:latin typeface="+mn-lt"/>
              </a:defRPr>
            </a:lvl1pPr>
          </a:lstStyle>
          <a:p>
            <a:r>
              <a:rPr lang="en-US" altLang="en-US" dirty="0"/>
              <a:t>Jadi </a:t>
            </a:r>
            <a:r>
              <a:rPr lang="en-US" altLang="en-US" dirty="0" err="1"/>
              <a:t>sumber</a:t>
            </a:r>
            <a:r>
              <a:rPr lang="en-US" altLang="en-US" dirty="0"/>
              <a:t> </a:t>
            </a:r>
            <a:r>
              <a:rPr lang="en-US" altLang="en-US" dirty="0" err="1"/>
              <a:t>frekuensi</a:t>
            </a:r>
            <a:r>
              <a:rPr lang="en-US" altLang="en-US" dirty="0"/>
              <a:t> </a:t>
            </a:r>
            <a:r>
              <a:rPr lang="en-US" altLang="en-US" dirty="0" err="1"/>
              <a:t>putar</a:t>
            </a:r>
            <a:r>
              <a:rPr lang="en-US" altLang="en-US" dirty="0"/>
              <a:t> </a:t>
            </a:r>
            <a:r>
              <a:rPr lang="en-US" altLang="en-US" dirty="0" err="1"/>
              <a:t>kipas</a:t>
            </a:r>
            <a:r>
              <a:rPr lang="en-US" altLang="en-US" dirty="0"/>
              <a:t> </a:t>
            </a:r>
            <a:r>
              <a:rPr lang="en-US" altLang="en-US" dirty="0" err="1"/>
              <a:t>angin</a:t>
            </a:r>
            <a:r>
              <a:rPr lang="en-US" altLang="en-US" dirty="0"/>
              <a:t> yang </a:t>
            </a:r>
            <a:r>
              <a:rPr lang="en-US" altLang="en-US" dirty="0" err="1"/>
              <a:t>dihasilkan</a:t>
            </a:r>
            <a:r>
              <a:rPr lang="en-US" altLang="en-US" dirty="0"/>
              <a:t> </a:t>
            </a:r>
            <a:r>
              <a:rPr lang="en-US" altLang="en-US" dirty="0" err="1"/>
              <a:t>sistem</a:t>
            </a:r>
            <a:r>
              <a:rPr lang="en-US" altLang="en-US" dirty="0"/>
              <a:t> </a:t>
            </a:r>
            <a:r>
              <a:rPr lang="en-US" altLang="en-US" dirty="0" err="1"/>
              <a:t>kontrol</a:t>
            </a:r>
            <a:r>
              <a:rPr lang="en-US" altLang="en-US" dirty="0"/>
              <a:t> </a:t>
            </a:r>
            <a:r>
              <a:rPr lang="en-US" altLang="en-US" dirty="0" err="1"/>
              <a:t>haruslah</a:t>
            </a:r>
            <a:r>
              <a:rPr lang="en-US" altLang="en-US" dirty="0"/>
              <a:t> 4983 rpm. </a:t>
            </a:r>
          </a:p>
        </p:txBody>
      </p:sp>
    </p:spTree>
    <p:extLst>
      <p:ext uri="{BB962C8B-B14F-4D97-AF65-F5344CB8AC3E}">
        <p14:creationId xmlns:p14="http://schemas.microsoft.com/office/powerpoint/2010/main" val="875871387"/>
      </p:ext>
    </p:extLst>
  </p:cSld>
  <p:clrMapOvr>
    <a:masterClrMapping/>
  </p:clrMapOvr>
  <p:transition spd="slow">
    <p:wip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38" descr="Oak">
            <a:extLst>
              <a:ext uri="{FF2B5EF4-FFF2-40B4-BE49-F238E27FC236}">
                <a16:creationId xmlns:a16="http://schemas.microsoft.com/office/drawing/2014/main" id="{46B6C40E-DE4A-9463-66ED-42FBAADAF7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sz="6600" dirty="0" err="1"/>
              <a:t>Penyelesaian</a:t>
            </a:r>
            <a:r>
              <a:rPr lang="en-US" altLang="en-US" sz="6600" dirty="0"/>
              <a:t>: </a:t>
            </a:r>
            <a:r>
              <a:rPr lang="en-US" altLang="en-US" sz="6600" dirty="0" err="1">
                <a:solidFill>
                  <a:srgbClr val="0070C0"/>
                </a:solidFill>
              </a:rPr>
              <a:t>Metode</a:t>
            </a:r>
            <a:r>
              <a:rPr lang="en-US" altLang="en-US" sz="6600" dirty="0">
                <a:solidFill>
                  <a:srgbClr val="0070C0"/>
                </a:solidFill>
              </a:rPr>
              <a:t> Mamdani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899" name="Text Box 48">
                <a:extLst>
                  <a:ext uri="{FF2B5EF4-FFF2-40B4-BE49-F238E27FC236}">
                    <a16:creationId xmlns:a16="http://schemas.microsoft.com/office/drawing/2014/main" id="{9B5023AE-1611-05C0-131E-8DBA97DF256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30942" y="1635737"/>
                <a:ext cx="10980057" cy="20313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Gadugi" panose="020B0502040204020203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Gadugi" panose="020B0502040204020203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Gadugi" panose="020B0502040204020203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Gadugi" panose="020B0502040204020203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Gadugi" panose="020B0502040204020203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dugi" panose="020B0502040204020203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dugi" panose="020B0502040204020203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dugi" panose="020B0502040204020203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dugi" panose="020B0502040204020203" pitchFamily="34" charset="0"/>
                  </a:defRPr>
                </a:lvl9pPr>
              </a:lstStyle>
              <a:p>
                <a:pPr eaLnBrk="1" hangingPunct="1"/>
                <a:r>
                  <a:rPr lang="en-US" altLang="en-US" dirty="0">
                    <a:latin typeface="+mn-lt"/>
                  </a:rPr>
                  <a:t>Kita </a:t>
                </a:r>
                <a:r>
                  <a:rPr lang="en-US" altLang="en-US" dirty="0" err="1">
                    <a:latin typeface="+mn-lt"/>
                  </a:rPr>
                  <a:t>terapkan</a:t>
                </a:r>
                <a:r>
                  <a:rPr lang="en-US" altLang="en-US" dirty="0">
                    <a:latin typeface="+mn-lt"/>
                  </a:rPr>
                  <a:t> </a:t>
                </a:r>
                <a:r>
                  <a:rPr lang="en-US" altLang="en-US" dirty="0" err="1">
                    <a:latin typeface="+mn-lt"/>
                  </a:rPr>
                  <a:t>fungsi</a:t>
                </a:r>
                <a:r>
                  <a:rPr lang="en-US" altLang="en-US" dirty="0">
                    <a:latin typeface="+mn-lt"/>
                  </a:rPr>
                  <a:t> MIN </a:t>
                </a:r>
                <a:r>
                  <a:rPr lang="en-US" altLang="en-US" dirty="0" err="1">
                    <a:latin typeface="+mn-lt"/>
                  </a:rPr>
                  <a:t>untuk</a:t>
                </a:r>
                <a:r>
                  <a:rPr lang="en-US" altLang="en-US" dirty="0">
                    <a:latin typeface="+mn-lt"/>
                  </a:rPr>
                  <a:t> </a:t>
                </a:r>
                <a:r>
                  <a:rPr lang="en-US" altLang="en-US" dirty="0" err="1">
                    <a:latin typeface="+mn-lt"/>
                  </a:rPr>
                  <a:t>setiap</a:t>
                </a:r>
                <a:r>
                  <a:rPr lang="en-US" altLang="en-US" dirty="0">
                    <a:latin typeface="+mn-lt"/>
                  </a:rPr>
                  <a:t> </a:t>
                </a:r>
                <a:r>
                  <a:rPr lang="en-US" altLang="en-US" dirty="0" err="1">
                    <a:latin typeface="+mn-lt"/>
                  </a:rPr>
                  <a:t>aturan</a:t>
                </a:r>
                <a:r>
                  <a:rPr lang="en-US" altLang="en-US" dirty="0">
                    <a:latin typeface="+mn-lt"/>
                  </a:rPr>
                  <a:t> pada </a:t>
                </a:r>
                <a:r>
                  <a:rPr lang="en-US" altLang="en-US" dirty="0" err="1">
                    <a:latin typeface="+mn-lt"/>
                  </a:rPr>
                  <a:t>aplikasi</a:t>
                </a:r>
                <a:r>
                  <a:rPr lang="en-US" altLang="en-US" dirty="0">
                    <a:latin typeface="+mn-lt"/>
                  </a:rPr>
                  <a:t> </a:t>
                </a:r>
                <a:r>
                  <a:rPr lang="en-US" altLang="en-US" dirty="0" err="1">
                    <a:latin typeface="+mn-lt"/>
                  </a:rPr>
                  <a:t>fungsi</a:t>
                </a:r>
                <a:r>
                  <a:rPr lang="en-US" altLang="en-US" dirty="0">
                    <a:latin typeface="+mn-lt"/>
                  </a:rPr>
                  <a:t> </a:t>
                </a:r>
                <a:r>
                  <a:rPr lang="en-US" altLang="en-US" dirty="0" err="1">
                    <a:latin typeface="+mn-lt"/>
                  </a:rPr>
                  <a:t>implikasinya</a:t>
                </a:r>
                <a:r>
                  <a:rPr lang="en-US" altLang="en-US" dirty="0">
                    <a:latin typeface="+mn-lt"/>
                  </a:rPr>
                  <a:t>:</a:t>
                </a:r>
              </a:p>
              <a:p>
                <a:pPr eaLnBrk="1" hangingPunct="1"/>
                <a:endParaRPr lang="en-US" altLang="en-US" dirty="0">
                  <a:latin typeface="+mn-lt"/>
                </a:endParaRPr>
              </a:p>
              <a:p>
                <a:pPr marL="0" indent="0">
                  <a:buNone/>
                </a:pPr>
                <a:r>
                  <a:rPr lang="en-US" sz="1800" dirty="0">
                    <a:solidFill>
                      <a:srgbClr val="FF0000"/>
                    </a:solidFill>
                  </a:rPr>
                  <a:t>[R1] IF </a:t>
                </a:r>
                <a:r>
                  <a:rPr lang="en-US" sz="1800" dirty="0" err="1">
                    <a:solidFill>
                      <a:srgbClr val="FF0000"/>
                    </a:solidFill>
                  </a:rPr>
                  <a:t>kecepatan</a:t>
                </a:r>
                <a:r>
                  <a:rPr lang="en-US" sz="1800" dirty="0">
                    <a:solidFill>
                      <a:srgbClr val="FF0000"/>
                    </a:solidFill>
                  </a:rPr>
                  <a:t> LAMBAT AND </a:t>
                </a:r>
                <a:r>
                  <a:rPr lang="en-US" sz="1800" dirty="0" err="1">
                    <a:solidFill>
                      <a:srgbClr val="FF0000"/>
                    </a:solidFill>
                  </a:rPr>
                  <a:t>suhu</a:t>
                </a:r>
                <a:r>
                  <a:rPr lang="en-US" sz="1800" dirty="0">
                    <a:solidFill>
                      <a:srgbClr val="FF0000"/>
                    </a:solidFill>
                  </a:rPr>
                  <a:t> TINGGI THEN </a:t>
                </a:r>
                <a:r>
                  <a:rPr lang="en-US" sz="1800" dirty="0" err="1">
                    <a:solidFill>
                      <a:srgbClr val="FF0000"/>
                    </a:solidFill>
                  </a:rPr>
                  <a:t>frekuensi</a:t>
                </a:r>
                <a:r>
                  <a:rPr lang="en-US" sz="1800" dirty="0">
                    <a:solidFill>
                      <a:srgbClr val="FF0000"/>
                    </a:solidFill>
                  </a:rPr>
                  <a:t> KECIL;</a:t>
                </a:r>
              </a:p>
              <a:p>
                <a:pPr marL="0" indent="0">
                  <a:buNone/>
                </a:pPr>
                <a:endParaRPr lang="en-US" sz="1800" dirty="0">
                  <a:solidFill>
                    <a:srgbClr val="FF0000"/>
                  </a:solidFill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𝑝𝑟𝑒𝑑𝑖𝑘𝑎𝑡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1=</m:t>
                      </m:r>
                      <m:sSub>
                        <m:sSubPr>
                          <m:ctrlPr>
                            <a:rPr lang="en-US" altLang="zh-CN" sz="1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800" i="1" dirty="0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zh-CN" sz="1800" b="0" i="1" dirty="0" smtClean="0">
                              <a:latin typeface="Cambria Math" panose="02040503050406030204" pitchFamily="18" charset="0"/>
                            </a:rPr>
                            <m:t>𝐿𝐴𝑀𝐵𝐴𝑇</m:t>
                          </m:r>
                          <m:r>
                            <a:rPr lang="en-US" altLang="zh-CN" sz="1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∩</m:t>
                          </m:r>
                          <m:r>
                            <a:rPr lang="en-US" altLang="zh-CN" sz="1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𝑇𝐼𝑁𝐺𝐺𝐼</m:t>
                          </m:r>
                        </m:sub>
                      </m:sSub>
                      <m:r>
                        <a:rPr lang="en-US" altLang="zh-CN" sz="1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zh-CN" sz="1800" b="0" dirty="0">
                  <a:ea typeface="Cambria Math" panose="02040503050406030204" pitchFamily="18" charset="0"/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𝑝𝑟𝑒𝑑𝑖𝑘𝑎𝑡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sz="1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800" b="0" i="0" smtClean="0"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𝐿𝐴𝑀𝐵𝐴𝑇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4000</m:t>
                                  </m:r>
                                </m:e>
                              </m:d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𝑇𝐼𝑁𝐺𝐺𝐼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300</m:t>
                                  </m:r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US" sz="1800" b="0" dirty="0"/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𝑝𝑟𝑒𝑑𝑖𝑘𝑎𝑡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en-US" sz="1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800" b="0" i="0" smtClean="0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0.25,0.4</m:t>
                            </m:r>
                          </m:e>
                        </m:d>
                      </m:e>
                    </m:func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=0.25</m:t>
                    </m:r>
                  </m:oMath>
                </a14:m>
                <a:r>
                  <a:rPr lang="en-US" sz="1800" dirty="0"/>
                  <a:t> 	</a:t>
                </a:r>
              </a:p>
            </p:txBody>
          </p:sp>
        </mc:Choice>
        <mc:Fallback xmlns="">
          <p:sp>
            <p:nvSpPr>
              <p:cNvPr id="80899" name="Text Box 48">
                <a:extLst>
                  <a:ext uri="{FF2B5EF4-FFF2-40B4-BE49-F238E27FC236}">
                    <a16:creationId xmlns:a16="http://schemas.microsoft.com/office/drawing/2014/main" id="{9B5023AE-1611-05C0-131E-8DBA97DF25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0942" y="1635737"/>
                <a:ext cx="10980057" cy="2031325"/>
              </a:xfrm>
              <a:prstGeom prst="rect">
                <a:avLst/>
              </a:prstGeom>
              <a:blipFill>
                <a:blip r:embed="rId2"/>
                <a:stretch>
                  <a:fillRect l="-444" t="-1198" b="-209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97">
            <a:extLst>
              <a:ext uri="{FF2B5EF4-FFF2-40B4-BE49-F238E27FC236}">
                <a16:creationId xmlns:a16="http://schemas.microsoft.com/office/drawing/2014/main" id="{1D43D5E2-455D-ACA4-DDAD-085414EA940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314" y="3759633"/>
            <a:ext cx="9845597" cy="234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wip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38" descr="Oak">
            <a:extLst>
              <a:ext uri="{FF2B5EF4-FFF2-40B4-BE49-F238E27FC236}">
                <a16:creationId xmlns:a16="http://schemas.microsoft.com/office/drawing/2014/main" id="{46B6C40E-DE4A-9463-66ED-42FBAADAF7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sz="6600" dirty="0" err="1"/>
              <a:t>Penyelesaian</a:t>
            </a:r>
            <a:r>
              <a:rPr lang="en-US" altLang="en-US" sz="6600" dirty="0"/>
              <a:t>: </a:t>
            </a:r>
            <a:r>
              <a:rPr lang="en-US" altLang="en-US" sz="6600" dirty="0" err="1">
                <a:solidFill>
                  <a:srgbClr val="0070C0"/>
                </a:solidFill>
              </a:rPr>
              <a:t>Metode</a:t>
            </a:r>
            <a:r>
              <a:rPr lang="en-US" altLang="en-US" sz="6600" dirty="0">
                <a:solidFill>
                  <a:srgbClr val="0070C0"/>
                </a:solidFill>
              </a:rPr>
              <a:t> Mamdani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899" name="Text Box 48">
                <a:extLst>
                  <a:ext uri="{FF2B5EF4-FFF2-40B4-BE49-F238E27FC236}">
                    <a16:creationId xmlns:a16="http://schemas.microsoft.com/office/drawing/2014/main" id="{9B5023AE-1611-05C0-131E-8DBA97DF256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30942" y="1635737"/>
                <a:ext cx="10980057" cy="17543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Gadugi" panose="020B0502040204020203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Gadugi" panose="020B0502040204020203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Gadugi" panose="020B0502040204020203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Gadugi" panose="020B0502040204020203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Gadugi" panose="020B0502040204020203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dugi" panose="020B0502040204020203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dugi" panose="020B0502040204020203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dugi" panose="020B0502040204020203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dugi" panose="020B0502040204020203" pitchFamily="34" charset="0"/>
                  </a:defRPr>
                </a:lvl9pPr>
              </a:lstStyle>
              <a:p>
                <a:pPr marL="0" indent="0">
                  <a:buNone/>
                </a:pPr>
                <a:r>
                  <a:rPr lang="en-US" altLang="en-US" sz="1800" dirty="0">
                    <a:solidFill>
                      <a:srgbClr val="FF0000"/>
                    </a:solidFill>
                  </a:rPr>
                  <a:t>[R2] IF </a:t>
                </a:r>
                <a:r>
                  <a:rPr lang="en-US" altLang="en-US" sz="1800" dirty="0" err="1">
                    <a:solidFill>
                      <a:srgbClr val="FF0000"/>
                    </a:solidFill>
                  </a:rPr>
                  <a:t>kecepatan</a:t>
                </a:r>
                <a:r>
                  <a:rPr lang="en-US" altLang="en-US" sz="1800" dirty="0">
                    <a:solidFill>
                      <a:srgbClr val="FF0000"/>
                    </a:solidFill>
                  </a:rPr>
                  <a:t> LAMBAT And </a:t>
                </a:r>
                <a:r>
                  <a:rPr lang="en-US" altLang="en-US" sz="1800" dirty="0" err="1">
                    <a:solidFill>
                      <a:srgbClr val="FF0000"/>
                    </a:solidFill>
                  </a:rPr>
                  <a:t>suhu</a:t>
                </a:r>
                <a:r>
                  <a:rPr lang="en-US" altLang="en-US" sz="1800" dirty="0">
                    <a:solidFill>
                      <a:srgbClr val="FF0000"/>
                    </a:solidFill>
                  </a:rPr>
                  <a:t> RENDAH THEN </a:t>
                </a:r>
                <a:r>
                  <a:rPr lang="en-US" altLang="en-US" sz="1800" dirty="0" err="1">
                    <a:solidFill>
                      <a:srgbClr val="FF0000"/>
                    </a:solidFill>
                  </a:rPr>
                  <a:t>frekuensi</a:t>
                </a:r>
                <a:r>
                  <a:rPr lang="en-US" altLang="en-US" sz="1800" dirty="0">
                    <a:solidFill>
                      <a:srgbClr val="FF0000"/>
                    </a:solidFill>
                  </a:rPr>
                  <a:t> KECIL;</a:t>
                </a:r>
              </a:p>
              <a:p>
                <a:pPr marL="0" indent="0">
                  <a:buNone/>
                </a:pPr>
                <a:endParaRPr lang="en-US" altLang="en-US" sz="1800" dirty="0">
                  <a:solidFill>
                    <a:srgbClr val="FF0000"/>
                  </a:solidFill>
                  <a:sym typeface="Symbol" panose="05050102010706020507" pitchFamily="18" charset="2"/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𝑝𝑟𝑒𝑑𝑖𝑘𝑎𝑡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2=</m:t>
                      </m:r>
                      <m:sSub>
                        <m:sSubPr>
                          <m:ctrlPr>
                            <a:rPr lang="en-US" altLang="zh-CN" sz="1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800" i="1" dirty="0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zh-CN" sz="1800" b="0" i="1" dirty="0" smtClean="0">
                              <a:latin typeface="Cambria Math" panose="02040503050406030204" pitchFamily="18" charset="0"/>
                            </a:rPr>
                            <m:t>𝐿𝐴𝑀𝐵𝐴𝑇</m:t>
                          </m:r>
                          <m:r>
                            <a:rPr lang="en-US" altLang="zh-CN" sz="1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∩</m:t>
                          </m:r>
                          <m:r>
                            <a:rPr lang="en-US" altLang="zh-CN" sz="1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𝑅𝐸𝑁𝐷𝐴𝐻</m:t>
                          </m:r>
                        </m:sub>
                      </m:sSub>
                      <m:r>
                        <a:rPr lang="en-US" altLang="zh-CN" sz="1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zh-CN" sz="1800" b="0" dirty="0">
                  <a:ea typeface="Cambria Math" panose="02040503050406030204" pitchFamily="18" charset="0"/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𝑝𝑟𝑒𝑑𝑖𝑘𝑎𝑡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US" sz="1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800" b="0" i="0" smtClean="0"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𝐿𝐴𝑀𝐵𝐴𝑇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4000</m:t>
                                  </m:r>
                                </m:e>
                              </m:d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𝑅𝐸𝑁𝐷𝐴𝐻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300</m:t>
                                  </m:r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US" sz="1800" b="0" dirty="0"/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𝑝𝑟𝑒𝑑𝑖𝑘𝑎𝑡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n-US" sz="1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800" b="0" i="0" smtClean="0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0.25,0.6</m:t>
                            </m:r>
                          </m:e>
                        </m:d>
                      </m:e>
                    </m:func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=0.25</m:t>
                    </m:r>
                  </m:oMath>
                </a14:m>
                <a:r>
                  <a:rPr lang="en-US" sz="1800" dirty="0"/>
                  <a:t> 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endParaRPr lang="en-US" sz="1800" dirty="0"/>
              </a:p>
            </p:txBody>
          </p:sp>
        </mc:Choice>
        <mc:Fallback xmlns="">
          <p:sp>
            <p:nvSpPr>
              <p:cNvPr id="80899" name="Text Box 48">
                <a:extLst>
                  <a:ext uri="{FF2B5EF4-FFF2-40B4-BE49-F238E27FC236}">
                    <a16:creationId xmlns:a16="http://schemas.microsoft.com/office/drawing/2014/main" id="{9B5023AE-1611-05C0-131E-8DBA97DF25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0942" y="1635737"/>
                <a:ext cx="10980057" cy="1754326"/>
              </a:xfrm>
              <a:prstGeom prst="rect">
                <a:avLst/>
              </a:prstGeom>
              <a:blipFill>
                <a:blip r:embed="rId2"/>
                <a:stretch>
                  <a:fillRect l="-444" t="-138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109">
            <a:extLst>
              <a:ext uri="{FF2B5EF4-FFF2-40B4-BE49-F238E27FC236}">
                <a16:creationId xmlns:a16="http://schemas.microsoft.com/office/drawing/2014/main" id="{82972D93-F980-3EC4-0FEC-16A532EA5BC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3767674"/>
            <a:ext cx="9845596" cy="234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95026065"/>
      </p:ext>
    </p:extLst>
  </p:cSld>
  <p:clrMapOvr>
    <a:masterClrMapping/>
  </p:clrMapOvr>
  <p:transition spd="slow">
    <p:wip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38" descr="Oak">
            <a:extLst>
              <a:ext uri="{FF2B5EF4-FFF2-40B4-BE49-F238E27FC236}">
                <a16:creationId xmlns:a16="http://schemas.microsoft.com/office/drawing/2014/main" id="{46B6C40E-DE4A-9463-66ED-42FBAADAF7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sz="6600" dirty="0" err="1"/>
              <a:t>Penyelesaian</a:t>
            </a:r>
            <a:r>
              <a:rPr lang="en-US" altLang="en-US" sz="6600" dirty="0"/>
              <a:t>: </a:t>
            </a:r>
            <a:r>
              <a:rPr lang="en-US" altLang="en-US" sz="6600" dirty="0" err="1">
                <a:solidFill>
                  <a:srgbClr val="0070C0"/>
                </a:solidFill>
              </a:rPr>
              <a:t>Metode</a:t>
            </a:r>
            <a:r>
              <a:rPr lang="en-US" altLang="en-US" sz="6600" dirty="0">
                <a:solidFill>
                  <a:srgbClr val="0070C0"/>
                </a:solidFill>
              </a:rPr>
              <a:t> Mamdani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899" name="Text Box 48">
                <a:extLst>
                  <a:ext uri="{FF2B5EF4-FFF2-40B4-BE49-F238E27FC236}">
                    <a16:creationId xmlns:a16="http://schemas.microsoft.com/office/drawing/2014/main" id="{9B5023AE-1611-05C0-131E-8DBA97DF256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30942" y="1635737"/>
                <a:ext cx="10980057" cy="14773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Gadugi" panose="020B0502040204020203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Gadugi" panose="020B0502040204020203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Gadugi" panose="020B0502040204020203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Gadugi" panose="020B0502040204020203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Gadugi" panose="020B0502040204020203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dugi" panose="020B0502040204020203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dugi" panose="020B0502040204020203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dugi" panose="020B0502040204020203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dugi" panose="020B0502040204020203" pitchFamily="34" charset="0"/>
                  </a:defRPr>
                </a:lvl9pPr>
              </a:lstStyle>
              <a:p>
                <a:pPr marL="0" indent="0" eaLnBrk="1" hangingPunct="1">
                  <a:buNone/>
                </a:pPr>
                <a:r>
                  <a:rPr lang="en-US" altLang="en-US" sz="1800" dirty="0">
                    <a:solidFill>
                      <a:srgbClr val="FF3300"/>
                    </a:solidFill>
                    <a:latin typeface="+mn-lt"/>
                  </a:rPr>
                  <a:t>[R3] IF </a:t>
                </a:r>
                <a:r>
                  <a:rPr lang="en-US" altLang="en-US" sz="1800" dirty="0" err="1">
                    <a:solidFill>
                      <a:srgbClr val="FF3300"/>
                    </a:solidFill>
                    <a:latin typeface="+mn-lt"/>
                  </a:rPr>
                  <a:t>kecepatan</a:t>
                </a:r>
                <a:r>
                  <a:rPr lang="en-US" altLang="en-US" sz="1800" dirty="0">
                    <a:solidFill>
                      <a:srgbClr val="FF3300"/>
                    </a:solidFill>
                    <a:latin typeface="+mn-lt"/>
                  </a:rPr>
                  <a:t> CEPAT </a:t>
                </a:r>
                <a:r>
                  <a:rPr lang="en-US" altLang="en-US" sz="1800" u="sng" dirty="0">
                    <a:solidFill>
                      <a:srgbClr val="FF3300"/>
                    </a:solidFill>
                    <a:latin typeface="+mn-lt"/>
                  </a:rPr>
                  <a:t>And</a:t>
                </a:r>
                <a:r>
                  <a:rPr lang="en-US" altLang="en-US" sz="1800" dirty="0">
                    <a:solidFill>
                      <a:srgbClr val="FF3300"/>
                    </a:solidFill>
                    <a:latin typeface="+mn-lt"/>
                  </a:rPr>
                  <a:t> </a:t>
                </a:r>
                <a:r>
                  <a:rPr lang="en-US" altLang="en-US" sz="1800" dirty="0" err="1">
                    <a:solidFill>
                      <a:srgbClr val="FF3300"/>
                    </a:solidFill>
                    <a:latin typeface="+mn-lt"/>
                  </a:rPr>
                  <a:t>suhu</a:t>
                </a:r>
                <a:r>
                  <a:rPr lang="en-US" altLang="en-US" sz="1800" dirty="0">
                    <a:solidFill>
                      <a:srgbClr val="FF3300"/>
                    </a:solidFill>
                    <a:latin typeface="+mn-lt"/>
                  </a:rPr>
                  <a:t> TINGGI THEN </a:t>
                </a:r>
                <a:r>
                  <a:rPr lang="en-US" altLang="en-US" sz="1800" dirty="0" err="1">
                    <a:solidFill>
                      <a:srgbClr val="FF3300"/>
                    </a:solidFill>
                    <a:latin typeface="+mn-lt"/>
                  </a:rPr>
                  <a:t>frekuensi</a:t>
                </a:r>
                <a:r>
                  <a:rPr lang="en-US" altLang="en-US" sz="1800" dirty="0">
                    <a:solidFill>
                      <a:srgbClr val="FF3300"/>
                    </a:solidFill>
                    <a:latin typeface="+mn-lt"/>
                  </a:rPr>
                  <a:t> BESAR;</a:t>
                </a:r>
                <a:r>
                  <a:rPr lang="en-US" altLang="en-US" sz="1800" dirty="0">
                    <a:latin typeface="+mn-lt"/>
                  </a:rPr>
                  <a:t>	</a:t>
                </a:r>
                <a:endParaRPr lang="en-US" altLang="en-US" sz="1800" dirty="0">
                  <a:latin typeface="+mn-lt"/>
                  <a:sym typeface="Symbol" panose="05050102010706020507" pitchFamily="18" charset="2"/>
                </a:endParaRPr>
              </a:p>
              <a:p>
                <a:pPr marL="0" indent="0">
                  <a:buNone/>
                </a:pPr>
                <a:endParaRPr lang="en-US" sz="1800" dirty="0">
                  <a:solidFill>
                    <a:srgbClr val="FF0000"/>
                  </a:solidFill>
                  <a:latin typeface="+mn-lt"/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𝑝𝑟𝑒𝑑𝑖𝑘𝑎𝑡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3=</m:t>
                      </m:r>
                      <m:sSub>
                        <m:sSubPr>
                          <m:ctrlPr>
                            <a:rPr lang="en-US" altLang="zh-CN" sz="1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800" i="1" dirty="0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zh-CN" sz="1800" b="0" i="1" dirty="0" smtClean="0">
                              <a:latin typeface="Cambria Math" panose="02040503050406030204" pitchFamily="18" charset="0"/>
                            </a:rPr>
                            <m:t>𝐶𝐸𝑃𝐴𝑇</m:t>
                          </m:r>
                          <m:r>
                            <a:rPr lang="en-US" altLang="zh-CN" sz="1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∩</m:t>
                          </m:r>
                          <m:r>
                            <a:rPr lang="en-US" altLang="zh-CN" sz="1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𝑇𝐼𝑁𝐺𝐺𝐼</m:t>
                          </m:r>
                        </m:sub>
                      </m:sSub>
                      <m:r>
                        <a:rPr lang="en-US" altLang="zh-CN" sz="1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zh-CN" sz="1800" b="0" dirty="0">
                  <a:latin typeface="+mn-lt"/>
                  <a:ea typeface="Cambria Math" panose="02040503050406030204" pitchFamily="18" charset="0"/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𝑝𝑟𝑒𝑑𝑖𝑘𝑎𝑡</m:t>
                      </m:r>
                      <m:r>
                        <a:rPr lang="en-US" sz="1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3=</m:t>
                      </m:r>
                      <m:func>
                        <m:func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800" b="0" i="0" smtClean="0"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𝐶𝐸𝑃𝐴𝑇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4000</m:t>
                                  </m:r>
                                </m:e>
                              </m:d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𝑇𝐼𝑁𝐺𝐺𝐼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300</m:t>
                                  </m:r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US" sz="1800" b="0" dirty="0">
                  <a:latin typeface="+mn-lt"/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𝑝𝑟𝑒𝑑𝑖𝑘𝑎𝑡</m:t>
                      </m:r>
                      <m:r>
                        <a:rPr lang="en-US" sz="1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3=</m:t>
                      </m:r>
                      <m:func>
                        <m:func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800" b="0" i="0" smtClean="0"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0.75,0.4</m:t>
                              </m:r>
                            </m:e>
                          </m:d>
                        </m:e>
                      </m:func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=0.4</m:t>
                      </m:r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80899" name="Text Box 48">
                <a:extLst>
                  <a:ext uri="{FF2B5EF4-FFF2-40B4-BE49-F238E27FC236}">
                    <a16:creationId xmlns:a16="http://schemas.microsoft.com/office/drawing/2014/main" id="{9B5023AE-1611-05C0-131E-8DBA97DF25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0942" y="1635737"/>
                <a:ext cx="10980057" cy="1477328"/>
              </a:xfrm>
              <a:prstGeom prst="rect">
                <a:avLst/>
              </a:prstGeom>
              <a:blipFill>
                <a:blip r:embed="rId2"/>
                <a:stretch>
                  <a:fillRect l="-444" t="-1646" b="-329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62">
            <a:extLst>
              <a:ext uri="{FF2B5EF4-FFF2-40B4-BE49-F238E27FC236}">
                <a16:creationId xmlns:a16="http://schemas.microsoft.com/office/drawing/2014/main" id="{CF03DF3D-EEC3-993E-73CB-0743A70A6AA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942" y="3458029"/>
            <a:ext cx="9831365" cy="234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56973000"/>
      </p:ext>
    </p:extLst>
  </p:cSld>
  <p:clrMapOvr>
    <a:masterClrMapping/>
  </p:clrMapOvr>
  <p:transition spd="slow">
    <p:wip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38" descr="Oak">
            <a:extLst>
              <a:ext uri="{FF2B5EF4-FFF2-40B4-BE49-F238E27FC236}">
                <a16:creationId xmlns:a16="http://schemas.microsoft.com/office/drawing/2014/main" id="{46B6C40E-DE4A-9463-66ED-42FBAADAF7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sz="6600" dirty="0" err="1"/>
              <a:t>Penyelesaian</a:t>
            </a:r>
            <a:r>
              <a:rPr lang="en-US" altLang="en-US" sz="6600" dirty="0"/>
              <a:t>: </a:t>
            </a:r>
            <a:r>
              <a:rPr lang="en-US" altLang="en-US" sz="6600" dirty="0" err="1">
                <a:solidFill>
                  <a:srgbClr val="0070C0"/>
                </a:solidFill>
              </a:rPr>
              <a:t>Metode</a:t>
            </a:r>
            <a:r>
              <a:rPr lang="en-US" altLang="en-US" sz="6600" dirty="0">
                <a:solidFill>
                  <a:srgbClr val="0070C0"/>
                </a:solidFill>
              </a:rPr>
              <a:t> Mamdani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899" name="Text Box 48">
                <a:extLst>
                  <a:ext uri="{FF2B5EF4-FFF2-40B4-BE49-F238E27FC236}">
                    <a16:creationId xmlns:a16="http://schemas.microsoft.com/office/drawing/2014/main" id="{9B5023AE-1611-05C0-131E-8DBA97DF256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30942" y="1635737"/>
                <a:ext cx="10980057" cy="17543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Gadugi" panose="020B0502040204020203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Gadugi" panose="020B0502040204020203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Gadugi" panose="020B0502040204020203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Gadugi" panose="020B0502040204020203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Gadugi" panose="020B0502040204020203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dugi" panose="020B0502040204020203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dugi" panose="020B0502040204020203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dugi" panose="020B0502040204020203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dugi" panose="020B0502040204020203" pitchFamily="34" charset="0"/>
                  </a:defRPr>
                </a:lvl9pPr>
              </a:lstStyle>
              <a:p>
                <a:pPr marL="0" indent="0" eaLnBrk="1" hangingPunct="1">
                  <a:buNone/>
                </a:pPr>
                <a:r>
                  <a:rPr lang="sv-SE" altLang="en-US" sz="1800" dirty="0">
                    <a:solidFill>
                      <a:srgbClr val="FF3300"/>
                    </a:solidFill>
                    <a:latin typeface="+mn-lt"/>
                  </a:rPr>
                  <a:t>[R4]	IF kecepatan CEPAT </a:t>
                </a:r>
                <a:r>
                  <a:rPr lang="sv-SE" altLang="en-US" sz="1800" u="sng" dirty="0">
                    <a:solidFill>
                      <a:srgbClr val="FF3300"/>
                    </a:solidFill>
                    <a:latin typeface="+mn-lt"/>
                  </a:rPr>
                  <a:t>And</a:t>
                </a:r>
                <a:r>
                  <a:rPr lang="sv-SE" altLang="en-US" sz="1800" dirty="0">
                    <a:solidFill>
                      <a:srgbClr val="FF3300"/>
                    </a:solidFill>
                    <a:latin typeface="+mn-lt"/>
                  </a:rPr>
                  <a:t> suhu RENDAH THEN frekuensi BESAR;</a:t>
                </a:r>
                <a:endParaRPr lang="en-US" altLang="en-US" sz="1800" dirty="0">
                  <a:solidFill>
                    <a:srgbClr val="FF3300"/>
                  </a:solidFill>
                  <a:latin typeface="+mn-lt"/>
                  <a:sym typeface="Symbol" panose="05050102010706020507" pitchFamily="18" charset="2"/>
                </a:endParaRPr>
              </a:p>
              <a:p>
                <a:pPr marL="0" indent="0">
                  <a:buNone/>
                </a:pPr>
                <a:endParaRPr lang="en-US" altLang="en-US" sz="1800" dirty="0">
                  <a:solidFill>
                    <a:srgbClr val="FF0000"/>
                  </a:solidFill>
                  <a:latin typeface="+mn-lt"/>
                  <a:sym typeface="Symbol" panose="05050102010706020507" pitchFamily="18" charset="2"/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𝑝𝑟𝑒𝑑𝑖𝑘𝑎𝑡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4=</m:t>
                      </m:r>
                      <m:sSub>
                        <m:sSubPr>
                          <m:ctrlPr>
                            <a:rPr lang="en-US" altLang="zh-CN" sz="1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800" i="1" dirty="0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zh-CN" sz="1800" b="0" i="1" dirty="0" smtClean="0">
                              <a:latin typeface="Cambria Math" panose="02040503050406030204" pitchFamily="18" charset="0"/>
                            </a:rPr>
                            <m:t>𝐶𝐸𝑃𝐴𝑇</m:t>
                          </m:r>
                          <m:r>
                            <a:rPr lang="en-US" altLang="zh-CN" sz="1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∩</m:t>
                          </m:r>
                          <m:r>
                            <a:rPr lang="en-US" altLang="zh-CN" sz="1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𝑅𝐸𝑁𝐷𝐴𝐻</m:t>
                          </m:r>
                        </m:sub>
                      </m:sSub>
                      <m:r>
                        <a:rPr lang="en-US" altLang="zh-CN" sz="1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zh-CN" sz="1800" b="0" dirty="0">
                  <a:latin typeface="+mn-lt"/>
                  <a:ea typeface="Cambria Math" panose="02040503050406030204" pitchFamily="18" charset="0"/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𝑝𝑟𝑒𝑑𝑖𝑘𝑎𝑡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</m:t>
                      </m:r>
                      <m:r>
                        <a:rPr lang="en-US" sz="1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800" b="0" i="0" smtClean="0"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𝐶𝐸𝑃𝐴𝑇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4000</m:t>
                                  </m:r>
                                </m:e>
                              </m:d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𝑅𝐸𝑁𝐷𝐴𝐻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300</m:t>
                                  </m:r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US" sz="1800" b="0" dirty="0">
                  <a:latin typeface="+mn-lt"/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𝑝𝑟𝑒𝑑𝑖𝑘𝑎𝑡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</m:t>
                    </m:r>
                    <m:r>
                      <a:rPr lang="en-US" sz="1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800" b="0" i="0" smtClean="0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0.75,0.6</m:t>
                            </m:r>
                          </m:e>
                        </m:d>
                      </m:e>
                    </m:func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=0.6</m:t>
                    </m:r>
                  </m:oMath>
                </a14:m>
                <a:r>
                  <a:rPr lang="en-US" sz="1800" dirty="0">
                    <a:latin typeface="+mn-lt"/>
                  </a:rPr>
                  <a:t> 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endParaRPr lang="en-US" sz="1800" dirty="0"/>
              </a:p>
            </p:txBody>
          </p:sp>
        </mc:Choice>
        <mc:Fallback xmlns="">
          <p:sp>
            <p:nvSpPr>
              <p:cNvPr id="80899" name="Text Box 48">
                <a:extLst>
                  <a:ext uri="{FF2B5EF4-FFF2-40B4-BE49-F238E27FC236}">
                    <a16:creationId xmlns:a16="http://schemas.microsoft.com/office/drawing/2014/main" id="{9B5023AE-1611-05C0-131E-8DBA97DF25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0942" y="1635737"/>
                <a:ext cx="10980057" cy="1754326"/>
              </a:xfrm>
              <a:prstGeom prst="rect">
                <a:avLst/>
              </a:prstGeom>
              <a:blipFill>
                <a:blip r:embed="rId2"/>
                <a:stretch>
                  <a:fillRect l="-444" t="-138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0">
            <a:extLst>
              <a:ext uri="{FF2B5EF4-FFF2-40B4-BE49-F238E27FC236}">
                <a16:creationId xmlns:a16="http://schemas.microsoft.com/office/drawing/2014/main" id="{1D878D4B-E2EE-6F53-0806-15672FFFD5F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942" y="3443514"/>
            <a:ext cx="9831365" cy="234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67778651"/>
      </p:ext>
    </p:extLst>
  </p:cSld>
  <p:clrMapOvr>
    <a:masterClrMapping/>
  </p:clrMapOvr>
  <p:transition spd="slow">
    <p:wip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18" descr="Oak">
            <a:extLst>
              <a:ext uri="{FF2B5EF4-FFF2-40B4-BE49-F238E27FC236}">
                <a16:creationId xmlns:a16="http://schemas.microsoft.com/office/drawing/2014/main" id="{6E645F7F-BFB1-A202-D0B5-FFC4A3DD24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sz="6600" dirty="0" err="1"/>
              <a:t>Penyelesaian</a:t>
            </a:r>
            <a:r>
              <a:rPr lang="en-US" altLang="en-US" sz="6600" dirty="0"/>
              <a:t>: </a:t>
            </a:r>
            <a:r>
              <a:rPr lang="en-US" altLang="en-US" sz="6600" dirty="0" err="1">
                <a:solidFill>
                  <a:srgbClr val="0070C0"/>
                </a:solidFill>
              </a:rPr>
              <a:t>Metode</a:t>
            </a:r>
            <a:r>
              <a:rPr lang="en-US" altLang="en-US" sz="6600" dirty="0">
                <a:solidFill>
                  <a:srgbClr val="0070C0"/>
                </a:solidFill>
              </a:rPr>
              <a:t> Mamdani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95EC7-C790-5D6A-3724-76183D2F3F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4699" y="1661710"/>
            <a:ext cx="5181600" cy="4351338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fi-FI" altLang="en-US" sz="1800" dirty="0">
                <a:latin typeface="+mn-lt"/>
              </a:rPr>
              <a:t>Daerah hasil komposisi dibagi menjadi 3 bagian, yaitu A1, A2, dan A3, sehingga menjadi himpunan fuzzy baru. Cari nilai a1 dan a2.</a:t>
            </a:r>
          </a:p>
          <a:p>
            <a:pPr marL="0" indent="0" eaLnBrk="1" hangingPunct="1">
              <a:buNone/>
            </a:pPr>
            <a:r>
              <a:rPr lang="fi-FI" altLang="en-US" sz="1800" dirty="0">
                <a:latin typeface="+mn-lt"/>
              </a:rPr>
              <a:t>	(a1 – 2000)/5000 = 0,25 ---&gt; a1 = 3250</a:t>
            </a:r>
          </a:p>
          <a:p>
            <a:pPr marL="0" indent="0" eaLnBrk="1" hangingPunct="1">
              <a:buNone/>
            </a:pPr>
            <a:r>
              <a:rPr lang="fi-FI" altLang="en-US" sz="1800" dirty="0">
                <a:latin typeface="+mn-lt"/>
              </a:rPr>
              <a:t>	(a2 – 2000)/5000 = 0,60 ---&gt; a2 = 5000</a:t>
            </a:r>
          </a:p>
          <a:p>
            <a:pPr marL="0" indent="0" eaLnBrk="1" hangingPunct="1">
              <a:buNone/>
            </a:pPr>
            <a:r>
              <a:rPr lang="fi-FI" altLang="en-US" sz="1800" dirty="0">
                <a:latin typeface="+mn-lt"/>
              </a:rPr>
              <a:t>Dengan demikian, fungsi keanggotaan untuk himpunan fuzzy baru adalah:</a:t>
            </a:r>
            <a:endParaRPr lang="en-US" altLang="en-US" sz="1800" dirty="0">
              <a:latin typeface="+mn-lt"/>
            </a:endParaRPr>
          </a:p>
          <a:p>
            <a:pPr marL="0" indent="0">
              <a:buNone/>
            </a:pPr>
            <a:endParaRPr lang="en-US" sz="2000" dirty="0">
              <a:latin typeface="+mn-lt"/>
            </a:endParaRPr>
          </a:p>
        </p:txBody>
      </p:sp>
      <p:sp>
        <p:nvSpPr>
          <p:cNvPr id="84995" name="Rectangle 25">
            <a:extLst>
              <a:ext uri="{FF2B5EF4-FFF2-40B4-BE49-F238E27FC236}">
                <a16:creationId xmlns:a16="http://schemas.microsoft.com/office/drawing/2014/main" id="{FEACFE05-7017-480B-E7EE-9AE150F076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741765"/>
            <a:ext cx="44312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fi-FI" altLang="en-US" dirty="0">
                <a:latin typeface="+mn-lt"/>
              </a:rPr>
              <a:t>Komposisi rule menggunakan fungsi max </a:t>
            </a:r>
          </a:p>
        </p:txBody>
      </p:sp>
      <p:pic>
        <p:nvPicPr>
          <p:cNvPr id="4" name="Picture 26">
            <a:extLst>
              <a:ext uri="{FF2B5EF4-FFF2-40B4-BE49-F238E27FC236}">
                <a16:creationId xmlns:a16="http://schemas.microsoft.com/office/drawing/2014/main" id="{9812ABE1-7B63-473F-7ED6-151F8C20DC42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767" y="2362200"/>
            <a:ext cx="5434078" cy="355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5" name="Object 18">
            <a:extLst>
              <a:ext uri="{FF2B5EF4-FFF2-40B4-BE49-F238E27FC236}">
                <a16:creationId xmlns:a16="http://schemas.microsoft.com/office/drawing/2014/main" id="{EAC8523E-01CD-9A1E-7E76-2C402B1A05C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1812529"/>
              </p:ext>
            </p:extLst>
          </p:nvPr>
        </p:nvGraphicFramePr>
        <p:xfrm>
          <a:off x="6194699" y="3976812"/>
          <a:ext cx="5120740" cy="1190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451100" imgH="558800" progId="Equation.3">
                  <p:embed/>
                </p:oleObj>
              </mc:Choice>
              <mc:Fallback>
                <p:oleObj name="Equation" r:id="rId3" imgW="2451100" imgH="558800" progId="Equation.3">
                  <p:embed/>
                  <p:pic>
                    <p:nvPicPr>
                      <p:cNvPr id="86021" name="Object 18">
                        <a:extLst>
                          <a:ext uri="{FF2B5EF4-FFF2-40B4-BE49-F238E27FC236}">
                            <a16:creationId xmlns:a16="http://schemas.microsoft.com/office/drawing/2014/main" id="{9CD1588F-323E-3473-1E97-DFFD8B0A5CC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94699" y="3976812"/>
                        <a:ext cx="5120740" cy="1190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wip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5" descr="Oak">
            <a:extLst>
              <a:ext uri="{FF2B5EF4-FFF2-40B4-BE49-F238E27FC236}">
                <a16:creationId xmlns:a16="http://schemas.microsoft.com/office/drawing/2014/main" id="{BD8B5FFE-B5B2-A23A-1119-CEE4966EE6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sz="6600" dirty="0" err="1"/>
              <a:t>Penyelesaian</a:t>
            </a:r>
            <a:r>
              <a:rPr lang="en-US" altLang="en-US" sz="6600" dirty="0"/>
              <a:t>: </a:t>
            </a:r>
            <a:r>
              <a:rPr lang="en-US" altLang="en-US" sz="6600" dirty="0" err="1">
                <a:solidFill>
                  <a:srgbClr val="0070C0"/>
                </a:solidFill>
              </a:rPr>
              <a:t>Metode</a:t>
            </a:r>
            <a:r>
              <a:rPr lang="en-US" altLang="en-US" sz="6600" dirty="0">
                <a:solidFill>
                  <a:srgbClr val="0070C0"/>
                </a:solidFill>
              </a:rPr>
              <a:t> Mamdani</a:t>
            </a:r>
            <a:endParaRPr lang="en-US" altLang="en-US" sz="6600" dirty="0"/>
          </a:p>
        </p:txBody>
      </p:sp>
      <p:sp>
        <p:nvSpPr>
          <p:cNvPr id="87043" name="Text Box 9">
            <a:extLst>
              <a:ext uri="{FF2B5EF4-FFF2-40B4-BE49-F238E27FC236}">
                <a16:creationId xmlns:a16="http://schemas.microsoft.com/office/drawing/2014/main" id="{F39FAAE2-30F1-4831-BF94-CDAED2DA59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4029" y="1628534"/>
            <a:ext cx="2641599" cy="355481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eaLnBrk="1" hangingPunct="1">
              <a:spcBef>
                <a:spcPct val="50000"/>
              </a:spcBef>
              <a:defRPr>
                <a:latin typeface="+mn-lt"/>
              </a:defRPr>
            </a:lvl1pPr>
          </a:lstStyle>
          <a:p>
            <a:r>
              <a:rPr lang="sv-SE" altLang="en-US" dirty="0"/>
              <a:t>Misalkan tahap defuzzifikasi digunakan metode centroid.</a:t>
            </a:r>
            <a:r>
              <a:rPr lang="en-US" altLang="en-US" dirty="0"/>
              <a:t> </a:t>
            </a:r>
          </a:p>
          <a:p>
            <a:endParaRPr lang="en-US" altLang="en-US" dirty="0"/>
          </a:p>
          <a:p>
            <a:r>
              <a:rPr lang="sv-SE" altLang="en-US" dirty="0"/>
              <a:t>Maka didapatkan sumber frekuensi putar kipas angin yang dihasilkan sistem kontrol haruslah 4247,74 rpm.</a:t>
            </a:r>
            <a:r>
              <a:rPr lang="en-US" altLang="en-US" dirty="0"/>
              <a:t> </a:t>
            </a:r>
          </a:p>
          <a:p>
            <a:endParaRPr lang="en-US" altLang="en-US" dirty="0"/>
          </a:p>
        </p:txBody>
      </p:sp>
      <p:sp>
        <p:nvSpPr>
          <p:cNvPr id="87044" name="Rectangle 11">
            <a:extLst>
              <a:ext uri="{FF2B5EF4-FFF2-40B4-BE49-F238E27FC236}">
                <a16:creationId xmlns:a16="http://schemas.microsoft.com/office/drawing/2014/main" id="{373CE4B8-7751-DD02-6005-52F36B0CC2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1666875"/>
            <a:ext cx="1841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9pPr>
          </a:lstStyle>
          <a:p>
            <a:pPr eaLnBrk="1" hangingPunct="1"/>
            <a:endParaRPr lang="id-ID" altLang="en-US" sz="2800">
              <a:latin typeface="Arial" panose="020B0604020202020204" pitchFamily="34" charset="0"/>
            </a:endParaRPr>
          </a:p>
        </p:txBody>
      </p:sp>
      <p:graphicFrame>
        <p:nvGraphicFramePr>
          <p:cNvPr id="87045" name="Object 10">
            <a:extLst>
              <a:ext uri="{FF2B5EF4-FFF2-40B4-BE49-F238E27FC236}">
                <a16:creationId xmlns:a16="http://schemas.microsoft.com/office/drawing/2014/main" id="{F09C412F-5AFF-15B2-4523-866C75CBAB9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3412692"/>
              </p:ext>
            </p:extLst>
          </p:nvPr>
        </p:nvGraphicFramePr>
        <p:xfrm>
          <a:off x="4296229" y="1606762"/>
          <a:ext cx="6371771" cy="43103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921000" imgH="2997200" progId="Equation.3">
                  <p:embed/>
                </p:oleObj>
              </mc:Choice>
              <mc:Fallback>
                <p:oleObj name="Equation" r:id="rId2" imgW="2921000" imgH="29972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6229" y="1606762"/>
                        <a:ext cx="6371771" cy="43103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wip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 descr="Oak">
            <a:extLst>
              <a:ext uri="{FF2B5EF4-FFF2-40B4-BE49-F238E27FC236}">
                <a16:creationId xmlns:a16="http://schemas.microsoft.com/office/drawing/2014/main" id="{8C4D87AE-6BBA-0BD7-E0F2-A89891BC11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sz="6600" dirty="0" err="1"/>
              <a:t>Penyelesaian</a:t>
            </a:r>
            <a:r>
              <a:rPr lang="en-US" altLang="en-US" sz="6600" dirty="0"/>
              <a:t>: </a:t>
            </a:r>
            <a:r>
              <a:rPr lang="en-US" altLang="en-US" sz="66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Metode</a:t>
            </a:r>
            <a:r>
              <a:rPr lang="en-US" altLang="en-US" sz="6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en-US" sz="66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Sugeno</a:t>
            </a:r>
            <a:endParaRPr lang="en-US" altLang="en-US" sz="66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D590EC8-C136-6B0F-D5A6-96AE990DD9D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 eaLnBrk="1" hangingPunct="1">
              <a:buNone/>
            </a:pPr>
            <a:r>
              <a:rPr lang="en-US" altLang="en-US" sz="2000" dirty="0">
                <a:latin typeface="+mn-lt"/>
              </a:rPr>
              <a:t>Rule-</a:t>
            </a:r>
            <a:r>
              <a:rPr lang="en-US" altLang="en-US" sz="2000" dirty="0" err="1">
                <a:latin typeface="+mn-lt"/>
              </a:rPr>
              <a:t>rulenya</a:t>
            </a:r>
            <a:r>
              <a:rPr lang="en-US" altLang="en-US" sz="2000" dirty="0">
                <a:latin typeface="+mn-lt"/>
              </a:rPr>
              <a:t> </a:t>
            </a:r>
            <a:r>
              <a:rPr lang="en-US" altLang="en-US" sz="2000" dirty="0" err="1">
                <a:latin typeface="+mn-lt"/>
              </a:rPr>
              <a:t>perlu</a:t>
            </a:r>
            <a:r>
              <a:rPr lang="en-US" altLang="en-US" sz="2000" dirty="0">
                <a:latin typeface="+mn-lt"/>
              </a:rPr>
              <a:t> </a:t>
            </a:r>
            <a:r>
              <a:rPr lang="en-US" altLang="en-US" sz="2000" dirty="0" err="1">
                <a:latin typeface="+mn-lt"/>
              </a:rPr>
              <a:t>berubah</a:t>
            </a:r>
            <a:endParaRPr lang="en-US" altLang="en-US" sz="2000" dirty="0">
              <a:latin typeface="+mn-lt"/>
            </a:endParaRPr>
          </a:p>
          <a:p>
            <a:pPr marL="0" indent="0" eaLnBrk="1" hangingPunct="1">
              <a:buNone/>
            </a:pPr>
            <a:r>
              <a:rPr lang="en-US" altLang="en-US" sz="1800" dirty="0">
                <a:solidFill>
                  <a:srgbClr val="FF3300"/>
                </a:solidFill>
                <a:latin typeface="+mn-lt"/>
              </a:rPr>
              <a:t>[R1] IF </a:t>
            </a:r>
            <a:r>
              <a:rPr lang="en-US" altLang="en-US" sz="1800" dirty="0" err="1">
                <a:solidFill>
                  <a:srgbClr val="FF3300"/>
                </a:solidFill>
                <a:latin typeface="+mn-lt"/>
              </a:rPr>
              <a:t>kecepatan</a:t>
            </a:r>
            <a:r>
              <a:rPr lang="en-US" altLang="en-US" sz="1800" dirty="0">
                <a:solidFill>
                  <a:srgbClr val="FF3300"/>
                </a:solidFill>
                <a:latin typeface="+mn-lt"/>
              </a:rPr>
              <a:t> LAMBAT </a:t>
            </a:r>
            <a:r>
              <a:rPr lang="en-US" altLang="en-US" sz="1800" u="sng" dirty="0">
                <a:solidFill>
                  <a:srgbClr val="FF3300"/>
                </a:solidFill>
                <a:latin typeface="+mn-lt"/>
              </a:rPr>
              <a:t>And</a:t>
            </a:r>
            <a:r>
              <a:rPr lang="en-US" altLang="en-US" sz="1800" dirty="0">
                <a:solidFill>
                  <a:srgbClr val="FF3300"/>
                </a:solidFill>
                <a:latin typeface="+mn-lt"/>
              </a:rPr>
              <a:t> </a:t>
            </a:r>
            <a:r>
              <a:rPr lang="en-US" altLang="en-US" sz="1800" dirty="0" err="1">
                <a:solidFill>
                  <a:srgbClr val="FF3300"/>
                </a:solidFill>
                <a:latin typeface="+mn-lt"/>
              </a:rPr>
              <a:t>suhu</a:t>
            </a:r>
            <a:r>
              <a:rPr lang="en-US" altLang="en-US" sz="1800" dirty="0">
                <a:solidFill>
                  <a:srgbClr val="FF3300"/>
                </a:solidFill>
                <a:latin typeface="+mn-lt"/>
              </a:rPr>
              <a:t> TINGGI  THEN </a:t>
            </a:r>
            <a:r>
              <a:rPr lang="en-US" altLang="en-US" sz="1800" dirty="0" err="1">
                <a:solidFill>
                  <a:srgbClr val="FF3300"/>
                </a:solidFill>
                <a:latin typeface="+mn-lt"/>
              </a:rPr>
              <a:t>frekuensi</a:t>
            </a:r>
            <a:r>
              <a:rPr lang="en-US" altLang="en-US" sz="1800" dirty="0">
                <a:solidFill>
                  <a:srgbClr val="FF3300"/>
                </a:solidFill>
                <a:latin typeface="+mn-lt"/>
              </a:rPr>
              <a:t> = 0,5*</a:t>
            </a:r>
            <a:r>
              <a:rPr lang="en-US" altLang="en-US" sz="1800" dirty="0" err="1">
                <a:solidFill>
                  <a:srgbClr val="FF3300"/>
                </a:solidFill>
                <a:latin typeface="+mn-lt"/>
              </a:rPr>
              <a:t>kecepatan</a:t>
            </a:r>
            <a:r>
              <a:rPr lang="en-US" altLang="en-US" sz="1800" dirty="0">
                <a:solidFill>
                  <a:srgbClr val="FF3300"/>
                </a:solidFill>
                <a:latin typeface="+mn-lt"/>
              </a:rPr>
              <a:t> + 1700;</a:t>
            </a:r>
          </a:p>
          <a:p>
            <a:pPr marL="0" indent="0" eaLnBrk="1" hangingPunct="1">
              <a:buNone/>
            </a:pPr>
            <a:endParaRPr lang="en-US" altLang="en-US" sz="1800" dirty="0">
              <a:solidFill>
                <a:srgbClr val="FF3300"/>
              </a:solidFill>
              <a:latin typeface="+mn-lt"/>
            </a:endParaRPr>
          </a:p>
          <a:p>
            <a:pPr marL="0" indent="0" eaLnBrk="1" hangingPunct="1">
              <a:buNone/>
            </a:pPr>
            <a:r>
              <a:rPr lang="en-US" altLang="en-US" sz="1800" dirty="0">
                <a:solidFill>
                  <a:srgbClr val="FF3300"/>
                </a:solidFill>
                <a:latin typeface="+mn-lt"/>
              </a:rPr>
              <a:t>[R2] IF </a:t>
            </a:r>
            <a:r>
              <a:rPr lang="en-US" altLang="en-US" sz="1800" dirty="0" err="1">
                <a:solidFill>
                  <a:srgbClr val="FF3300"/>
                </a:solidFill>
                <a:latin typeface="+mn-lt"/>
              </a:rPr>
              <a:t>kecepatan</a:t>
            </a:r>
            <a:r>
              <a:rPr lang="en-US" altLang="en-US" sz="1800" dirty="0">
                <a:solidFill>
                  <a:srgbClr val="FF3300"/>
                </a:solidFill>
                <a:latin typeface="+mn-lt"/>
              </a:rPr>
              <a:t> LAMBAT </a:t>
            </a:r>
            <a:r>
              <a:rPr lang="en-US" altLang="en-US" sz="1800" u="sng" dirty="0">
                <a:solidFill>
                  <a:srgbClr val="FF3300"/>
                </a:solidFill>
                <a:latin typeface="+mn-lt"/>
              </a:rPr>
              <a:t>And</a:t>
            </a:r>
            <a:r>
              <a:rPr lang="en-US" altLang="en-US" sz="1800" dirty="0">
                <a:solidFill>
                  <a:srgbClr val="FF3300"/>
                </a:solidFill>
                <a:latin typeface="+mn-lt"/>
              </a:rPr>
              <a:t> </a:t>
            </a:r>
            <a:r>
              <a:rPr lang="en-US" altLang="en-US" sz="1800" dirty="0" err="1">
                <a:solidFill>
                  <a:srgbClr val="FF3300"/>
                </a:solidFill>
                <a:latin typeface="+mn-lt"/>
              </a:rPr>
              <a:t>suhu</a:t>
            </a:r>
            <a:r>
              <a:rPr lang="en-US" altLang="en-US" sz="1800" dirty="0">
                <a:solidFill>
                  <a:srgbClr val="FF3300"/>
                </a:solidFill>
                <a:latin typeface="+mn-lt"/>
              </a:rPr>
              <a:t> RENDAH THEN 	</a:t>
            </a:r>
            <a:r>
              <a:rPr lang="en-US" altLang="en-US" sz="1800" dirty="0" err="1">
                <a:solidFill>
                  <a:srgbClr val="FF3300"/>
                </a:solidFill>
                <a:latin typeface="+mn-lt"/>
              </a:rPr>
              <a:t>frekuensi</a:t>
            </a:r>
            <a:r>
              <a:rPr lang="en-US" altLang="en-US" sz="1800" dirty="0">
                <a:solidFill>
                  <a:srgbClr val="FF3300"/>
                </a:solidFill>
                <a:latin typeface="+mn-lt"/>
              </a:rPr>
              <a:t> = 2*</a:t>
            </a:r>
            <a:r>
              <a:rPr lang="en-US" altLang="en-US" sz="1800" dirty="0" err="1">
                <a:solidFill>
                  <a:srgbClr val="FF3300"/>
                </a:solidFill>
                <a:latin typeface="+mn-lt"/>
              </a:rPr>
              <a:t>kecepatan</a:t>
            </a:r>
            <a:r>
              <a:rPr lang="en-US" altLang="en-US" sz="1800" dirty="0">
                <a:solidFill>
                  <a:srgbClr val="FF3300"/>
                </a:solidFill>
                <a:latin typeface="+mn-lt"/>
              </a:rPr>
              <a:t> − 4000;</a:t>
            </a:r>
          </a:p>
          <a:p>
            <a:pPr marL="0" indent="0" eaLnBrk="1" hangingPunct="1">
              <a:buNone/>
            </a:pPr>
            <a:endParaRPr lang="en-US" altLang="en-US" sz="1800" dirty="0">
              <a:solidFill>
                <a:srgbClr val="FF3300"/>
              </a:solidFill>
              <a:latin typeface="+mn-lt"/>
            </a:endParaRPr>
          </a:p>
          <a:p>
            <a:pPr marL="0" indent="0" eaLnBrk="1" hangingPunct="1">
              <a:buNone/>
            </a:pPr>
            <a:r>
              <a:rPr lang="en-US" altLang="en-US" sz="1800" dirty="0">
                <a:solidFill>
                  <a:srgbClr val="FF3300"/>
                </a:solidFill>
                <a:latin typeface="+mn-lt"/>
              </a:rPr>
              <a:t>[R3] IF </a:t>
            </a:r>
            <a:r>
              <a:rPr lang="en-US" altLang="en-US" sz="1800" dirty="0" err="1">
                <a:solidFill>
                  <a:srgbClr val="FF3300"/>
                </a:solidFill>
                <a:latin typeface="+mn-lt"/>
              </a:rPr>
              <a:t>kecepatan</a:t>
            </a:r>
            <a:r>
              <a:rPr lang="en-US" altLang="en-US" sz="1800" dirty="0">
                <a:solidFill>
                  <a:srgbClr val="FF3300"/>
                </a:solidFill>
                <a:latin typeface="+mn-lt"/>
              </a:rPr>
              <a:t> CEPAT </a:t>
            </a:r>
            <a:r>
              <a:rPr lang="en-US" altLang="en-US" sz="1800" u="sng" dirty="0">
                <a:solidFill>
                  <a:srgbClr val="FF3300"/>
                </a:solidFill>
                <a:latin typeface="+mn-lt"/>
              </a:rPr>
              <a:t>And</a:t>
            </a:r>
            <a:r>
              <a:rPr lang="en-US" altLang="en-US" sz="1800" dirty="0">
                <a:solidFill>
                  <a:srgbClr val="FF3300"/>
                </a:solidFill>
                <a:latin typeface="+mn-lt"/>
              </a:rPr>
              <a:t> </a:t>
            </a:r>
            <a:r>
              <a:rPr lang="en-US" altLang="en-US" sz="1800" dirty="0" err="1">
                <a:solidFill>
                  <a:srgbClr val="FF3300"/>
                </a:solidFill>
                <a:latin typeface="+mn-lt"/>
              </a:rPr>
              <a:t>suhu</a:t>
            </a:r>
            <a:r>
              <a:rPr lang="en-US" altLang="en-US" sz="1800" dirty="0">
                <a:solidFill>
                  <a:srgbClr val="FF3300"/>
                </a:solidFill>
                <a:latin typeface="+mn-lt"/>
              </a:rPr>
              <a:t> TINGGI THEN </a:t>
            </a:r>
            <a:r>
              <a:rPr lang="en-US" altLang="en-US" sz="1800" dirty="0" err="1">
                <a:solidFill>
                  <a:srgbClr val="FF3300"/>
                </a:solidFill>
                <a:latin typeface="+mn-lt"/>
              </a:rPr>
              <a:t>frekuensi</a:t>
            </a:r>
            <a:r>
              <a:rPr lang="en-US" altLang="en-US" sz="1800" dirty="0">
                <a:solidFill>
                  <a:srgbClr val="FF3300"/>
                </a:solidFill>
                <a:latin typeface="+mn-lt"/>
              </a:rPr>
              <a:t> = 0,5*kecepatan+2000;</a:t>
            </a:r>
          </a:p>
          <a:p>
            <a:pPr marL="0" indent="0" eaLnBrk="1" hangingPunct="1">
              <a:buNone/>
            </a:pPr>
            <a:endParaRPr lang="en-US" altLang="en-US" sz="1800" dirty="0">
              <a:solidFill>
                <a:srgbClr val="FF3300"/>
              </a:solidFill>
              <a:latin typeface="+mn-lt"/>
            </a:endParaRPr>
          </a:p>
          <a:p>
            <a:pPr marL="0" indent="0" eaLnBrk="1" hangingPunct="1">
              <a:buNone/>
            </a:pPr>
            <a:r>
              <a:rPr lang="en-US" altLang="en-US" sz="1800" dirty="0">
                <a:solidFill>
                  <a:srgbClr val="FF3300"/>
                </a:solidFill>
                <a:latin typeface="+mn-lt"/>
              </a:rPr>
              <a:t>[R4] IF </a:t>
            </a:r>
            <a:r>
              <a:rPr lang="en-US" altLang="en-US" sz="1800" dirty="0" err="1">
                <a:solidFill>
                  <a:srgbClr val="FF3300"/>
                </a:solidFill>
                <a:latin typeface="+mn-lt"/>
              </a:rPr>
              <a:t>kecepatan</a:t>
            </a:r>
            <a:r>
              <a:rPr lang="en-US" altLang="en-US" sz="1800" dirty="0">
                <a:solidFill>
                  <a:srgbClr val="FF3300"/>
                </a:solidFill>
                <a:latin typeface="+mn-lt"/>
              </a:rPr>
              <a:t> CEPAT </a:t>
            </a:r>
            <a:r>
              <a:rPr lang="en-US" altLang="en-US" sz="1800" u="sng" dirty="0">
                <a:solidFill>
                  <a:srgbClr val="FF3300"/>
                </a:solidFill>
                <a:latin typeface="+mn-lt"/>
              </a:rPr>
              <a:t>And</a:t>
            </a:r>
            <a:r>
              <a:rPr lang="en-US" altLang="en-US" sz="1800" dirty="0">
                <a:solidFill>
                  <a:srgbClr val="FF3300"/>
                </a:solidFill>
                <a:latin typeface="+mn-lt"/>
              </a:rPr>
              <a:t> </a:t>
            </a:r>
            <a:r>
              <a:rPr lang="en-US" altLang="en-US" sz="1800" dirty="0" err="1">
                <a:solidFill>
                  <a:srgbClr val="FF3300"/>
                </a:solidFill>
                <a:latin typeface="+mn-lt"/>
              </a:rPr>
              <a:t>suhu</a:t>
            </a:r>
            <a:r>
              <a:rPr lang="en-US" altLang="en-US" sz="1800" dirty="0">
                <a:solidFill>
                  <a:srgbClr val="FF3300"/>
                </a:solidFill>
                <a:latin typeface="+mn-lt"/>
              </a:rPr>
              <a:t> RENDAH THEN </a:t>
            </a:r>
            <a:r>
              <a:rPr lang="en-US" altLang="en-US" sz="1800" dirty="0" err="1">
                <a:solidFill>
                  <a:srgbClr val="FF3300"/>
                </a:solidFill>
                <a:latin typeface="+mn-lt"/>
              </a:rPr>
              <a:t>frekuensi</a:t>
            </a:r>
            <a:r>
              <a:rPr lang="en-US" altLang="en-US" sz="1800" dirty="0">
                <a:solidFill>
                  <a:srgbClr val="FF3300"/>
                </a:solidFill>
                <a:latin typeface="+mn-lt"/>
              </a:rPr>
              <a:t> = </a:t>
            </a:r>
            <a:r>
              <a:rPr lang="en-US" altLang="en-US" sz="1800" dirty="0" err="1">
                <a:solidFill>
                  <a:srgbClr val="FF3300"/>
                </a:solidFill>
                <a:latin typeface="+mn-lt"/>
              </a:rPr>
              <a:t>kecepatan</a:t>
            </a:r>
            <a:r>
              <a:rPr lang="en-US" altLang="en-US" sz="1800" dirty="0">
                <a:solidFill>
                  <a:srgbClr val="FF3300"/>
                </a:solidFill>
                <a:latin typeface="+mn-lt"/>
              </a:rPr>
              <a:t> + 700;</a:t>
            </a: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F42A3D-F51C-51DC-128F-3DE07DB93AB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slow">
    <p:wip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ED73E-76C2-CFA5-063A-01C59AE71D83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sz="6600" dirty="0" err="1"/>
              <a:t>Penyelesaian</a:t>
            </a:r>
            <a:r>
              <a:rPr lang="en-US" altLang="en-US" sz="6600" dirty="0"/>
              <a:t>: </a:t>
            </a:r>
            <a:r>
              <a:rPr lang="en-US" altLang="en-US" sz="66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Metode</a:t>
            </a:r>
            <a:r>
              <a:rPr lang="en-US" altLang="en-US" sz="6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en-US" sz="66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Sugeno</a:t>
            </a:r>
            <a:endParaRPr lang="en-US" sz="6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7236198-878A-285C-BFF5-22A7C4539AA4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marL="0" indent="0" eaLnBrk="1" hangingPunct="1">
                  <a:buNone/>
                </a:pPr>
                <a:r>
                  <a:rPr lang="en-US" altLang="en-US" sz="1600" dirty="0">
                    <a:solidFill>
                      <a:srgbClr val="FF3300"/>
                    </a:solidFill>
                    <a:latin typeface="+mn-lt"/>
                  </a:rPr>
                  <a:t>[R1] IF </a:t>
                </a:r>
                <a:r>
                  <a:rPr lang="en-US" altLang="en-US" sz="1600" dirty="0" err="1">
                    <a:solidFill>
                      <a:srgbClr val="FF3300"/>
                    </a:solidFill>
                    <a:latin typeface="+mn-lt"/>
                  </a:rPr>
                  <a:t>kecepatan</a:t>
                </a:r>
                <a:r>
                  <a:rPr lang="en-US" altLang="en-US" sz="1600" dirty="0">
                    <a:solidFill>
                      <a:srgbClr val="FF3300"/>
                    </a:solidFill>
                    <a:latin typeface="+mn-lt"/>
                  </a:rPr>
                  <a:t> LAMBAT </a:t>
                </a:r>
                <a:r>
                  <a:rPr lang="en-US" altLang="en-US" sz="1600" u="sng" dirty="0">
                    <a:solidFill>
                      <a:srgbClr val="FF3300"/>
                    </a:solidFill>
                    <a:latin typeface="+mn-lt"/>
                  </a:rPr>
                  <a:t>And</a:t>
                </a:r>
                <a:r>
                  <a:rPr lang="en-US" altLang="en-US" sz="1600" dirty="0">
                    <a:solidFill>
                      <a:srgbClr val="FF3300"/>
                    </a:solidFill>
                    <a:latin typeface="+mn-lt"/>
                  </a:rPr>
                  <a:t> </a:t>
                </a:r>
                <a:r>
                  <a:rPr lang="en-US" altLang="en-US" sz="1600" dirty="0" err="1">
                    <a:solidFill>
                      <a:srgbClr val="FF3300"/>
                    </a:solidFill>
                    <a:latin typeface="+mn-lt"/>
                  </a:rPr>
                  <a:t>suhu</a:t>
                </a:r>
                <a:r>
                  <a:rPr lang="en-US" altLang="en-US" sz="1600" dirty="0">
                    <a:solidFill>
                      <a:srgbClr val="FF3300"/>
                    </a:solidFill>
                    <a:latin typeface="+mn-lt"/>
                  </a:rPr>
                  <a:t> TINGGI  THEN </a:t>
                </a:r>
                <a:r>
                  <a:rPr lang="en-US" altLang="en-US" sz="1600" dirty="0" err="1">
                    <a:solidFill>
                      <a:srgbClr val="FF3300"/>
                    </a:solidFill>
                    <a:latin typeface="+mn-lt"/>
                  </a:rPr>
                  <a:t>frekuensi</a:t>
                </a:r>
                <a:r>
                  <a:rPr lang="en-US" altLang="en-US" sz="1600" dirty="0">
                    <a:solidFill>
                      <a:srgbClr val="FF3300"/>
                    </a:solidFill>
                    <a:latin typeface="+mn-lt"/>
                  </a:rPr>
                  <a:t> = 0,5*</a:t>
                </a:r>
                <a:r>
                  <a:rPr lang="en-US" altLang="en-US" sz="1600" dirty="0" err="1">
                    <a:solidFill>
                      <a:srgbClr val="FF3300"/>
                    </a:solidFill>
                    <a:latin typeface="+mn-lt"/>
                  </a:rPr>
                  <a:t>kecepatan</a:t>
                </a:r>
                <a:r>
                  <a:rPr lang="en-US" altLang="en-US" sz="1600" dirty="0">
                    <a:solidFill>
                      <a:srgbClr val="FF3300"/>
                    </a:solidFill>
                    <a:latin typeface="+mn-lt"/>
                  </a:rPr>
                  <a:t> + 1700;</a:t>
                </a:r>
              </a:p>
              <a:p>
                <a:pPr marL="0" indent="0" eaLnBrk="1" hangingPunct="1">
                  <a:buNone/>
                </a:pPr>
                <a:endParaRPr lang="en-US" altLang="en-US" sz="1600" dirty="0">
                  <a:solidFill>
                    <a:srgbClr val="FF3300"/>
                  </a:solidFill>
                  <a:latin typeface="Times New Roman" panose="02020603050405020304" pitchFamily="18" charset="0"/>
                  <a:sym typeface="Symbol" panose="05050102010706020507" pitchFamily="18" charset="2"/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𝑝𝑟𝑒𝑑𝑖𝑘𝑎𝑡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1=</m:t>
                      </m:r>
                      <m:sSub>
                        <m:sSubPr>
                          <m:ctrlPr>
                            <a:rPr lang="en-US" altLang="zh-CN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600" i="1" dirty="0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𝐿𝐴𝑀𝐵𝐴𝑇</m:t>
                          </m:r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∩</m:t>
                          </m:r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𝑇𝐼𝑁𝐺𝐺𝐼</m:t>
                          </m:r>
                        </m:sub>
                      </m:sSub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zh-CN" sz="1600" b="0" dirty="0">
                  <a:ea typeface="Cambria Math" panose="02040503050406030204" pitchFamily="18" charset="0"/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𝑝𝑟𝑒𝑑𝑖𝑘𝑎𝑡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sz="16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600" b="0" i="0" smtClean="0"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𝐿𝐴𝑀𝐵𝐴𝑇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4000</m:t>
                                  </m:r>
                                </m:e>
                              </m:d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𝑇𝐼𝑁𝐺𝐺𝐼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300</m:t>
                                  </m:r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US" sz="1600" b="0" dirty="0"/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𝑝𝑟𝑒𝑑𝑖𝑘𝑎𝑡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sz="16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600" b="0" i="0" smtClean="0"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0.25,0.4</m:t>
                              </m:r>
                            </m:e>
                          </m:d>
                        </m:e>
                      </m:func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=0.25</m:t>
                      </m:r>
                    </m:oMath>
                  </m:oMathPara>
                </a14:m>
                <a:endParaRPr lang="sv-SE" altLang="en-US" sz="1600" dirty="0">
                  <a:latin typeface="Arial" panose="020B0604020202020204" pitchFamily="34" charset="0"/>
                </a:endParaRPr>
              </a:p>
              <a:p>
                <a:pPr marL="0" indent="0" eaLnBrk="1" hangingPunct="1">
                  <a:buNone/>
                </a:pPr>
                <a:endParaRPr lang="sv-SE" altLang="en-US" sz="1600" dirty="0">
                  <a:latin typeface="Arial" panose="020B0604020202020204" pitchFamily="34" charset="0"/>
                </a:endParaRPr>
              </a:p>
              <a:p>
                <a:pPr marL="0" indent="0" eaLnBrk="1" hangingPunct="1">
                  <a:buNone/>
                </a:pPr>
                <a:r>
                  <a:rPr lang="sv-SE" altLang="en-US" sz="1600" dirty="0">
                    <a:latin typeface="Arial" panose="020B0604020202020204" pitchFamily="34" charset="0"/>
                  </a:rPr>
                  <a:t>Nilai z1: </a:t>
                </a:r>
              </a:p>
              <a:p>
                <a:pPr marL="0" indent="0" eaLnBrk="1" hangingPunct="1">
                  <a:buNone/>
                </a:pPr>
                <a:r>
                  <a:rPr lang="sv-SE" altLang="en-US" sz="1600" dirty="0">
                    <a:latin typeface="Arial" panose="020B0604020202020204" pitchFamily="34" charset="0"/>
                  </a:rPr>
                  <a:t>	z1 	=0,5*4000 + 1700 </a:t>
                </a:r>
              </a:p>
              <a:p>
                <a:pPr marL="0" indent="0" eaLnBrk="1" hangingPunct="1">
                  <a:buNone/>
                </a:pPr>
                <a:r>
                  <a:rPr lang="sv-SE" altLang="en-US" sz="1600" dirty="0">
                    <a:latin typeface="Arial" panose="020B0604020202020204" pitchFamily="34" charset="0"/>
                  </a:rPr>
                  <a:t>		= 2000 + 1700	 </a:t>
                </a:r>
              </a:p>
              <a:p>
                <a:pPr marL="0" indent="0" eaLnBrk="1" hangingPunct="1">
                  <a:buNone/>
                </a:pPr>
                <a:r>
                  <a:rPr lang="sv-SE" altLang="en-US" sz="1600" dirty="0">
                    <a:latin typeface="Arial" panose="020B0604020202020204" pitchFamily="34" charset="0"/>
                  </a:rPr>
                  <a:t>		= 3700</a:t>
                </a:r>
                <a:endParaRPr lang="en-US" altLang="en-US" sz="1600" dirty="0">
                  <a:latin typeface="Arial" panose="020B0604020202020204" pitchFamily="34" charset="0"/>
                </a:endParaRPr>
              </a:p>
              <a:p>
                <a:pPr marL="0" indent="0">
                  <a:buNone/>
                </a:pPr>
                <a:endParaRPr lang="en-US" sz="16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7236198-878A-285C-BFF5-22A7C4539A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706" t="-11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D8EF102-B94D-7CEA-866D-DC5724F89D4C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en-US" sz="1600" dirty="0">
                    <a:solidFill>
                      <a:srgbClr val="FF3300"/>
                    </a:solidFill>
                    <a:latin typeface="+mn-lt"/>
                  </a:rPr>
                  <a:t>[R2] IF </a:t>
                </a:r>
                <a:r>
                  <a:rPr lang="en-US" altLang="en-US" sz="1600" dirty="0" err="1">
                    <a:solidFill>
                      <a:srgbClr val="FF3300"/>
                    </a:solidFill>
                    <a:latin typeface="+mn-lt"/>
                  </a:rPr>
                  <a:t>kecepatan</a:t>
                </a:r>
                <a:r>
                  <a:rPr lang="en-US" altLang="en-US" sz="1600" dirty="0">
                    <a:solidFill>
                      <a:srgbClr val="FF3300"/>
                    </a:solidFill>
                    <a:latin typeface="+mn-lt"/>
                  </a:rPr>
                  <a:t> LAMBAT </a:t>
                </a:r>
                <a:r>
                  <a:rPr lang="en-US" altLang="en-US" sz="1600" u="sng" dirty="0">
                    <a:solidFill>
                      <a:srgbClr val="FF3300"/>
                    </a:solidFill>
                    <a:latin typeface="+mn-lt"/>
                  </a:rPr>
                  <a:t>And</a:t>
                </a:r>
                <a:r>
                  <a:rPr lang="en-US" altLang="en-US" sz="1600" dirty="0">
                    <a:solidFill>
                      <a:srgbClr val="FF3300"/>
                    </a:solidFill>
                    <a:latin typeface="+mn-lt"/>
                  </a:rPr>
                  <a:t> </a:t>
                </a:r>
                <a:r>
                  <a:rPr lang="en-US" altLang="en-US" sz="1600" dirty="0" err="1">
                    <a:solidFill>
                      <a:srgbClr val="FF3300"/>
                    </a:solidFill>
                    <a:latin typeface="+mn-lt"/>
                  </a:rPr>
                  <a:t>suhu</a:t>
                </a:r>
                <a:r>
                  <a:rPr lang="en-US" altLang="en-US" sz="1600" dirty="0">
                    <a:solidFill>
                      <a:srgbClr val="FF3300"/>
                    </a:solidFill>
                    <a:latin typeface="+mn-lt"/>
                  </a:rPr>
                  <a:t> RENDAH THEN </a:t>
                </a:r>
                <a:r>
                  <a:rPr lang="en-US" altLang="en-US" sz="1600" dirty="0" err="1">
                    <a:solidFill>
                      <a:srgbClr val="FF3300"/>
                    </a:solidFill>
                    <a:latin typeface="+mn-lt"/>
                  </a:rPr>
                  <a:t>frekuensi</a:t>
                </a:r>
                <a:r>
                  <a:rPr lang="en-US" altLang="en-US" sz="1600" dirty="0">
                    <a:solidFill>
                      <a:srgbClr val="FF3300"/>
                    </a:solidFill>
                    <a:latin typeface="+mn-lt"/>
                  </a:rPr>
                  <a:t> = 2*</a:t>
                </a:r>
                <a:r>
                  <a:rPr lang="en-US" altLang="en-US" sz="1600" dirty="0" err="1">
                    <a:solidFill>
                      <a:srgbClr val="FF3300"/>
                    </a:solidFill>
                    <a:latin typeface="+mn-lt"/>
                  </a:rPr>
                  <a:t>kecepatan</a:t>
                </a:r>
                <a:r>
                  <a:rPr lang="en-US" altLang="en-US" sz="1600" dirty="0">
                    <a:solidFill>
                      <a:srgbClr val="FF3300"/>
                    </a:solidFill>
                    <a:latin typeface="+mn-lt"/>
                  </a:rPr>
                  <a:t> − 4000;</a:t>
                </a:r>
              </a:p>
              <a:p>
                <a:pPr marL="0" indent="0">
                  <a:buNone/>
                </a:pPr>
                <a:endParaRPr lang="en-US" altLang="en-US" sz="1600" dirty="0">
                  <a:solidFill>
                    <a:srgbClr val="FF3300"/>
                  </a:solidFill>
                  <a:latin typeface="+mn-lt"/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𝑝𝑟𝑒𝑑𝑖𝑘𝑎𝑡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2=</m:t>
                      </m:r>
                      <m:sSub>
                        <m:sSubPr>
                          <m:ctrlPr>
                            <a:rPr lang="en-US" altLang="zh-CN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600" i="1" dirty="0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𝐿𝐴𝑀𝐵𝐴𝑇</m:t>
                          </m:r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∩</m:t>
                          </m:r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𝑅𝐸𝑁𝐷𝐴𝐻</m:t>
                          </m:r>
                        </m:sub>
                      </m:sSub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zh-CN" sz="1600" b="0" dirty="0">
                  <a:ea typeface="Cambria Math" panose="02040503050406030204" pitchFamily="18" charset="0"/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𝑝𝑟𝑒𝑑𝑖𝑘𝑎𝑡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US" sz="16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600" b="0" i="0" smtClean="0"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𝐿𝐴𝑀𝐵𝐴𝑇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4000</m:t>
                                  </m:r>
                                </m:e>
                              </m:d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𝑅𝐸𝑁𝐷𝐴𝐻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300</m:t>
                                  </m:r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US" sz="1600" b="0" dirty="0"/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𝑝𝑟𝑒𝑑𝑖𝑘𝑎𝑡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n-US" sz="1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600" b="0" i="0" smtClean="0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0.25,0.6</m:t>
                            </m:r>
                          </m:e>
                        </m:d>
                      </m:e>
                    </m:func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=0.25</m:t>
                    </m:r>
                  </m:oMath>
                </a14:m>
                <a:r>
                  <a:rPr lang="en-US" sz="1600" dirty="0"/>
                  <a:t> 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endParaRPr lang="en-US" sz="1600" dirty="0"/>
              </a:p>
              <a:p>
                <a:pPr marL="0" indent="0" eaLnBrk="1" hangingPunct="1">
                  <a:buNone/>
                </a:pPr>
                <a:r>
                  <a:rPr lang="sv-SE" altLang="en-US" sz="1600" dirty="0">
                    <a:latin typeface="Times New Roman" panose="02020603050405020304" pitchFamily="18" charset="0"/>
                  </a:rPr>
                  <a:t>Nilai z2: </a:t>
                </a:r>
              </a:p>
              <a:p>
                <a:pPr marL="0" indent="0" eaLnBrk="1" hangingPunct="1">
                  <a:buNone/>
                </a:pPr>
                <a:r>
                  <a:rPr lang="sv-SE" altLang="en-US" sz="1600" dirty="0">
                    <a:latin typeface="Times New Roman" panose="02020603050405020304" pitchFamily="18" charset="0"/>
                  </a:rPr>
                  <a:t>	z2 	= 2*4000 – 4000 </a:t>
                </a:r>
              </a:p>
              <a:p>
                <a:pPr marL="0" indent="0" eaLnBrk="1" hangingPunct="1">
                  <a:buNone/>
                </a:pPr>
                <a:r>
                  <a:rPr lang="sv-SE" altLang="en-US" sz="1600" dirty="0">
                    <a:latin typeface="Times New Roman" panose="02020603050405020304" pitchFamily="18" charset="0"/>
                  </a:rPr>
                  <a:t>		= 4000</a:t>
                </a:r>
                <a:r>
                  <a:rPr lang="en-US" altLang="en-US" sz="1600" dirty="0">
                    <a:latin typeface="Times New Roman" panose="02020603050405020304" pitchFamily="18" charset="0"/>
                  </a:rPr>
                  <a:t> 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endParaRPr lang="en-US" sz="1600" dirty="0"/>
              </a:p>
              <a:p>
                <a:pPr marL="0" indent="0">
                  <a:buNone/>
                </a:pPr>
                <a:endParaRPr lang="en-US" altLang="en-US" sz="1600" dirty="0">
                  <a:solidFill>
                    <a:srgbClr val="FF3300"/>
                  </a:solidFill>
                  <a:latin typeface="+mn-lt"/>
                </a:endParaRPr>
              </a:p>
              <a:p>
                <a:pPr marL="0" indent="0">
                  <a:buNone/>
                </a:pPr>
                <a:endParaRPr lang="en-US" sz="1600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D8EF102-B94D-7CEA-866D-DC5724F89D4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l="-706" t="-11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slow">
    <p:wip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ED73E-76C2-CFA5-063A-01C59AE71D83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sz="6600" dirty="0" err="1"/>
              <a:t>Penyelesaian</a:t>
            </a:r>
            <a:r>
              <a:rPr lang="en-US" altLang="en-US" sz="6600" dirty="0"/>
              <a:t>: </a:t>
            </a:r>
            <a:r>
              <a:rPr lang="en-US" altLang="en-US" sz="66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Metode</a:t>
            </a:r>
            <a:r>
              <a:rPr lang="en-US" altLang="en-US" sz="6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en-US" sz="66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Sugeno</a:t>
            </a:r>
            <a:endParaRPr lang="en-US" sz="6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7236198-878A-285C-BFF5-22A7C4539AA4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marL="0" indent="0" eaLnBrk="1" hangingPunct="1">
                  <a:buNone/>
                </a:pPr>
                <a:r>
                  <a:rPr lang="en-US" altLang="en-US" sz="1600" dirty="0">
                    <a:solidFill>
                      <a:srgbClr val="FF3300"/>
                    </a:solidFill>
                    <a:latin typeface="+mn-lt"/>
                  </a:rPr>
                  <a:t>[R3] IF </a:t>
                </a:r>
                <a:r>
                  <a:rPr lang="en-US" altLang="en-US" sz="1600" dirty="0" err="1">
                    <a:solidFill>
                      <a:srgbClr val="FF3300"/>
                    </a:solidFill>
                    <a:latin typeface="+mn-lt"/>
                  </a:rPr>
                  <a:t>kecepatan</a:t>
                </a:r>
                <a:r>
                  <a:rPr lang="en-US" altLang="en-US" sz="1600" dirty="0">
                    <a:solidFill>
                      <a:srgbClr val="FF3300"/>
                    </a:solidFill>
                    <a:latin typeface="+mn-lt"/>
                  </a:rPr>
                  <a:t> CEPAT </a:t>
                </a:r>
                <a:r>
                  <a:rPr lang="en-US" altLang="en-US" sz="1600" u="sng" dirty="0">
                    <a:solidFill>
                      <a:srgbClr val="FF3300"/>
                    </a:solidFill>
                    <a:latin typeface="+mn-lt"/>
                  </a:rPr>
                  <a:t>And</a:t>
                </a:r>
                <a:r>
                  <a:rPr lang="en-US" altLang="en-US" sz="1600" dirty="0">
                    <a:solidFill>
                      <a:srgbClr val="FF3300"/>
                    </a:solidFill>
                    <a:latin typeface="+mn-lt"/>
                  </a:rPr>
                  <a:t> </a:t>
                </a:r>
                <a:r>
                  <a:rPr lang="en-US" altLang="en-US" sz="1600" dirty="0" err="1">
                    <a:solidFill>
                      <a:srgbClr val="FF3300"/>
                    </a:solidFill>
                    <a:latin typeface="+mn-lt"/>
                  </a:rPr>
                  <a:t>suhu</a:t>
                </a:r>
                <a:r>
                  <a:rPr lang="en-US" altLang="en-US" sz="1600" dirty="0">
                    <a:solidFill>
                      <a:srgbClr val="FF3300"/>
                    </a:solidFill>
                    <a:latin typeface="+mn-lt"/>
                  </a:rPr>
                  <a:t> TINGGI THEN </a:t>
                </a:r>
                <a:r>
                  <a:rPr lang="en-US" altLang="en-US" sz="1600" dirty="0" err="1">
                    <a:solidFill>
                      <a:srgbClr val="FF3300"/>
                    </a:solidFill>
                    <a:latin typeface="+mn-lt"/>
                  </a:rPr>
                  <a:t>frekuensi</a:t>
                </a:r>
                <a:r>
                  <a:rPr lang="en-US" altLang="en-US" sz="1600" dirty="0">
                    <a:solidFill>
                      <a:srgbClr val="FF3300"/>
                    </a:solidFill>
                    <a:latin typeface="+mn-lt"/>
                  </a:rPr>
                  <a:t> = 0,5*kecepatan+2000;</a:t>
                </a:r>
              </a:p>
              <a:p>
                <a:pPr marL="0" indent="0" eaLnBrk="1" hangingPunct="1">
                  <a:buNone/>
                </a:pPr>
                <a:endParaRPr lang="en-US" altLang="en-US" sz="1600" dirty="0">
                  <a:solidFill>
                    <a:srgbClr val="FF3300"/>
                  </a:solidFill>
                  <a:latin typeface="Times New Roman" panose="02020603050405020304" pitchFamily="18" charset="0"/>
                  <a:sym typeface="Symbol" panose="05050102010706020507" pitchFamily="18" charset="2"/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𝑝𝑟𝑒𝑑𝑖𝑘𝑎𝑡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3=</m:t>
                      </m:r>
                      <m:sSub>
                        <m:sSubPr>
                          <m:ctrlPr>
                            <a:rPr lang="en-US" altLang="zh-CN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600" i="1" dirty="0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𝐶𝐸𝑃𝐴𝑇</m:t>
                          </m:r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∩</m:t>
                          </m:r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𝑇𝐼𝑁𝐺𝐺𝐼</m:t>
                          </m:r>
                        </m:sub>
                      </m:sSub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zh-CN" sz="1600" dirty="0">
                  <a:ea typeface="Cambria Math" panose="02040503050406030204" pitchFamily="18" charset="0"/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𝑝𝑟𝑒𝑑𝑖𝑘𝑎𝑡</m:t>
                      </m:r>
                      <m:r>
                        <a:rPr lang="en-US" sz="16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3=</m:t>
                      </m:r>
                      <m:func>
                        <m:func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600" b="0" i="0" smtClean="0"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𝐶𝐸𝑃𝐴𝑇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4000</m:t>
                                  </m:r>
                                </m:e>
                              </m:d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𝑇𝐼𝑁𝐺𝐺𝐼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300</m:t>
                                  </m:r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US" sz="1600" dirty="0"/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𝑝𝑟𝑒𝑑𝑖𝑘𝑎𝑡</m:t>
                      </m:r>
                      <m:r>
                        <a:rPr lang="en-US" sz="16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3=</m:t>
                      </m:r>
                      <m:func>
                        <m:func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600" b="0" i="0" smtClean="0"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0.75,0.4</m:t>
                              </m:r>
                            </m:e>
                          </m:d>
                        </m:e>
                      </m:func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=0.4</m:t>
                      </m:r>
                    </m:oMath>
                  </m:oMathPara>
                </a14:m>
                <a:endParaRPr lang="en-US" sz="1600" dirty="0"/>
              </a:p>
              <a:p>
                <a:pPr marL="0" indent="0" eaLnBrk="1" hangingPunct="1">
                  <a:buNone/>
                </a:pPr>
                <a:endParaRPr lang="sv-SE" altLang="en-US" sz="1600" dirty="0">
                  <a:latin typeface="Arial" panose="020B0604020202020204" pitchFamily="34" charset="0"/>
                </a:endParaRPr>
              </a:p>
              <a:p>
                <a:pPr marL="0" indent="0" eaLnBrk="1" hangingPunct="1">
                  <a:buNone/>
                </a:pPr>
                <a:r>
                  <a:rPr lang="sv-SE" altLang="en-US" sz="1600" dirty="0">
                    <a:latin typeface="Times New Roman" panose="02020603050405020304" pitchFamily="18" charset="0"/>
                  </a:rPr>
                  <a:t>Nilai z3: </a:t>
                </a:r>
              </a:p>
              <a:p>
                <a:pPr marL="0" indent="0" eaLnBrk="1" hangingPunct="1">
                  <a:buNone/>
                </a:pPr>
                <a:r>
                  <a:rPr lang="sv-SE" altLang="en-US" sz="1600" dirty="0">
                    <a:latin typeface="Times New Roman" panose="02020603050405020304" pitchFamily="18" charset="0"/>
                  </a:rPr>
                  <a:t>	z3 	= 0,5*4000 + 2000 </a:t>
                </a:r>
              </a:p>
              <a:p>
                <a:pPr marL="0" indent="0" eaLnBrk="1" hangingPunct="1">
                  <a:buNone/>
                </a:pPr>
                <a:r>
                  <a:rPr lang="sv-SE" altLang="en-US" sz="1600" dirty="0">
                    <a:latin typeface="Times New Roman" panose="02020603050405020304" pitchFamily="18" charset="0"/>
                  </a:rPr>
                  <a:t>		= 4000</a:t>
                </a:r>
                <a:endParaRPr lang="en-US" altLang="en-US" sz="1600" dirty="0">
                  <a:latin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16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7236198-878A-285C-BFF5-22A7C4539A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706" t="-11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D8EF102-B94D-7CEA-866D-DC5724F89D4C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pPr marL="0" indent="0" eaLnBrk="1" hangingPunct="1">
                  <a:buNone/>
                </a:pPr>
                <a:r>
                  <a:rPr lang="en-US" altLang="en-US" sz="1600" dirty="0">
                    <a:solidFill>
                      <a:srgbClr val="FF3300"/>
                    </a:solidFill>
                    <a:latin typeface="+mn-lt"/>
                  </a:rPr>
                  <a:t>[R4] IF </a:t>
                </a:r>
                <a:r>
                  <a:rPr lang="en-US" altLang="en-US" sz="1600" dirty="0" err="1">
                    <a:solidFill>
                      <a:srgbClr val="FF3300"/>
                    </a:solidFill>
                    <a:latin typeface="+mn-lt"/>
                  </a:rPr>
                  <a:t>kecepatan</a:t>
                </a:r>
                <a:r>
                  <a:rPr lang="en-US" altLang="en-US" sz="1600" dirty="0">
                    <a:solidFill>
                      <a:srgbClr val="FF3300"/>
                    </a:solidFill>
                    <a:latin typeface="+mn-lt"/>
                  </a:rPr>
                  <a:t> CEPAT </a:t>
                </a:r>
                <a:r>
                  <a:rPr lang="en-US" altLang="en-US" sz="1600" u="sng" dirty="0">
                    <a:solidFill>
                      <a:srgbClr val="FF3300"/>
                    </a:solidFill>
                    <a:latin typeface="+mn-lt"/>
                  </a:rPr>
                  <a:t>And</a:t>
                </a:r>
                <a:r>
                  <a:rPr lang="en-US" altLang="en-US" sz="1600" dirty="0">
                    <a:solidFill>
                      <a:srgbClr val="FF3300"/>
                    </a:solidFill>
                    <a:latin typeface="+mn-lt"/>
                  </a:rPr>
                  <a:t> </a:t>
                </a:r>
                <a:r>
                  <a:rPr lang="en-US" altLang="en-US" sz="1600" dirty="0" err="1">
                    <a:solidFill>
                      <a:srgbClr val="FF3300"/>
                    </a:solidFill>
                    <a:latin typeface="+mn-lt"/>
                  </a:rPr>
                  <a:t>suhu</a:t>
                </a:r>
                <a:r>
                  <a:rPr lang="en-US" altLang="en-US" sz="1600" dirty="0">
                    <a:solidFill>
                      <a:srgbClr val="FF3300"/>
                    </a:solidFill>
                    <a:latin typeface="+mn-lt"/>
                  </a:rPr>
                  <a:t> RENDAH THEN </a:t>
                </a:r>
                <a:r>
                  <a:rPr lang="en-US" altLang="en-US" sz="1600" dirty="0" err="1">
                    <a:solidFill>
                      <a:srgbClr val="FF3300"/>
                    </a:solidFill>
                    <a:latin typeface="+mn-lt"/>
                  </a:rPr>
                  <a:t>frekuensi</a:t>
                </a:r>
                <a:r>
                  <a:rPr lang="en-US" altLang="en-US" sz="1600" dirty="0">
                    <a:solidFill>
                      <a:srgbClr val="FF3300"/>
                    </a:solidFill>
                    <a:latin typeface="+mn-lt"/>
                  </a:rPr>
                  <a:t> = </a:t>
                </a:r>
                <a:r>
                  <a:rPr lang="en-US" altLang="en-US" sz="1600" dirty="0" err="1">
                    <a:solidFill>
                      <a:srgbClr val="FF3300"/>
                    </a:solidFill>
                    <a:latin typeface="+mn-lt"/>
                  </a:rPr>
                  <a:t>kecepatan</a:t>
                </a:r>
                <a:r>
                  <a:rPr lang="en-US" altLang="en-US" sz="1600" dirty="0">
                    <a:solidFill>
                      <a:srgbClr val="FF3300"/>
                    </a:solidFill>
                    <a:latin typeface="+mn-lt"/>
                  </a:rPr>
                  <a:t> + 700;</a:t>
                </a:r>
              </a:p>
              <a:p>
                <a:pPr marL="0" indent="0">
                  <a:buNone/>
                </a:pPr>
                <a:endParaRPr lang="en-US" altLang="en-US" sz="1600" dirty="0">
                  <a:solidFill>
                    <a:srgbClr val="FF3300"/>
                  </a:solidFill>
                  <a:latin typeface="+mn-lt"/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𝑝𝑟𝑒𝑑𝑖𝑘𝑎𝑡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4=</m:t>
                      </m:r>
                      <m:sSub>
                        <m:sSubPr>
                          <m:ctrlPr>
                            <a:rPr lang="en-US" altLang="zh-CN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600" i="1" dirty="0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𝐶𝐸𝑃𝐴𝑇</m:t>
                          </m:r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∩</m:t>
                          </m:r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𝑅𝐸𝑁𝐷𝐴𝐻</m:t>
                          </m:r>
                        </m:sub>
                      </m:sSub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zh-CN" sz="1600" dirty="0">
                  <a:ea typeface="Cambria Math" panose="02040503050406030204" pitchFamily="18" charset="0"/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𝑝𝑟𝑒𝑑𝑖𝑘𝑎𝑡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</m:t>
                      </m:r>
                      <m:r>
                        <a:rPr lang="en-US" sz="16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600" b="0" i="0" smtClean="0"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𝐶𝐸𝑃𝐴𝑇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4000</m:t>
                                  </m:r>
                                </m:e>
                              </m:d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𝑅𝐸𝑁𝐷𝐴𝐻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300</m:t>
                                  </m:r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US" sz="1600" dirty="0"/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𝑝𝑟𝑒𝑑𝑖𝑘𝑎𝑡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</m:t>
                    </m:r>
                    <m:r>
                      <a:rPr lang="en-US" sz="1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600" b="0" i="0" smtClean="0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0.75,0.6</m:t>
                            </m:r>
                          </m:e>
                        </m:d>
                      </m:e>
                    </m:func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=0.6</m:t>
                    </m:r>
                  </m:oMath>
                </a14:m>
                <a:r>
                  <a:rPr lang="en-US" sz="1600" dirty="0"/>
                  <a:t> 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endParaRPr lang="en-US" sz="1600" dirty="0"/>
              </a:p>
              <a:p>
                <a:pPr marL="0" indent="0" eaLnBrk="1" hangingPunct="1">
                  <a:buNone/>
                </a:pPr>
                <a:r>
                  <a:rPr lang="sv-SE" altLang="en-US" sz="1600" dirty="0">
                    <a:latin typeface="Times New Roman" panose="02020603050405020304" pitchFamily="18" charset="0"/>
                  </a:rPr>
                  <a:t>Nilai z4: </a:t>
                </a:r>
              </a:p>
              <a:p>
                <a:pPr marL="0" indent="0" eaLnBrk="1" hangingPunct="1">
                  <a:buNone/>
                </a:pPr>
                <a:r>
                  <a:rPr lang="sv-SE" altLang="en-US" sz="1600" dirty="0">
                    <a:latin typeface="Times New Roman" panose="02020603050405020304" pitchFamily="18" charset="0"/>
                  </a:rPr>
                  <a:t>	z4 	= 4000 + 700 </a:t>
                </a:r>
              </a:p>
              <a:p>
                <a:pPr marL="0" indent="0" eaLnBrk="1" hangingPunct="1">
                  <a:buNone/>
                </a:pPr>
                <a:r>
                  <a:rPr lang="sv-SE" altLang="en-US" sz="1600" dirty="0">
                    <a:latin typeface="Times New Roman" panose="02020603050405020304" pitchFamily="18" charset="0"/>
                  </a:rPr>
                  <a:t>		= 4700</a:t>
                </a:r>
                <a:r>
                  <a:rPr lang="en-US" altLang="en-US" sz="1600" dirty="0">
                    <a:latin typeface="Times New Roman" panose="02020603050405020304" pitchFamily="18" charset="0"/>
                  </a:rPr>
                  <a:t> 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endParaRPr lang="en-US" sz="1600" dirty="0"/>
              </a:p>
              <a:p>
                <a:pPr marL="0" indent="0">
                  <a:buNone/>
                </a:pPr>
                <a:endParaRPr lang="en-US" altLang="en-US" sz="1600" dirty="0">
                  <a:solidFill>
                    <a:srgbClr val="FF3300"/>
                  </a:solidFill>
                  <a:latin typeface="+mn-lt"/>
                </a:endParaRPr>
              </a:p>
              <a:p>
                <a:pPr marL="0" indent="0">
                  <a:buNone/>
                </a:pPr>
                <a:endParaRPr lang="en-US" sz="1600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D8EF102-B94D-7CEA-866D-DC5724F89D4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l="-706" t="-11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96145028"/>
      </p:ext>
    </p:extLst>
  </p:cSld>
  <p:clrMapOvr>
    <a:masterClrMapping/>
  </p:clrMapOvr>
  <p:transition spd="slow">
    <p:wip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7" name="Text Box 8">
            <a:extLst>
              <a:ext uri="{FF2B5EF4-FFF2-40B4-BE49-F238E27FC236}">
                <a16:creationId xmlns:a16="http://schemas.microsoft.com/office/drawing/2014/main" id="{90C9DA75-6781-5456-38C8-8E6F27B12F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640455"/>
            <a:ext cx="7848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eaLnBrk="1" hangingPunct="1">
              <a:spcBef>
                <a:spcPct val="50000"/>
              </a:spcBef>
              <a:defRPr>
                <a:latin typeface="+mn-lt"/>
              </a:defRPr>
            </a:lvl1pPr>
          </a:lstStyle>
          <a:p>
            <a:r>
              <a:rPr lang="it-IT" altLang="en-US" dirty="0"/>
              <a:t>Nilai z dicari dengan persamaan berikut :</a:t>
            </a:r>
            <a:r>
              <a:rPr lang="en-US" altLang="en-US" dirty="0"/>
              <a:t> </a:t>
            </a:r>
          </a:p>
        </p:txBody>
      </p:sp>
      <p:sp>
        <p:nvSpPr>
          <p:cNvPr id="93188" name="Rectangle 10">
            <a:extLst>
              <a:ext uri="{FF2B5EF4-FFF2-40B4-BE49-F238E27FC236}">
                <a16:creationId xmlns:a16="http://schemas.microsoft.com/office/drawing/2014/main" id="{FB2A04AF-7441-D185-5199-3A9260D2C2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2995613"/>
            <a:ext cx="1841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9pPr>
          </a:lstStyle>
          <a:p>
            <a:pPr eaLnBrk="1" hangingPunct="1"/>
            <a:endParaRPr lang="id-ID" altLang="en-US" sz="2800">
              <a:latin typeface="Arial" panose="020B0604020202020204" pitchFamily="34" charset="0"/>
            </a:endParaRPr>
          </a:p>
        </p:txBody>
      </p:sp>
      <p:graphicFrame>
        <p:nvGraphicFramePr>
          <p:cNvPr id="93189" name="Object 9">
            <a:extLst>
              <a:ext uri="{FF2B5EF4-FFF2-40B4-BE49-F238E27FC236}">
                <a16:creationId xmlns:a16="http://schemas.microsoft.com/office/drawing/2014/main" id="{EB9B2741-0E08-B84B-6CF6-3CC4F9FF417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8128334"/>
              </p:ext>
            </p:extLst>
          </p:nvPr>
        </p:nvGraphicFramePr>
        <p:xfrm>
          <a:off x="859970" y="2121694"/>
          <a:ext cx="8686800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187700" imgH="342900" progId="Equation.3">
                  <p:embed/>
                </p:oleObj>
              </mc:Choice>
              <mc:Fallback>
                <p:oleObj name="Equation" r:id="rId2" imgW="3187700" imgH="3429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9970" y="2121694"/>
                        <a:ext cx="8686800" cy="933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190" name="Rectangle 12">
            <a:extLst>
              <a:ext uri="{FF2B5EF4-FFF2-40B4-BE49-F238E27FC236}">
                <a16:creationId xmlns:a16="http://schemas.microsoft.com/office/drawing/2014/main" id="{471C0574-D266-67E0-5BEC-AC1E668FF5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000375"/>
            <a:ext cx="1841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dugi" panose="020B0502040204020203" pitchFamily="34" charset="0"/>
              </a:defRPr>
            </a:lvl9pPr>
          </a:lstStyle>
          <a:p>
            <a:pPr eaLnBrk="1" hangingPunct="1"/>
            <a:endParaRPr lang="id-ID" altLang="en-US" sz="2800">
              <a:latin typeface="Arial" panose="020B0604020202020204" pitchFamily="34" charset="0"/>
            </a:endParaRPr>
          </a:p>
        </p:txBody>
      </p:sp>
      <p:graphicFrame>
        <p:nvGraphicFramePr>
          <p:cNvPr id="93191" name="Object 11">
            <a:extLst>
              <a:ext uri="{FF2B5EF4-FFF2-40B4-BE49-F238E27FC236}">
                <a16:creationId xmlns:a16="http://schemas.microsoft.com/office/drawing/2014/main" id="{7E9EA0A6-5A5A-76BD-7373-F5451AC653C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965937"/>
              </p:ext>
            </p:extLst>
          </p:nvPr>
        </p:nvGraphicFramePr>
        <p:xfrm>
          <a:off x="820057" y="3486150"/>
          <a:ext cx="86868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000500" imgH="330200" progId="Equation.3">
                  <p:embed/>
                </p:oleObj>
              </mc:Choice>
              <mc:Fallback>
                <p:oleObj name="Equation" r:id="rId4" imgW="4000500" imgH="3302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0057" y="3486150"/>
                        <a:ext cx="8686800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192" name="Text Box 13">
            <a:extLst>
              <a:ext uri="{FF2B5EF4-FFF2-40B4-BE49-F238E27FC236}">
                <a16:creationId xmlns:a16="http://schemas.microsoft.com/office/drawing/2014/main" id="{2D20E71A-33FB-D038-0D7E-2E0B3F0825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9171" y="4811185"/>
            <a:ext cx="107986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eaLnBrk="1" hangingPunct="1">
              <a:spcBef>
                <a:spcPct val="50000"/>
              </a:spcBef>
              <a:defRPr>
                <a:latin typeface="+mn-lt"/>
              </a:defRPr>
            </a:lvl1pPr>
          </a:lstStyle>
          <a:p>
            <a:r>
              <a:rPr lang="en-US" altLang="en-US" dirty="0"/>
              <a:t>Jadi </a:t>
            </a:r>
            <a:r>
              <a:rPr lang="en-US" altLang="en-US" dirty="0" err="1"/>
              <a:t>sumber</a:t>
            </a:r>
            <a:r>
              <a:rPr lang="en-US" altLang="en-US" dirty="0"/>
              <a:t> </a:t>
            </a:r>
            <a:r>
              <a:rPr lang="en-US" altLang="en-US" dirty="0" err="1"/>
              <a:t>frekuensi</a:t>
            </a:r>
            <a:r>
              <a:rPr lang="en-US" altLang="en-US" dirty="0"/>
              <a:t> </a:t>
            </a:r>
            <a:r>
              <a:rPr lang="en-US" altLang="en-US" dirty="0" err="1"/>
              <a:t>putar</a:t>
            </a:r>
            <a:r>
              <a:rPr lang="en-US" altLang="en-US" dirty="0"/>
              <a:t> </a:t>
            </a:r>
            <a:r>
              <a:rPr lang="en-US" altLang="en-US" dirty="0" err="1"/>
              <a:t>kipas</a:t>
            </a:r>
            <a:r>
              <a:rPr lang="en-US" altLang="en-US" dirty="0"/>
              <a:t> </a:t>
            </a:r>
            <a:r>
              <a:rPr lang="en-US" altLang="en-US" dirty="0" err="1"/>
              <a:t>angin</a:t>
            </a:r>
            <a:r>
              <a:rPr lang="en-US" altLang="en-US" dirty="0"/>
              <a:t> yang </a:t>
            </a:r>
            <a:r>
              <a:rPr lang="en-US" altLang="en-US" dirty="0" err="1"/>
              <a:t>dihasilkan</a:t>
            </a:r>
            <a:r>
              <a:rPr lang="en-US" altLang="en-US" dirty="0"/>
              <a:t> </a:t>
            </a:r>
            <a:r>
              <a:rPr lang="en-US" altLang="en-US" dirty="0" err="1"/>
              <a:t>sistem</a:t>
            </a:r>
            <a:r>
              <a:rPr lang="en-US" altLang="en-US" dirty="0"/>
              <a:t> </a:t>
            </a:r>
            <a:r>
              <a:rPr lang="en-US" altLang="en-US" dirty="0" err="1"/>
              <a:t>kontrol</a:t>
            </a:r>
            <a:r>
              <a:rPr lang="en-US" altLang="en-US" dirty="0"/>
              <a:t> </a:t>
            </a:r>
            <a:r>
              <a:rPr lang="en-US" altLang="en-US" dirty="0" err="1"/>
              <a:t>haruslah</a:t>
            </a:r>
            <a:r>
              <a:rPr lang="en-US" altLang="en-US" dirty="0"/>
              <a:t> 4230 rpm. </a:t>
            </a:r>
          </a:p>
        </p:txBody>
      </p:sp>
      <p:sp>
        <p:nvSpPr>
          <p:cNvPr id="93193" name="Title 1">
            <a:extLst>
              <a:ext uri="{FF2B5EF4-FFF2-40B4-BE49-F238E27FC236}">
                <a16:creationId xmlns:a16="http://schemas.microsoft.com/office/drawing/2014/main" id="{5E48E61F-828F-B920-ACC8-02B2A8D360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sz="6600" dirty="0" err="1"/>
              <a:t>Penyelesaian</a:t>
            </a:r>
            <a:r>
              <a:rPr lang="en-US" altLang="en-US" sz="6600" dirty="0"/>
              <a:t>: </a:t>
            </a:r>
            <a:r>
              <a:rPr lang="en-US" altLang="en-US" sz="66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Metode</a:t>
            </a:r>
            <a:r>
              <a:rPr lang="en-US" altLang="en-US" sz="6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en-US" sz="66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Sugeno</a:t>
            </a:r>
            <a:endParaRPr lang="en-US" altLang="en-US" sz="6600" dirty="0"/>
          </a:p>
        </p:txBody>
      </p:sp>
    </p:spTree>
  </p:cSld>
  <p:clrMapOvr>
    <a:masterClrMapping/>
  </p:clrMapOvr>
  <p:transition spd="slow">
    <p:wip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400" dirty="0" err="1"/>
              <a:t>Sistem</a:t>
            </a:r>
            <a:r>
              <a:rPr lang="en-US" altLang="en-US" sz="4400" dirty="0"/>
              <a:t> </a:t>
            </a:r>
            <a:r>
              <a:rPr lang="en-US" altLang="en-US" sz="4400" dirty="0" err="1"/>
              <a:t>Inferensi</a:t>
            </a:r>
            <a:r>
              <a:rPr lang="en-US" altLang="en-US" sz="4400" dirty="0"/>
              <a:t> Fuzzy </a:t>
            </a:r>
            <a:endParaRPr lang="id-ID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31AC35-7641-8EA8-4E7B-447C45AFE9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Kelemahan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nl-NL" sz="2000" dirty="0"/>
              <a:t>Dengan menggunakan aturan logika, sistem akan mengeluarkan </a:t>
            </a:r>
            <a:r>
              <a:rPr lang="nl-NL" sz="2000" i="1" dirty="0"/>
              <a:t>output</a:t>
            </a:r>
            <a:r>
              <a:rPr lang="nl-NL" sz="2000" dirty="0"/>
              <a:t> berupa salah satu dari nilai yang kita definisikan. </a:t>
            </a:r>
          </a:p>
          <a:p>
            <a:pPr>
              <a:lnSpc>
                <a:spcPct val="120000"/>
              </a:lnSpc>
            </a:pPr>
            <a:r>
              <a:rPr lang="id-ID" sz="2000" dirty="0"/>
              <a:t>Dengan kata lain, sistem ini sangat statis. </a:t>
            </a:r>
            <a:endParaRPr lang="en-US" sz="2000" dirty="0"/>
          </a:p>
          <a:p>
            <a:pPr>
              <a:lnSpc>
                <a:spcPct val="120000"/>
              </a:lnSpc>
            </a:pPr>
            <a:r>
              <a:rPr lang="id-ID" sz="2000" dirty="0"/>
              <a:t>Untuk masalah yang membutuhkan tingkat ketelitian tinggi atau yang adil secara intuitif, tentu saja cara ini tidak bisa digunakan.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F9F0E6-8065-FD5C-1B98-F0994390D6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err="1"/>
              <a:t>Kelebihan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E11033-318E-E7E1-A3BE-A4B56500EEB8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Autofit/>
          </a:bodyPr>
          <a:lstStyle/>
          <a:p>
            <a:pPr defTabSz="457200" fontAlgn="base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SzPct val="135000"/>
              <a:defRPr/>
            </a:pP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dugi"/>
                <a:ea typeface="ＭＳ Ｐゴシック" charset="0"/>
              </a:rPr>
              <a:t>Kebanyakan permasalahan dunia nyata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dugi"/>
                <a:ea typeface="ＭＳ Ｐゴシック" charset="0"/>
              </a:rPr>
              <a:t>:</a:t>
            </a: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dugi"/>
                <a:ea typeface="ＭＳ Ｐゴシック" charset="0"/>
              </a:rPr>
              <a:t> </a:t>
            </a: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adugi"/>
                <a:ea typeface="ＭＳ Ｐゴシック" charset="0"/>
              </a:rPr>
              <a:t>non linier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dugi"/>
              <a:ea typeface="ＭＳ Ｐゴシック" charset="0"/>
            </a:endParaRPr>
          </a:p>
          <a:p>
            <a:pPr defTabSz="457200" fontAlgn="base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SzPct val="135000"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dugi"/>
                <a:ea typeface="ＭＳ Ｐゴシック" charset="0"/>
              </a:rPr>
              <a:t>S</a:t>
            </a: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dugi"/>
                <a:ea typeface="ＭＳ Ｐゴシック" charset="0"/>
              </a:rPr>
              <a:t>istem berbasis </a:t>
            </a:r>
            <a:r>
              <a:rPr kumimoji="0" lang="id-ID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dugi"/>
                <a:ea typeface="ＭＳ Ｐゴシック" charset="0"/>
              </a:rPr>
              <a:t>crisp set </a:t>
            </a: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dugi"/>
                <a:ea typeface="ＭＳ Ｐゴシック" charset="0"/>
              </a:rPr>
              <a:t>dengan pembobotan sulit digunakan karena menghasilkan grafik yang </a:t>
            </a: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Gadugi"/>
                <a:ea typeface="ＭＳ Ｐゴシック" charset="0"/>
              </a:rPr>
              <a:t>linier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dugi"/>
                <a:ea typeface="ＭＳ Ｐゴシック" charset="0"/>
              </a:rPr>
              <a:t>.</a:t>
            </a:r>
          </a:p>
          <a:p>
            <a:pPr defTabSz="457200" fontAlgn="base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SzPct val="135000"/>
              <a:defRPr/>
            </a:pP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dugi"/>
                <a:ea typeface="ＭＳ Ｐゴシック" charset="0"/>
              </a:rPr>
              <a:t>Untuk menyelesaikan masalah non linier, tentu saja dibutuhkan sistem yang juga bersifat non linier. 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dugi"/>
              <a:ea typeface="ＭＳ Ｐゴシック" charset="0"/>
            </a:endParaRPr>
          </a:p>
          <a:p>
            <a:pPr defTabSz="457200" fontAlgn="base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SzPct val="135000"/>
              <a:defRPr/>
            </a:pP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dugi"/>
                <a:ea typeface="ＭＳ Ｐゴシック" charset="0"/>
              </a:rPr>
              <a:t>Dilihat dari proses dan keluarannya, </a:t>
            </a: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adugi"/>
                <a:ea typeface="ＭＳ Ｐゴシック" charset="0"/>
              </a:rPr>
              <a:t>sistem berbasis </a:t>
            </a:r>
            <a:r>
              <a:rPr kumimoji="0" lang="id-ID" sz="20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adugi"/>
                <a:ea typeface="ＭＳ Ｐゴシック" charset="0"/>
              </a:rPr>
              <a:t>fuzzy set</a:t>
            </a: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dugi"/>
                <a:ea typeface="ＭＳ Ｐゴシック" charset="0"/>
              </a:rPr>
              <a:t> memiliki sifat </a:t>
            </a: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adugi"/>
                <a:ea typeface="ＭＳ Ｐゴシック" charset="0"/>
              </a:rPr>
              <a:t>non linier</a:t>
            </a: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dugi"/>
                <a:ea typeface="ＭＳ Ｐゴシック" charset="0"/>
              </a:rPr>
              <a:t>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043799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E5AE8-33FF-02DE-6D99-E1CED4A5F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Perangkat</a:t>
            </a:r>
            <a:r>
              <a:rPr lang="en-US" dirty="0"/>
              <a:t> </a:t>
            </a:r>
            <a:r>
              <a:rPr lang="en-US" dirty="0" err="1"/>
              <a:t>Pemograman</a:t>
            </a:r>
            <a:endParaRPr lang="en-US" dirty="0"/>
          </a:p>
        </p:txBody>
      </p:sp>
      <p:sp>
        <p:nvSpPr>
          <p:cNvPr id="8" name="TextBox 7">
            <a:hlinkClick r:id="rId2"/>
            <a:extLst>
              <a:ext uri="{FF2B5EF4-FFF2-40B4-BE49-F238E27FC236}">
                <a16:creationId xmlns:a16="http://schemas.microsoft.com/office/drawing/2014/main" id="{0A133557-45E6-BFCA-9DE0-250F7622AA29}"/>
              </a:ext>
            </a:extLst>
          </p:cNvPr>
          <p:cNvSpPr txBox="1"/>
          <p:nvPr/>
        </p:nvSpPr>
        <p:spPr>
          <a:xfrm>
            <a:off x="6087979" y="4495800"/>
            <a:ext cx="64293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Scikit-Fuzzy</a:t>
            </a:r>
          </a:p>
          <a:p>
            <a:r>
              <a:rPr lang="en-US" dirty="0"/>
              <a:t>https://github.com/caigen/scikit-fuzzy-examples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317E946-7DCC-A15C-FF00-961F57DD1F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6447776"/>
              </p:ext>
            </p:extLst>
          </p:nvPr>
        </p:nvGraphicFramePr>
        <p:xfrm>
          <a:off x="826168" y="1524000"/>
          <a:ext cx="4816642" cy="46024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436109">
                  <a:extLst>
                    <a:ext uri="{9D8B030D-6E8A-4147-A177-3AD203B41FA5}">
                      <a16:colId xmlns:a16="http://schemas.microsoft.com/office/drawing/2014/main" val="2122603675"/>
                    </a:ext>
                  </a:extLst>
                </a:gridCol>
                <a:gridCol w="1341708">
                  <a:extLst>
                    <a:ext uri="{9D8B030D-6E8A-4147-A177-3AD203B41FA5}">
                      <a16:colId xmlns:a16="http://schemas.microsoft.com/office/drawing/2014/main" val="2113021732"/>
                    </a:ext>
                  </a:extLst>
                </a:gridCol>
                <a:gridCol w="1038825">
                  <a:extLst>
                    <a:ext uri="{9D8B030D-6E8A-4147-A177-3AD203B41FA5}">
                      <a16:colId xmlns:a16="http://schemas.microsoft.com/office/drawing/2014/main" val="3702304087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Name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Language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Latest Release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424100181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 err="1">
                          <a:effectLst/>
                        </a:rPr>
                        <a:t>FuzzyLite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C++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2017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347214338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FisPro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C++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2019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167758715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 err="1">
                          <a:effectLst/>
                        </a:rPr>
                        <a:t>Juzzy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Java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2013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351012724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JFML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Java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2018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90257916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 err="1">
                          <a:effectLst/>
                        </a:rPr>
                        <a:t>FuzzyR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R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2019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357705024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Fuzzy Toolbox for Matlab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Matlab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1994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274896566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Fuzzy Logic Toolbox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Matlab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2020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134754779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 err="1">
                          <a:effectLst/>
                        </a:rPr>
                        <a:t>PyFuzzy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Python 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2014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138747879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 err="1">
                          <a:effectLst/>
                        </a:rPr>
                        <a:t>Fuzzylab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Python 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2019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215906525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Scikit-Fuzzy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Python 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2019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2164145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Py4JFML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Python 3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2019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408175084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Simpful</a:t>
                      </a:r>
                      <a:endParaRPr lang="en-US" sz="16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Python 3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2019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237490254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A14EE62-27D5-0D14-4DBB-C6DB2D7BB286}"/>
              </a:ext>
            </a:extLst>
          </p:cNvPr>
          <p:cNvSpPr txBox="1"/>
          <p:nvPr/>
        </p:nvSpPr>
        <p:spPr>
          <a:xfrm>
            <a:off x="6087979" y="3363575"/>
            <a:ext cx="546233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u="none" strike="noStrike" dirty="0">
                <a:effectLst/>
              </a:rPr>
              <a:t>Fuzzy Logic Toolbox </a:t>
            </a:r>
            <a:r>
              <a:rPr lang="en-US" sz="1800" b="1" u="none" strike="noStrike" dirty="0" err="1">
                <a:effectLst/>
              </a:rPr>
              <a:t>MatLab</a:t>
            </a:r>
            <a:endParaRPr lang="en-US" sz="1800" b="1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r>
              <a:rPr lang="en-US" dirty="0"/>
              <a:t>https://www.mathworks.com/help/fuzzy/building-systems-with-fuzzy-logic-toolbox-software.html</a:t>
            </a:r>
          </a:p>
        </p:txBody>
      </p:sp>
    </p:spTree>
    <p:extLst>
      <p:ext uri="{BB962C8B-B14F-4D97-AF65-F5344CB8AC3E}">
        <p14:creationId xmlns:p14="http://schemas.microsoft.com/office/powerpoint/2010/main" val="319286886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D3AA5-58B6-D30F-674D-8162B50EF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6000" dirty="0"/>
              <a:t>TUGAS KELOMPOK</a:t>
            </a:r>
          </a:p>
        </p:txBody>
      </p:sp>
      <p:pic>
        <p:nvPicPr>
          <p:cNvPr id="3" name="Picture 8">
            <a:extLst>
              <a:ext uri="{FF2B5EF4-FFF2-40B4-BE49-F238E27FC236}">
                <a16:creationId xmlns:a16="http://schemas.microsoft.com/office/drawing/2014/main" id="{4A7CE5E0-BB6B-536A-060C-11B5E21563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826"/>
          <a:stretch>
            <a:fillRect/>
          </a:stretch>
        </p:blipFill>
        <p:spPr bwMode="auto">
          <a:xfrm>
            <a:off x="838200" y="2497360"/>
            <a:ext cx="6172200" cy="352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92A9DB9-8B8E-CA38-65B3-B4506298838B}"/>
              </a:ext>
            </a:extLst>
          </p:cNvPr>
          <p:cNvSpPr txBox="1"/>
          <p:nvPr/>
        </p:nvSpPr>
        <p:spPr>
          <a:xfrm>
            <a:off x="862921" y="1399774"/>
            <a:ext cx="642937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 err="1"/>
              <a:t>Studi</a:t>
            </a:r>
            <a:r>
              <a:rPr lang="en-US" sz="1600" b="1" dirty="0"/>
              <a:t> </a:t>
            </a:r>
            <a:r>
              <a:rPr lang="en-US" sz="1600" b="1" dirty="0" err="1"/>
              <a:t>Kasus</a:t>
            </a:r>
            <a:r>
              <a:rPr lang="en-US" sz="1600" b="1" dirty="0"/>
              <a:t> – </a:t>
            </a:r>
            <a:r>
              <a:rPr lang="en-US" sz="1600" b="1" dirty="0" err="1"/>
              <a:t>Pemberian</a:t>
            </a:r>
            <a:r>
              <a:rPr lang="en-US" sz="1600" b="1" dirty="0"/>
              <a:t> </a:t>
            </a:r>
            <a:r>
              <a:rPr lang="en-US" sz="1600" b="1" dirty="0" err="1"/>
              <a:t>Beasiswa</a:t>
            </a:r>
            <a:endParaRPr lang="en-US" sz="1600" b="1" dirty="0"/>
          </a:p>
          <a:p>
            <a:endParaRPr lang="en-US" sz="1600" b="1" dirty="0"/>
          </a:p>
          <a:p>
            <a:r>
              <a:rPr lang="en-US" sz="1600" b="1" dirty="0" err="1"/>
              <a:t>Berapa</a:t>
            </a:r>
            <a:r>
              <a:rPr lang="en-US" sz="1600" b="1" dirty="0"/>
              <a:t> Nilai </a:t>
            </a:r>
            <a:r>
              <a:rPr lang="en-US" sz="1600" b="1" dirty="0" err="1"/>
              <a:t>Kelayakan</a:t>
            </a:r>
            <a:r>
              <a:rPr lang="en-US" sz="1600" b="1" dirty="0"/>
              <a:t> </a:t>
            </a:r>
            <a:r>
              <a:rPr lang="en-US" sz="1600" b="1" dirty="0" err="1"/>
              <a:t>mahasiswa</a:t>
            </a:r>
            <a:r>
              <a:rPr lang="en-US" sz="1600" b="1" dirty="0"/>
              <a:t> </a:t>
            </a:r>
            <a:r>
              <a:rPr lang="en-US" sz="1600" b="1" dirty="0" err="1"/>
              <a:t>untuk</a:t>
            </a:r>
            <a:r>
              <a:rPr lang="en-US" sz="1600" b="1" dirty="0"/>
              <a:t> </a:t>
            </a:r>
            <a:r>
              <a:rPr lang="en-US" sz="1600" b="1" dirty="0" err="1"/>
              <a:t>menerima</a:t>
            </a:r>
            <a:r>
              <a:rPr lang="en-US" sz="1600" b="1" dirty="0"/>
              <a:t> </a:t>
            </a:r>
            <a:r>
              <a:rPr lang="en-US" sz="1600" b="1" dirty="0" err="1"/>
              <a:t>beasiswa</a:t>
            </a:r>
            <a:r>
              <a:rPr lang="en-US" sz="1600" b="1" dirty="0"/>
              <a:t>? </a:t>
            </a:r>
            <a:r>
              <a:rPr lang="en-US" sz="1600" b="1" dirty="0" err="1"/>
              <a:t>Gunakan</a:t>
            </a:r>
            <a:r>
              <a:rPr lang="en-US" sz="1600" b="1" dirty="0"/>
              <a:t> </a:t>
            </a:r>
            <a:r>
              <a:rPr lang="en-US" sz="1600" b="1" dirty="0" err="1"/>
              <a:t>Inferensi</a:t>
            </a:r>
            <a:r>
              <a:rPr lang="en-US" sz="1600" b="1" dirty="0"/>
              <a:t> Mamdani</a:t>
            </a: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08504CC9-0C5F-4F7A-1A58-B6EF34D60EC3}"/>
              </a:ext>
            </a:extLst>
          </p:cNvPr>
          <p:cNvSpPr txBox="1">
            <a:spLocks/>
          </p:cNvSpPr>
          <p:nvPr/>
        </p:nvSpPr>
        <p:spPr bwMode="auto">
          <a:xfrm>
            <a:off x="7292295" y="3210322"/>
            <a:ext cx="4899705" cy="7199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ＭＳ Ｐゴシック" charset="0"/>
                <a:cs typeface="ＭＳ Ｐゴシック" charset="0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id-ID" b="0" dirty="0">
                <a:solidFill>
                  <a:schemeClr val="accent1"/>
                </a:solidFill>
              </a:rPr>
              <a:t>Fungsi Keanggotaan Nilai Kelayakan</a:t>
            </a:r>
          </a:p>
        </p:txBody>
      </p:sp>
      <p:graphicFrame>
        <p:nvGraphicFramePr>
          <p:cNvPr id="10" name="Object 1">
            <a:extLst>
              <a:ext uri="{FF2B5EF4-FFF2-40B4-BE49-F238E27FC236}">
                <a16:creationId xmlns:a16="http://schemas.microsoft.com/office/drawing/2014/main" id="{7CC5FAC2-3183-4336-2FB7-B3A4794D2B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9801116"/>
              </p:ext>
            </p:extLst>
          </p:nvPr>
        </p:nvGraphicFramePr>
        <p:xfrm>
          <a:off x="7292295" y="4240657"/>
          <a:ext cx="4608405" cy="186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4485685" imgH="1818532" progId="">
                  <p:embed/>
                </p:oleObj>
              </mc:Choice>
              <mc:Fallback>
                <p:oleObj name="Visio" r:id="rId3" imgW="4485685" imgH="1818532" progId="">
                  <p:embed/>
                  <p:pic>
                    <p:nvPicPr>
                      <p:cNvPr id="8" name="Object 1">
                        <a:extLst>
                          <a:ext uri="{FF2B5EF4-FFF2-40B4-BE49-F238E27FC236}">
                            <a16:creationId xmlns:a16="http://schemas.microsoft.com/office/drawing/2014/main" id="{9517F536-13A8-914A-8222-E23A7F45566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92295" y="4240657"/>
                        <a:ext cx="4608405" cy="18645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2383315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FFE6DDE-C374-2344-8845-165F9F53F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Aturan</a:t>
            </a:r>
            <a:r>
              <a:rPr lang="en-US" dirty="0"/>
              <a:t> </a:t>
            </a:r>
            <a:r>
              <a:rPr lang="en-US" dirty="0" err="1"/>
              <a:t>Pemberian</a:t>
            </a:r>
            <a:r>
              <a:rPr lang="en-US" dirty="0"/>
              <a:t> </a:t>
            </a:r>
            <a:r>
              <a:rPr lang="en-US" dirty="0" err="1"/>
              <a:t>Beasiswa</a:t>
            </a:r>
            <a:r>
              <a:rPr lang="en-US" dirty="0"/>
              <a:t>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69962F-C571-CD42-A662-BF1DCD6976F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280D33-EE14-9EBC-51D8-E8A706624FD6}"/>
              </a:ext>
            </a:extLst>
          </p:cNvPr>
          <p:cNvSpPr txBox="1"/>
          <p:nvPr/>
        </p:nvSpPr>
        <p:spPr>
          <a:xfrm>
            <a:off x="471639" y="1295400"/>
            <a:ext cx="6157761" cy="4555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eaLnBrk="1" hangingPunct="1">
              <a:buNone/>
            </a:pPr>
            <a:r>
              <a:rPr lang="en-US" altLang="en-US" sz="2000" dirty="0">
                <a:latin typeface="+mn-lt"/>
              </a:rPr>
              <a:t>Rule</a:t>
            </a:r>
          </a:p>
          <a:p>
            <a:pPr marL="457200" indent="-457200" eaLnBrk="1" hangingPunct="1">
              <a:buNone/>
            </a:pPr>
            <a:r>
              <a:rPr lang="en-US" altLang="en-US" sz="1800" dirty="0">
                <a:solidFill>
                  <a:srgbClr val="FF3300"/>
                </a:solidFill>
                <a:latin typeface="+mn-lt"/>
              </a:rPr>
              <a:t>[R1] IF IPK BAGUS DAN PENGHASILAN (PENGHASILAN KECIL ATAU SEDANG) MAKA NILAI KELAYAKAN TINGGI</a:t>
            </a:r>
          </a:p>
          <a:p>
            <a:pPr marL="457200" indent="-457200" eaLnBrk="1" hangingPunct="1"/>
            <a:r>
              <a:rPr lang="en-US" altLang="en-US" sz="1800" dirty="0">
                <a:solidFill>
                  <a:srgbClr val="FF3300"/>
                </a:solidFill>
                <a:latin typeface="+mn-lt"/>
              </a:rPr>
              <a:t>[R2] IF IPK BAGUS DAN PENGHASILAN (PENGHASILAN BESAR ATAU SANGAT BESAR) MAKA NILAI KELAYAKAN RENDAH</a:t>
            </a:r>
          </a:p>
          <a:p>
            <a:pPr marL="457200" indent="-457200" eaLnBrk="1" hangingPunct="1"/>
            <a:r>
              <a:rPr lang="en-US" altLang="en-US" sz="1800" dirty="0">
                <a:solidFill>
                  <a:srgbClr val="FF3300"/>
                </a:solidFill>
                <a:latin typeface="+mn-lt"/>
              </a:rPr>
              <a:t>[R3] IF IPK CUKUP DAN PENGHASILAN (PENGHASILAN KECIL ATAU SEDANG) MAKA NILAI KELAYAKAN RENDAH</a:t>
            </a:r>
          </a:p>
          <a:p>
            <a:pPr marL="457200" indent="-457200" eaLnBrk="1" hangingPunct="1"/>
            <a:r>
              <a:rPr lang="en-US" altLang="en-US" sz="1800" dirty="0">
                <a:solidFill>
                  <a:srgbClr val="FF3300"/>
                </a:solidFill>
                <a:latin typeface="+mn-lt"/>
              </a:rPr>
              <a:t>[R4] IF TOEFL TINGGI DAN PENGHASILAN (PENGHASILAN KECIL ATAU SEDANG) MAKA NILAI KELAYAKAN TINGGI </a:t>
            </a:r>
          </a:p>
          <a:p>
            <a:pPr marL="457200" indent="-457200" eaLnBrk="1" hangingPunct="1"/>
            <a:r>
              <a:rPr lang="en-US" altLang="en-US" sz="1800" dirty="0">
                <a:solidFill>
                  <a:srgbClr val="FF3300"/>
                </a:solidFill>
                <a:latin typeface="+mn-lt"/>
              </a:rPr>
              <a:t>[R5] IF TOEFL MENENGAH DAN (PENGHASILAN KECIL ATAU SEDANG) MAKA NILAI KELAYAKAN TINGGI </a:t>
            </a:r>
          </a:p>
          <a:p>
            <a:pPr marL="0" indent="0" eaLnBrk="1" hangingPunct="1">
              <a:buNone/>
            </a:pPr>
            <a:endParaRPr lang="en-US" altLang="en-US" sz="1800" dirty="0">
              <a:solidFill>
                <a:srgbClr val="FF33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86990159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ITTS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Franklin Gothic Demi Cond"/>
        <a:ea typeface=""/>
        <a:cs typeface=""/>
      </a:majorFont>
      <a:minorFont>
        <a:latin typeface="Gadug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TTS Theme" id="{29800C07-E7BA-45CA-AA6A-80EA7D41F9AC}" vid="{D299A072-DD5A-40FB-BBC4-209DC7BC4626}"/>
    </a:ext>
  </a:extLst>
</a:theme>
</file>

<file path=ppt/theme/theme2.xml><?xml version="1.0" encoding="utf-8"?>
<a:theme xmlns:a="http://schemas.openxmlformats.org/drawingml/2006/main" name="1_ITTS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Franklin Gothic Demi Cond"/>
        <a:ea typeface=""/>
        <a:cs typeface=""/>
      </a:majorFont>
      <a:minorFont>
        <a:latin typeface="Gadug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TTS Theme" id="{29800C07-E7BA-45CA-AA6A-80EA7D41F9AC}" vid="{D299A072-DD5A-40FB-BBC4-209DC7BC4626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ITTS Theme</Template>
  <TotalTime>2609</TotalTime>
  <Words>3499</Words>
  <Application>Microsoft Office PowerPoint</Application>
  <PresentationFormat>Widescreen</PresentationFormat>
  <Paragraphs>528</Paragraphs>
  <Slides>62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17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62</vt:i4>
      </vt:variant>
    </vt:vector>
  </HeadingPairs>
  <TitlesOfParts>
    <vt:vector size="83" baseType="lpstr">
      <vt:lpstr>ＭＳ Ｐゴシック</vt:lpstr>
      <vt:lpstr>Arial</vt:lpstr>
      <vt:lpstr>Arial Narrow</vt:lpstr>
      <vt:lpstr>Bahnschrift Condensed</vt:lpstr>
      <vt:lpstr>Bahnschrift SemiBold Condensed</vt:lpstr>
      <vt:lpstr>Bahnschrift SemiBold SemiConden</vt:lpstr>
      <vt:lpstr>Book Antiqua</vt:lpstr>
      <vt:lpstr>Calibri</vt:lpstr>
      <vt:lpstr>Cambria Math</vt:lpstr>
      <vt:lpstr>Franklin Gothic Demi Cond</vt:lpstr>
      <vt:lpstr>Gadugi</vt:lpstr>
      <vt:lpstr>Garamond</vt:lpstr>
      <vt:lpstr>Symbol</vt:lpstr>
      <vt:lpstr>Times New Roman</vt:lpstr>
      <vt:lpstr>Tw Cen MT Condensed Extra Bold</vt:lpstr>
      <vt:lpstr>Verdana</vt:lpstr>
      <vt:lpstr>Wingdings</vt:lpstr>
      <vt:lpstr>ITTS Theme</vt:lpstr>
      <vt:lpstr>1_ITTS Theme</vt:lpstr>
      <vt:lpstr>Equation</vt:lpstr>
      <vt:lpstr>Visio</vt:lpstr>
      <vt:lpstr>SISTEM INFERENSI FUZZY</vt:lpstr>
      <vt:lpstr>Topik Bahasan</vt:lpstr>
      <vt:lpstr>Pencapaian Kompetensi</vt:lpstr>
      <vt:lpstr>Pokok Bahasan</vt:lpstr>
      <vt:lpstr>Logika dan Himpunan Fuzzy</vt:lpstr>
      <vt:lpstr>Lima Jenis Logika</vt:lpstr>
      <vt:lpstr>Pengertian Logika Fuzzy </vt:lpstr>
      <vt:lpstr>Himpunan</vt:lpstr>
      <vt:lpstr>Dasar-Dasar Sistem Fuzzy </vt:lpstr>
      <vt:lpstr>Dasar-Dasar Sistem Fuzzy </vt:lpstr>
      <vt:lpstr>Himpunan Fuzzy</vt:lpstr>
      <vt:lpstr>Fungsi Keanggotaan</vt:lpstr>
      <vt:lpstr>Fungsi Keanggotaan </vt:lpstr>
      <vt:lpstr>Fungsi Keanggotaan </vt:lpstr>
      <vt:lpstr>Fungsi Keanggotaan </vt:lpstr>
      <vt:lpstr>Fungsi Keanggotaan </vt:lpstr>
      <vt:lpstr>Fungsi Keanggotaan </vt:lpstr>
      <vt:lpstr>Fungsi Keanggotaan </vt:lpstr>
      <vt:lpstr>Fungsi Keanggotaan </vt:lpstr>
      <vt:lpstr>Fungsi Keanggotaan </vt:lpstr>
      <vt:lpstr>Fungsi Keanggotaan </vt:lpstr>
      <vt:lpstr>Fungsi Keanggotaan </vt:lpstr>
      <vt:lpstr>Fungsi Keanggotaan </vt:lpstr>
      <vt:lpstr>STUDI KASUS</vt:lpstr>
      <vt:lpstr>Operasi Dasar Himpunan Fuzzy</vt:lpstr>
      <vt:lpstr>Operasi Himpunan Fuzzy</vt:lpstr>
      <vt:lpstr>Operasi Himpunan Fuzzy</vt:lpstr>
      <vt:lpstr>Operasi Himpunan Fuzzy </vt:lpstr>
      <vt:lpstr>Penalaran Monoton </vt:lpstr>
      <vt:lpstr>Penalaran Monoton (Implikasi)</vt:lpstr>
      <vt:lpstr>Penalaran Monoton (Implikasi)</vt:lpstr>
      <vt:lpstr>Fungsi Implikasi MIN (Minimum)</vt:lpstr>
      <vt:lpstr>Fungsi Implikasi DOT (Product)</vt:lpstr>
      <vt:lpstr>Sistem Inferensi Fuzzy</vt:lpstr>
      <vt:lpstr>Sistem Inferensi Fuzzy </vt:lpstr>
      <vt:lpstr>Sistem Inferensi Fuzzy </vt:lpstr>
      <vt:lpstr>Inferensi Metode Tsukamoto </vt:lpstr>
      <vt:lpstr>Inferensi Metode Mamdani </vt:lpstr>
      <vt:lpstr>Inferensi Metode Sugeno </vt:lpstr>
      <vt:lpstr>Defuzzification</vt:lpstr>
      <vt:lpstr>Defuzzification</vt:lpstr>
      <vt:lpstr>Studi Kasus</vt:lpstr>
      <vt:lpstr>Penyelesaian: </vt:lpstr>
      <vt:lpstr>Penyelesaian: </vt:lpstr>
      <vt:lpstr>Penyelesaian: </vt:lpstr>
      <vt:lpstr>Penyelesaian: Metode Tsukamoto</vt:lpstr>
      <vt:lpstr>Penyelesaian: Metode Tsukamoto</vt:lpstr>
      <vt:lpstr>Penyelesaian: Metode Tsukamoto</vt:lpstr>
      <vt:lpstr>Penyelesaian: Metode Mamdani</vt:lpstr>
      <vt:lpstr>Penyelesaian: Metode Mamdani</vt:lpstr>
      <vt:lpstr>Penyelesaian: Metode Mamdani</vt:lpstr>
      <vt:lpstr>Penyelesaian: Metode Mamdani</vt:lpstr>
      <vt:lpstr>Penyelesaian: Metode Mamdani</vt:lpstr>
      <vt:lpstr>Penyelesaian: Metode Mamdani</vt:lpstr>
      <vt:lpstr>Penyelesaian: Metode Sugeno</vt:lpstr>
      <vt:lpstr>Penyelesaian: Metode Sugeno</vt:lpstr>
      <vt:lpstr>Penyelesaian: Metode Sugeno</vt:lpstr>
      <vt:lpstr>Penyelesaian: Metode Sugeno</vt:lpstr>
      <vt:lpstr>Sistem Inferensi Fuzzy </vt:lpstr>
      <vt:lpstr>Perangkat Pemograman</vt:lpstr>
      <vt:lpstr>TUGAS KELOMPOK</vt:lpstr>
      <vt:lpstr>Aturan Pemberian Beasiswa </vt:lpstr>
    </vt:vector>
  </TitlesOfParts>
  <Company>UDINUS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SUTOYO</dc:creator>
  <cp:lastModifiedBy>SRI HIDAYATI</cp:lastModifiedBy>
  <cp:revision>231</cp:revision>
  <dcterms:created xsi:type="dcterms:W3CDTF">2009-02-15T08:51:42Z</dcterms:created>
  <dcterms:modified xsi:type="dcterms:W3CDTF">2025-12-04T03:10:23Z</dcterms:modified>
</cp:coreProperties>
</file>