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Cooper Hewitt Bold" charset="1" panose="00000000000000000000"/>
      <p:regular r:id="rId27"/>
    </p:embeddedFont>
    <p:embeddedFont>
      <p:font typeface="DM Sans" charset="1" panose="00000000000000000000"/>
      <p:regular r:id="rId28"/>
    </p:embeddedFont>
    <p:embeddedFont>
      <p:font typeface="DM Sans Bold" charset="1" panose="00000000000000000000"/>
      <p:regular r:id="rId29"/>
    </p:embeddedFont>
    <p:embeddedFont>
      <p:font typeface="DM Sans Bold Italics" charset="1" panose="00000000000000000000"/>
      <p:regular r:id="rId30"/>
    </p:embeddedFont>
    <p:embeddedFont>
      <p:font typeface="DM Sans Italics" charset="1" panose="00000000000000000000"/>
      <p:regular r:id="rId31"/>
    </p:embeddedFont>
    <p:embeddedFont>
      <p:font typeface="Canva Sans" charset="1" panose="020B0503030501040103"/>
      <p:regular r:id="rId32"/>
    </p:embeddedFont>
    <p:embeddedFont>
      <p:font typeface="Agrandir" charset="1" panose="00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Assalamu’alaikum warahmatullahi wabarakatuh,</a:t>
            </a:r>
          </a:p>
          <a:p>
            <a:r>
              <a:rPr lang="en-US"/>
              <a:t>Selamat Siang dan salam sejahtera.</a:t>
            </a:r>
          </a:p>
          <a:p>
            <a:r>
              <a:rPr lang="en-US"/>
              <a:t/>
            </a:r>
          </a:p>
          <a:p>
            <a:r>
              <a:rPr lang="en-US"/>
              <a:t>Yang kami hormati Bapak Faisal Zaidan Pradana, S.Akt., M.Mat., selaku dosen pengampu mata kuliah Pemodelan, Simulasi, dan Optimasi, serta teman-teman sekalian.</a:t>
            </a:r>
          </a:p>
          <a:p>
            <a:r>
              <a:rPr lang="en-US"/>
              <a:t/>
            </a:r>
          </a:p>
          <a:p>
            <a:r>
              <a:rPr lang="en-US"/>
              <a:t>Perkenalkan kami dari kelompok 1 yang pada kesempatan ini, kami akan mempresentasikan topik “Simulasi Pergerakan Harga Saham PT Jasa Marga (Persero) Tbk Menggunakan Model Binomial.”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2.pn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14" Target="../media/image25.png" Type="http://schemas.openxmlformats.org/officeDocument/2006/relationships/image"/><Relationship Id="rId15" Target="../media/image13.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3.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0629595" y="5267325"/>
            <a:ext cx="18393141" cy="7892330"/>
          </a:xfrm>
          <a:custGeom>
            <a:avLst/>
            <a:gdLst/>
            <a:ahLst/>
            <a:cxnLst/>
            <a:rect r="r" b="b" t="t" l="l"/>
            <a:pathLst>
              <a:path h="7892330" w="18393141">
                <a:moveTo>
                  <a:pt x="18393141" y="0"/>
                </a:moveTo>
                <a:lnTo>
                  <a:pt x="0" y="0"/>
                </a:lnTo>
                <a:lnTo>
                  <a:pt x="0" y="7892330"/>
                </a:lnTo>
                <a:lnTo>
                  <a:pt x="18393141" y="7892330"/>
                </a:lnTo>
                <a:lnTo>
                  <a:pt x="1839314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false" rot="0">
            <a:off x="-13510458" y="5267325"/>
            <a:ext cx="18393141" cy="7892330"/>
          </a:xfrm>
          <a:custGeom>
            <a:avLst/>
            <a:gdLst/>
            <a:ahLst/>
            <a:cxnLst/>
            <a:rect r="r" b="b" t="t" l="l"/>
            <a:pathLst>
              <a:path h="7892330" w="18393141">
                <a:moveTo>
                  <a:pt x="18393141" y="0"/>
                </a:moveTo>
                <a:lnTo>
                  <a:pt x="0" y="0"/>
                </a:lnTo>
                <a:lnTo>
                  <a:pt x="0" y="7892330"/>
                </a:lnTo>
                <a:lnTo>
                  <a:pt x="18393141" y="7892330"/>
                </a:lnTo>
                <a:lnTo>
                  <a:pt x="1839314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45494" y="6833759"/>
            <a:ext cx="16095614" cy="6906482"/>
          </a:xfrm>
          <a:custGeom>
            <a:avLst/>
            <a:gdLst/>
            <a:ahLst/>
            <a:cxnLst/>
            <a:rect r="r" b="b" t="t" l="l"/>
            <a:pathLst>
              <a:path h="6906482" w="16095614">
                <a:moveTo>
                  <a:pt x="0" y="0"/>
                </a:moveTo>
                <a:lnTo>
                  <a:pt x="16095614" y="0"/>
                </a:lnTo>
                <a:lnTo>
                  <a:pt x="16095614" y="6906482"/>
                </a:lnTo>
                <a:lnTo>
                  <a:pt x="0" y="69064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340641" y="1937868"/>
            <a:ext cx="9657992" cy="7023994"/>
          </a:xfrm>
          <a:custGeom>
            <a:avLst/>
            <a:gdLst/>
            <a:ahLst/>
            <a:cxnLst/>
            <a:rect r="r" b="b" t="t" l="l"/>
            <a:pathLst>
              <a:path h="7023994" w="9657992">
                <a:moveTo>
                  <a:pt x="0" y="0"/>
                </a:moveTo>
                <a:lnTo>
                  <a:pt x="9657992" y="0"/>
                </a:lnTo>
                <a:lnTo>
                  <a:pt x="9657992" y="7023994"/>
                </a:lnTo>
                <a:lnTo>
                  <a:pt x="0" y="70239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959947" y="6170405"/>
            <a:ext cx="6953435" cy="2023793"/>
            <a:chOff x="0" y="0"/>
            <a:chExt cx="1741469" cy="506853"/>
          </a:xfrm>
        </p:grpSpPr>
        <p:sp>
          <p:nvSpPr>
            <p:cNvPr name="Freeform 7" id="7"/>
            <p:cNvSpPr/>
            <p:nvPr/>
          </p:nvSpPr>
          <p:spPr>
            <a:xfrm flipH="false" flipV="false" rot="0">
              <a:off x="0" y="0"/>
              <a:ext cx="1741469" cy="506853"/>
            </a:xfrm>
            <a:custGeom>
              <a:avLst/>
              <a:gdLst/>
              <a:ahLst/>
              <a:cxnLst/>
              <a:rect r="r" b="b" t="t" l="l"/>
              <a:pathLst>
                <a:path h="506853" w="1741469">
                  <a:moveTo>
                    <a:pt x="33402" y="0"/>
                  </a:moveTo>
                  <a:lnTo>
                    <a:pt x="1708067" y="0"/>
                  </a:lnTo>
                  <a:cubicBezTo>
                    <a:pt x="1716926" y="0"/>
                    <a:pt x="1725422" y="3519"/>
                    <a:pt x="1731686" y="9783"/>
                  </a:cubicBezTo>
                  <a:cubicBezTo>
                    <a:pt x="1737950" y="16047"/>
                    <a:pt x="1741469" y="24543"/>
                    <a:pt x="1741469" y="33402"/>
                  </a:cubicBezTo>
                  <a:lnTo>
                    <a:pt x="1741469" y="473452"/>
                  </a:lnTo>
                  <a:cubicBezTo>
                    <a:pt x="1741469" y="491899"/>
                    <a:pt x="1726514" y="506853"/>
                    <a:pt x="1708067" y="506853"/>
                  </a:cubicBezTo>
                  <a:lnTo>
                    <a:pt x="33402" y="506853"/>
                  </a:lnTo>
                  <a:cubicBezTo>
                    <a:pt x="24543" y="506853"/>
                    <a:pt x="16047" y="503334"/>
                    <a:pt x="9783" y="497070"/>
                  </a:cubicBezTo>
                  <a:cubicBezTo>
                    <a:pt x="3519" y="490806"/>
                    <a:pt x="0" y="482310"/>
                    <a:pt x="0" y="473452"/>
                  </a:cubicBezTo>
                  <a:lnTo>
                    <a:pt x="0" y="33402"/>
                  </a:lnTo>
                  <a:cubicBezTo>
                    <a:pt x="0" y="24543"/>
                    <a:pt x="3519" y="16047"/>
                    <a:pt x="9783" y="9783"/>
                  </a:cubicBezTo>
                  <a:cubicBezTo>
                    <a:pt x="16047" y="3519"/>
                    <a:pt x="24543" y="0"/>
                    <a:pt x="33402" y="0"/>
                  </a:cubicBezTo>
                  <a:close/>
                </a:path>
              </a:pathLst>
            </a:custGeom>
            <a:solidFill>
              <a:srgbClr val="F9CB35"/>
            </a:solidFill>
          </p:spPr>
        </p:sp>
        <p:sp>
          <p:nvSpPr>
            <p:cNvPr name="TextBox 8" id="8"/>
            <p:cNvSpPr txBox="true"/>
            <p:nvPr/>
          </p:nvSpPr>
          <p:spPr>
            <a:xfrm>
              <a:off x="0" y="-38100"/>
              <a:ext cx="1741469" cy="54495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6891234" y="574116"/>
            <a:ext cx="2793531" cy="909168"/>
          </a:xfrm>
          <a:custGeom>
            <a:avLst/>
            <a:gdLst/>
            <a:ahLst/>
            <a:cxnLst/>
            <a:rect r="r" b="b" t="t" l="l"/>
            <a:pathLst>
              <a:path h="909168" w="2793531">
                <a:moveTo>
                  <a:pt x="0" y="0"/>
                </a:moveTo>
                <a:lnTo>
                  <a:pt x="2793532" y="0"/>
                </a:lnTo>
                <a:lnTo>
                  <a:pt x="2793532" y="909168"/>
                </a:lnTo>
                <a:lnTo>
                  <a:pt x="0" y="9091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396766" y="8052694"/>
            <a:ext cx="2793531" cy="909168"/>
          </a:xfrm>
          <a:custGeom>
            <a:avLst/>
            <a:gdLst/>
            <a:ahLst/>
            <a:cxnLst/>
            <a:rect r="r" b="b" t="t" l="l"/>
            <a:pathLst>
              <a:path h="909168" w="2793531">
                <a:moveTo>
                  <a:pt x="0" y="0"/>
                </a:moveTo>
                <a:lnTo>
                  <a:pt x="2793532" y="0"/>
                </a:lnTo>
                <a:lnTo>
                  <a:pt x="2793532" y="909168"/>
                </a:lnTo>
                <a:lnTo>
                  <a:pt x="0" y="90916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9757692" y="-840397"/>
            <a:ext cx="3071217" cy="1680793"/>
          </a:xfrm>
          <a:custGeom>
            <a:avLst/>
            <a:gdLst/>
            <a:ahLst/>
            <a:cxnLst/>
            <a:rect r="r" b="b" t="t" l="l"/>
            <a:pathLst>
              <a:path h="1680793" w="3071217">
                <a:moveTo>
                  <a:pt x="0" y="0"/>
                </a:moveTo>
                <a:lnTo>
                  <a:pt x="3071217" y="0"/>
                </a:lnTo>
                <a:lnTo>
                  <a:pt x="3071217" y="1680794"/>
                </a:lnTo>
                <a:lnTo>
                  <a:pt x="0" y="168079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959947" y="2084422"/>
            <a:ext cx="8184053" cy="2731910"/>
          </a:xfrm>
          <a:prstGeom prst="rect">
            <a:avLst/>
          </a:prstGeom>
        </p:spPr>
        <p:txBody>
          <a:bodyPr anchor="t" rtlCol="false" tIns="0" lIns="0" bIns="0" rIns="0">
            <a:spAutoFit/>
          </a:bodyPr>
          <a:lstStyle/>
          <a:p>
            <a:pPr algn="l">
              <a:lnSpc>
                <a:spcPts val="9747"/>
              </a:lnSpc>
            </a:pPr>
            <a:r>
              <a:rPr lang="en-US" b="true" sz="8861">
                <a:solidFill>
                  <a:srgbClr val="FFFFFF"/>
                </a:solidFill>
                <a:latin typeface="Cooper Hewitt Bold"/>
                <a:ea typeface="Cooper Hewitt Bold"/>
                <a:cs typeface="Cooper Hewitt Bold"/>
                <a:sym typeface="Cooper Hewitt Bold"/>
              </a:rPr>
              <a:t>PERGERAKAN HARGA SAHAM</a:t>
            </a:r>
          </a:p>
        </p:txBody>
      </p:sp>
      <p:sp>
        <p:nvSpPr>
          <p:cNvPr name="Freeform 13" id="13"/>
          <p:cNvSpPr/>
          <p:nvPr/>
        </p:nvSpPr>
        <p:spPr>
          <a:xfrm flipH="false" flipV="true" rot="0">
            <a:off x="-4062537" y="-565554"/>
            <a:ext cx="6553161" cy="2811902"/>
          </a:xfrm>
          <a:custGeom>
            <a:avLst/>
            <a:gdLst/>
            <a:ahLst/>
            <a:cxnLst/>
            <a:rect r="r" b="b" t="t" l="l"/>
            <a:pathLst>
              <a:path h="2811902" w="6553161">
                <a:moveTo>
                  <a:pt x="0" y="2811901"/>
                </a:moveTo>
                <a:lnTo>
                  <a:pt x="6553161" y="2811901"/>
                </a:lnTo>
                <a:lnTo>
                  <a:pt x="6553161" y="0"/>
                </a:lnTo>
                <a:lnTo>
                  <a:pt x="0" y="0"/>
                </a:lnTo>
                <a:lnTo>
                  <a:pt x="0" y="2811901"/>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7682702" y="6792883"/>
            <a:ext cx="778837" cy="77883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8AD8"/>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7963371" y="6978294"/>
            <a:ext cx="327281" cy="408017"/>
          </a:xfrm>
          <a:custGeom>
            <a:avLst/>
            <a:gdLst/>
            <a:ahLst/>
            <a:cxnLst/>
            <a:rect r="r" b="b" t="t" l="l"/>
            <a:pathLst>
              <a:path h="408017" w="327281">
                <a:moveTo>
                  <a:pt x="0" y="0"/>
                </a:moveTo>
                <a:lnTo>
                  <a:pt x="327281" y="0"/>
                </a:lnTo>
                <a:lnTo>
                  <a:pt x="327281" y="408016"/>
                </a:lnTo>
                <a:lnTo>
                  <a:pt x="0" y="40801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8" id="18"/>
          <p:cNvSpPr txBox="true"/>
          <p:nvPr/>
        </p:nvSpPr>
        <p:spPr>
          <a:xfrm rot="0">
            <a:off x="959947" y="4749657"/>
            <a:ext cx="7501591" cy="577530"/>
          </a:xfrm>
          <a:prstGeom prst="rect">
            <a:avLst/>
          </a:prstGeom>
        </p:spPr>
        <p:txBody>
          <a:bodyPr anchor="t" rtlCol="false" tIns="0" lIns="0" bIns="0" rIns="0">
            <a:spAutoFit/>
          </a:bodyPr>
          <a:lstStyle/>
          <a:p>
            <a:pPr algn="l">
              <a:lnSpc>
                <a:spcPts val="4746"/>
              </a:lnSpc>
              <a:spcBef>
                <a:spcPct val="0"/>
              </a:spcBef>
            </a:pPr>
            <a:r>
              <a:rPr lang="en-US" sz="3390">
                <a:solidFill>
                  <a:srgbClr val="FFFFFF"/>
                </a:solidFill>
                <a:latin typeface="DM Sans"/>
                <a:ea typeface="DM Sans"/>
                <a:cs typeface="DM Sans"/>
                <a:sym typeface="DM Sans"/>
              </a:rPr>
              <a:t>PT Jasa Marga (Persero) Tbk</a:t>
            </a:r>
          </a:p>
        </p:txBody>
      </p:sp>
      <p:sp>
        <p:nvSpPr>
          <p:cNvPr name="TextBox 19" id="19"/>
          <p:cNvSpPr txBox="true"/>
          <p:nvPr/>
        </p:nvSpPr>
        <p:spPr>
          <a:xfrm rot="0">
            <a:off x="1396766" y="6548889"/>
            <a:ext cx="6052411" cy="1276350"/>
          </a:xfrm>
          <a:prstGeom prst="rect">
            <a:avLst/>
          </a:prstGeom>
        </p:spPr>
        <p:txBody>
          <a:bodyPr anchor="t" rtlCol="false" tIns="0" lIns="0" bIns="0" rIns="0">
            <a:spAutoFit/>
          </a:bodyPr>
          <a:lstStyle/>
          <a:p>
            <a:pPr algn="just">
              <a:lnSpc>
                <a:spcPts val="3388"/>
              </a:lnSpc>
            </a:pPr>
            <a:r>
              <a:rPr lang="en-US" sz="2823">
                <a:solidFill>
                  <a:srgbClr val="2F153B"/>
                </a:solidFill>
                <a:latin typeface="DM Sans"/>
                <a:ea typeface="DM Sans"/>
                <a:cs typeface="DM Sans"/>
                <a:sym typeface="DM Sans"/>
              </a:rPr>
              <a:t>Simulasi Pergerakan Harga Saham JSMR Dengan Model Binomial Dalam Bidang Infrastruktur dan Teknologi</a:t>
            </a:r>
          </a:p>
        </p:txBody>
      </p:sp>
      <p:sp>
        <p:nvSpPr>
          <p:cNvPr name="Freeform 20" id="20"/>
          <p:cNvSpPr/>
          <p:nvPr/>
        </p:nvSpPr>
        <p:spPr>
          <a:xfrm flipH="false" flipV="false" rot="0">
            <a:off x="85404" y="134924"/>
            <a:ext cx="668336" cy="878384"/>
          </a:xfrm>
          <a:custGeom>
            <a:avLst/>
            <a:gdLst/>
            <a:ahLst/>
            <a:cxnLst/>
            <a:rect r="r" b="b" t="t" l="l"/>
            <a:pathLst>
              <a:path h="878384" w="668336">
                <a:moveTo>
                  <a:pt x="0" y="0"/>
                </a:moveTo>
                <a:lnTo>
                  <a:pt x="668337" y="0"/>
                </a:lnTo>
                <a:lnTo>
                  <a:pt x="668337" y="878384"/>
                </a:lnTo>
                <a:lnTo>
                  <a:pt x="0" y="878384"/>
                </a:lnTo>
                <a:lnTo>
                  <a:pt x="0" y="0"/>
                </a:lnTo>
                <a:close/>
              </a:path>
            </a:pathLst>
          </a:custGeom>
          <a:blipFill>
            <a:blip r:embed="rId1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0">
            <a:off x="15228529" y="-659832"/>
            <a:ext cx="9165801" cy="3932962"/>
          </a:xfrm>
          <a:custGeom>
            <a:avLst/>
            <a:gdLst/>
            <a:ahLst/>
            <a:cxnLst/>
            <a:rect r="r" b="b" t="t" l="l"/>
            <a:pathLst>
              <a:path h="3932962" w="9165801">
                <a:moveTo>
                  <a:pt x="9165801" y="3932962"/>
                </a:moveTo>
                <a:lnTo>
                  <a:pt x="0" y="3932962"/>
                </a:lnTo>
                <a:lnTo>
                  <a:pt x="0" y="0"/>
                </a:lnTo>
                <a:lnTo>
                  <a:pt x="9165801" y="0"/>
                </a:lnTo>
                <a:lnTo>
                  <a:pt x="9165801"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120703" y="3730433"/>
            <a:ext cx="2793531" cy="909168"/>
          </a:xfrm>
          <a:custGeom>
            <a:avLst/>
            <a:gdLst/>
            <a:ahLst/>
            <a:cxnLst/>
            <a:rect r="r" b="b" t="t" l="l"/>
            <a:pathLst>
              <a:path h="909168" w="2793531">
                <a:moveTo>
                  <a:pt x="0" y="0"/>
                </a:moveTo>
                <a:lnTo>
                  <a:pt x="2793531" y="0"/>
                </a:lnTo>
                <a:lnTo>
                  <a:pt x="2793531" y="909168"/>
                </a:lnTo>
                <a:lnTo>
                  <a:pt x="0" y="9091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4506555" y="5253556"/>
            <a:ext cx="6606584" cy="772633"/>
            <a:chOff x="0" y="0"/>
            <a:chExt cx="1529884" cy="178918"/>
          </a:xfrm>
        </p:grpSpPr>
        <p:sp>
          <p:nvSpPr>
            <p:cNvPr name="Freeform 5" id="5"/>
            <p:cNvSpPr/>
            <p:nvPr/>
          </p:nvSpPr>
          <p:spPr>
            <a:xfrm flipH="false" flipV="false" rot="0">
              <a:off x="0" y="0"/>
              <a:ext cx="1529884" cy="178918"/>
            </a:xfrm>
            <a:custGeom>
              <a:avLst/>
              <a:gdLst/>
              <a:ahLst/>
              <a:cxnLst/>
              <a:rect r="r" b="b" t="t" l="l"/>
              <a:pathLst>
                <a:path h="178918" w="1529884">
                  <a:moveTo>
                    <a:pt x="29296" y="0"/>
                  </a:moveTo>
                  <a:lnTo>
                    <a:pt x="1500588" y="0"/>
                  </a:lnTo>
                  <a:cubicBezTo>
                    <a:pt x="1516768" y="0"/>
                    <a:pt x="1529884" y="13116"/>
                    <a:pt x="1529884" y="29296"/>
                  </a:cubicBezTo>
                  <a:lnTo>
                    <a:pt x="1529884" y="149622"/>
                  </a:lnTo>
                  <a:cubicBezTo>
                    <a:pt x="1529884" y="165802"/>
                    <a:pt x="1516768" y="178918"/>
                    <a:pt x="1500588" y="178918"/>
                  </a:cubicBezTo>
                  <a:lnTo>
                    <a:pt x="29296" y="178918"/>
                  </a:lnTo>
                  <a:cubicBezTo>
                    <a:pt x="13116" y="178918"/>
                    <a:pt x="0" y="165802"/>
                    <a:pt x="0" y="149622"/>
                  </a:cubicBezTo>
                  <a:lnTo>
                    <a:pt x="0" y="29296"/>
                  </a:lnTo>
                  <a:cubicBezTo>
                    <a:pt x="0" y="13116"/>
                    <a:pt x="13116" y="0"/>
                    <a:pt x="29296" y="0"/>
                  </a:cubicBezTo>
                  <a:close/>
                </a:path>
              </a:pathLst>
            </a:custGeom>
            <a:solidFill>
              <a:srgbClr val="E7BAFA"/>
            </a:solidFill>
          </p:spPr>
        </p:sp>
        <p:sp>
          <p:nvSpPr>
            <p:cNvPr name="TextBox 6" id="6"/>
            <p:cNvSpPr txBox="true"/>
            <p:nvPr/>
          </p:nvSpPr>
          <p:spPr>
            <a:xfrm>
              <a:off x="0" y="-38100"/>
              <a:ext cx="1529884" cy="217018"/>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4506555" y="4040799"/>
            <a:ext cx="6606584" cy="772633"/>
            <a:chOff x="0" y="0"/>
            <a:chExt cx="1529884" cy="178918"/>
          </a:xfrm>
        </p:grpSpPr>
        <p:sp>
          <p:nvSpPr>
            <p:cNvPr name="Freeform 8" id="8"/>
            <p:cNvSpPr/>
            <p:nvPr/>
          </p:nvSpPr>
          <p:spPr>
            <a:xfrm flipH="false" flipV="false" rot="0">
              <a:off x="0" y="0"/>
              <a:ext cx="1529884" cy="178918"/>
            </a:xfrm>
            <a:custGeom>
              <a:avLst/>
              <a:gdLst/>
              <a:ahLst/>
              <a:cxnLst/>
              <a:rect r="r" b="b" t="t" l="l"/>
              <a:pathLst>
                <a:path h="178918" w="1529884">
                  <a:moveTo>
                    <a:pt x="29296" y="0"/>
                  </a:moveTo>
                  <a:lnTo>
                    <a:pt x="1500588" y="0"/>
                  </a:lnTo>
                  <a:cubicBezTo>
                    <a:pt x="1516768" y="0"/>
                    <a:pt x="1529884" y="13116"/>
                    <a:pt x="1529884" y="29296"/>
                  </a:cubicBezTo>
                  <a:lnTo>
                    <a:pt x="1529884" y="149622"/>
                  </a:lnTo>
                  <a:cubicBezTo>
                    <a:pt x="1529884" y="165802"/>
                    <a:pt x="1516768" y="178918"/>
                    <a:pt x="1500588" y="178918"/>
                  </a:cubicBezTo>
                  <a:lnTo>
                    <a:pt x="29296" y="178918"/>
                  </a:lnTo>
                  <a:cubicBezTo>
                    <a:pt x="13116" y="178918"/>
                    <a:pt x="0" y="165802"/>
                    <a:pt x="0" y="149622"/>
                  </a:cubicBezTo>
                  <a:lnTo>
                    <a:pt x="0" y="29296"/>
                  </a:lnTo>
                  <a:cubicBezTo>
                    <a:pt x="0" y="13116"/>
                    <a:pt x="13116" y="0"/>
                    <a:pt x="29296" y="0"/>
                  </a:cubicBezTo>
                  <a:close/>
                </a:path>
              </a:pathLst>
            </a:custGeom>
            <a:solidFill>
              <a:srgbClr val="E7BAFA"/>
            </a:solidFill>
          </p:spPr>
        </p:sp>
        <p:sp>
          <p:nvSpPr>
            <p:cNvPr name="TextBox 9" id="9"/>
            <p:cNvSpPr txBox="true"/>
            <p:nvPr/>
          </p:nvSpPr>
          <p:spPr>
            <a:xfrm>
              <a:off x="0" y="-38100"/>
              <a:ext cx="1529884" cy="21701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4506555" y="2832132"/>
            <a:ext cx="6606584" cy="772633"/>
            <a:chOff x="0" y="0"/>
            <a:chExt cx="1529884" cy="178918"/>
          </a:xfrm>
        </p:grpSpPr>
        <p:sp>
          <p:nvSpPr>
            <p:cNvPr name="Freeform 11" id="11"/>
            <p:cNvSpPr/>
            <p:nvPr/>
          </p:nvSpPr>
          <p:spPr>
            <a:xfrm flipH="false" flipV="false" rot="0">
              <a:off x="0" y="0"/>
              <a:ext cx="1529884" cy="178918"/>
            </a:xfrm>
            <a:custGeom>
              <a:avLst/>
              <a:gdLst/>
              <a:ahLst/>
              <a:cxnLst/>
              <a:rect r="r" b="b" t="t" l="l"/>
              <a:pathLst>
                <a:path h="178918" w="1529884">
                  <a:moveTo>
                    <a:pt x="29296" y="0"/>
                  </a:moveTo>
                  <a:lnTo>
                    <a:pt x="1500588" y="0"/>
                  </a:lnTo>
                  <a:cubicBezTo>
                    <a:pt x="1516768" y="0"/>
                    <a:pt x="1529884" y="13116"/>
                    <a:pt x="1529884" y="29296"/>
                  </a:cubicBezTo>
                  <a:lnTo>
                    <a:pt x="1529884" y="149622"/>
                  </a:lnTo>
                  <a:cubicBezTo>
                    <a:pt x="1529884" y="165802"/>
                    <a:pt x="1516768" y="178918"/>
                    <a:pt x="1500588" y="178918"/>
                  </a:cubicBezTo>
                  <a:lnTo>
                    <a:pt x="29296" y="178918"/>
                  </a:lnTo>
                  <a:cubicBezTo>
                    <a:pt x="13116" y="178918"/>
                    <a:pt x="0" y="165802"/>
                    <a:pt x="0" y="149622"/>
                  </a:cubicBezTo>
                  <a:lnTo>
                    <a:pt x="0" y="29296"/>
                  </a:lnTo>
                  <a:cubicBezTo>
                    <a:pt x="0" y="13116"/>
                    <a:pt x="13116" y="0"/>
                    <a:pt x="29296" y="0"/>
                  </a:cubicBezTo>
                  <a:close/>
                </a:path>
              </a:pathLst>
            </a:custGeom>
            <a:solidFill>
              <a:srgbClr val="E7BAFA"/>
            </a:solidFill>
          </p:spPr>
        </p:sp>
        <p:sp>
          <p:nvSpPr>
            <p:cNvPr name="TextBox 12" id="12"/>
            <p:cNvSpPr txBox="true"/>
            <p:nvPr/>
          </p:nvSpPr>
          <p:spPr>
            <a:xfrm>
              <a:off x="0" y="-38100"/>
              <a:ext cx="1529884" cy="21701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396093" y="2832132"/>
            <a:ext cx="719248" cy="71924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3396093" y="4014107"/>
            <a:ext cx="719248" cy="71924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3396093" y="5253556"/>
            <a:ext cx="719248" cy="71924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511167" y="955767"/>
            <a:ext cx="14929121" cy="1111257"/>
          </a:xfrm>
          <a:prstGeom prst="rect">
            <a:avLst/>
          </a:prstGeom>
        </p:spPr>
        <p:txBody>
          <a:bodyPr anchor="t" rtlCol="false" tIns="0" lIns="0" bIns="0" rIns="0">
            <a:spAutoFit/>
          </a:bodyPr>
          <a:lstStyle/>
          <a:p>
            <a:pPr algn="ctr">
              <a:lnSpc>
                <a:spcPts val="7150"/>
              </a:lnSpc>
            </a:pPr>
            <a:r>
              <a:rPr lang="en-US" b="true" sz="6500">
                <a:solidFill>
                  <a:srgbClr val="FFFFFF"/>
                </a:solidFill>
                <a:latin typeface="Cooper Hewitt Bold"/>
                <a:ea typeface="Cooper Hewitt Bold"/>
                <a:cs typeface="Cooper Hewitt Bold"/>
                <a:sym typeface="Cooper Hewitt Bold"/>
              </a:rPr>
              <a:t>ANGGOTA KELOMPOK 1</a:t>
            </a:r>
          </a:p>
        </p:txBody>
      </p:sp>
      <p:sp>
        <p:nvSpPr>
          <p:cNvPr name="TextBox 23" id="23"/>
          <p:cNvSpPr txBox="true"/>
          <p:nvPr/>
        </p:nvSpPr>
        <p:spPr>
          <a:xfrm rot="0">
            <a:off x="3479674" y="2897549"/>
            <a:ext cx="552086" cy="586738"/>
          </a:xfrm>
          <a:prstGeom prst="rect">
            <a:avLst/>
          </a:prstGeom>
        </p:spPr>
        <p:txBody>
          <a:bodyPr anchor="t" rtlCol="false" tIns="0" lIns="0" bIns="0" rIns="0">
            <a:spAutoFit/>
          </a:bodyPr>
          <a:lstStyle/>
          <a:p>
            <a:pPr algn="ctr">
              <a:lnSpc>
                <a:spcPts val="3759"/>
              </a:lnSpc>
            </a:pPr>
            <a:r>
              <a:rPr lang="en-US" b="true" sz="3417">
                <a:solidFill>
                  <a:srgbClr val="2F153B"/>
                </a:solidFill>
                <a:latin typeface="Cooper Hewitt Bold"/>
                <a:ea typeface="Cooper Hewitt Bold"/>
                <a:cs typeface="Cooper Hewitt Bold"/>
                <a:sym typeface="Cooper Hewitt Bold"/>
              </a:rPr>
              <a:t>1</a:t>
            </a:r>
          </a:p>
        </p:txBody>
      </p:sp>
      <p:sp>
        <p:nvSpPr>
          <p:cNvPr name="TextBox 24" id="24"/>
          <p:cNvSpPr txBox="true"/>
          <p:nvPr/>
        </p:nvSpPr>
        <p:spPr>
          <a:xfrm rot="0">
            <a:off x="3479674" y="4086594"/>
            <a:ext cx="552086" cy="586738"/>
          </a:xfrm>
          <a:prstGeom prst="rect">
            <a:avLst/>
          </a:prstGeom>
        </p:spPr>
        <p:txBody>
          <a:bodyPr anchor="t" rtlCol="false" tIns="0" lIns="0" bIns="0" rIns="0">
            <a:spAutoFit/>
          </a:bodyPr>
          <a:lstStyle/>
          <a:p>
            <a:pPr algn="ctr">
              <a:lnSpc>
                <a:spcPts val="3759"/>
              </a:lnSpc>
            </a:pPr>
            <a:r>
              <a:rPr lang="en-US" b="true" sz="3417">
                <a:solidFill>
                  <a:srgbClr val="2F153B"/>
                </a:solidFill>
                <a:latin typeface="Cooper Hewitt Bold"/>
                <a:ea typeface="Cooper Hewitt Bold"/>
                <a:cs typeface="Cooper Hewitt Bold"/>
                <a:sym typeface="Cooper Hewitt Bold"/>
              </a:rPr>
              <a:t>2</a:t>
            </a:r>
          </a:p>
        </p:txBody>
      </p:sp>
      <p:sp>
        <p:nvSpPr>
          <p:cNvPr name="TextBox 25" id="25"/>
          <p:cNvSpPr txBox="true"/>
          <p:nvPr/>
        </p:nvSpPr>
        <p:spPr>
          <a:xfrm rot="0">
            <a:off x="3479674" y="5318972"/>
            <a:ext cx="552086" cy="586738"/>
          </a:xfrm>
          <a:prstGeom prst="rect">
            <a:avLst/>
          </a:prstGeom>
        </p:spPr>
        <p:txBody>
          <a:bodyPr anchor="t" rtlCol="false" tIns="0" lIns="0" bIns="0" rIns="0">
            <a:spAutoFit/>
          </a:bodyPr>
          <a:lstStyle/>
          <a:p>
            <a:pPr algn="ctr">
              <a:lnSpc>
                <a:spcPts val="3759"/>
              </a:lnSpc>
            </a:pPr>
            <a:r>
              <a:rPr lang="en-US" b="true" sz="3417">
                <a:solidFill>
                  <a:srgbClr val="2F153B"/>
                </a:solidFill>
                <a:latin typeface="Cooper Hewitt Bold"/>
                <a:ea typeface="Cooper Hewitt Bold"/>
                <a:cs typeface="Cooper Hewitt Bold"/>
                <a:sym typeface="Cooper Hewitt Bold"/>
              </a:rPr>
              <a:t>3</a:t>
            </a:r>
          </a:p>
        </p:txBody>
      </p:sp>
      <p:sp>
        <p:nvSpPr>
          <p:cNvPr name="TextBox 26" id="26"/>
          <p:cNvSpPr txBox="true"/>
          <p:nvPr/>
        </p:nvSpPr>
        <p:spPr>
          <a:xfrm rot="0">
            <a:off x="4864050" y="2981492"/>
            <a:ext cx="6361373"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Kanaya Putri Prabasa</a:t>
            </a:r>
          </a:p>
        </p:txBody>
      </p:sp>
      <p:sp>
        <p:nvSpPr>
          <p:cNvPr name="TextBox 27" id="27"/>
          <p:cNvSpPr txBox="true"/>
          <p:nvPr/>
        </p:nvSpPr>
        <p:spPr>
          <a:xfrm rot="0">
            <a:off x="4864050" y="4187938"/>
            <a:ext cx="5891592"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Ivana Gabby Lauretta</a:t>
            </a:r>
          </a:p>
        </p:txBody>
      </p:sp>
      <p:sp>
        <p:nvSpPr>
          <p:cNvPr name="TextBox 28" id="28"/>
          <p:cNvSpPr txBox="true"/>
          <p:nvPr/>
        </p:nvSpPr>
        <p:spPr>
          <a:xfrm rot="0">
            <a:off x="4864050" y="5394383"/>
            <a:ext cx="6361373"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Izam Rosiawan</a:t>
            </a:r>
          </a:p>
        </p:txBody>
      </p:sp>
      <p:sp>
        <p:nvSpPr>
          <p:cNvPr name="Freeform 29" id="29"/>
          <p:cNvSpPr/>
          <p:nvPr/>
        </p:nvSpPr>
        <p:spPr>
          <a:xfrm flipH="false" flipV="false" rot="0">
            <a:off x="17624084" y="6466655"/>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0" id="30"/>
          <p:cNvGrpSpPr/>
          <p:nvPr/>
        </p:nvGrpSpPr>
        <p:grpSpPr>
          <a:xfrm rot="0">
            <a:off x="4506555" y="7795496"/>
            <a:ext cx="6496176" cy="772633"/>
            <a:chOff x="0" y="0"/>
            <a:chExt cx="1504317" cy="178918"/>
          </a:xfrm>
        </p:grpSpPr>
        <p:sp>
          <p:nvSpPr>
            <p:cNvPr name="Freeform 31" id="31"/>
            <p:cNvSpPr/>
            <p:nvPr/>
          </p:nvSpPr>
          <p:spPr>
            <a:xfrm flipH="false" flipV="false" rot="0">
              <a:off x="0" y="0"/>
              <a:ext cx="1504317" cy="178918"/>
            </a:xfrm>
            <a:custGeom>
              <a:avLst/>
              <a:gdLst/>
              <a:ahLst/>
              <a:cxnLst/>
              <a:rect r="r" b="b" t="t" l="l"/>
              <a:pathLst>
                <a:path h="178918" w="1504317">
                  <a:moveTo>
                    <a:pt x="29794" y="0"/>
                  </a:moveTo>
                  <a:lnTo>
                    <a:pt x="1474523" y="0"/>
                  </a:lnTo>
                  <a:cubicBezTo>
                    <a:pt x="1490978" y="0"/>
                    <a:pt x="1504317" y="13339"/>
                    <a:pt x="1504317" y="29794"/>
                  </a:cubicBezTo>
                  <a:lnTo>
                    <a:pt x="1504317" y="149124"/>
                  </a:lnTo>
                  <a:cubicBezTo>
                    <a:pt x="1504317" y="157026"/>
                    <a:pt x="1501178" y="164604"/>
                    <a:pt x="1495591" y="170192"/>
                  </a:cubicBezTo>
                  <a:cubicBezTo>
                    <a:pt x="1490003" y="175779"/>
                    <a:pt x="1482425" y="178918"/>
                    <a:pt x="1474523" y="178918"/>
                  </a:cubicBezTo>
                  <a:lnTo>
                    <a:pt x="29794" y="178918"/>
                  </a:lnTo>
                  <a:cubicBezTo>
                    <a:pt x="21892" y="178918"/>
                    <a:pt x="14314" y="175779"/>
                    <a:pt x="8727" y="170192"/>
                  </a:cubicBezTo>
                  <a:cubicBezTo>
                    <a:pt x="3139" y="164604"/>
                    <a:pt x="0" y="157026"/>
                    <a:pt x="0" y="149124"/>
                  </a:cubicBezTo>
                  <a:lnTo>
                    <a:pt x="0" y="29794"/>
                  </a:lnTo>
                  <a:cubicBezTo>
                    <a:pt x="0" y="21892"/>
                    <a:pt x="3139" y="14314"/>
                    <a:pt x="8727" y="8727"/>
                  </a:cubicBezTo>
                  <a:cubicBezTo>
                    <a:pt x="14314" y="3139"/>
                    <a:pt x="21892" y="0"/>
                    <a:pt x="29794" y="0"/>
                  </a:cubicBezTo>
                  <a:close/>
                </a:path>
              </a:pathLst>
            </a:custGeom>
            <a:solidFill>
              <a:srgbClr val="E7BAFA"/>
            </a:solidFill>
          </p:spPr>
        </p:sp>
        <p:sp>
          <p:nvSpPr>
            <p:cNvPr name="TextBox 32" id="32"/>
            <p:cNvSpPr txBox="true"/>
            <p:nvPr/>
          </p:nvSpPr>
          <p:spPr>
            <a:xfrm>
              <a:off x="0" y="-38100"/>
              <a:ext cx="1504317" cy="217018"/>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4506555" y="6582740"/>
            <a:ext cx="6496176" cy="772633"/>
            <a:chOff x="0" y="0"/>
            <a:chExt cx="1504317" cy="178918"/>
          </a:xfrm>
        </p:grpSpPr>
        <p:sp>
          <p:nvSpPr>
            <p:cNvPr name="Freeform 34" id="34"/>
            <p:cNvSpPr/>
            <p:nvPr/>
          </p:nvSpPr>
          <p:spPr>
            <a:xfrm flipH="false" flipV="false" rot="0">
              <a:off x="0" y="0"/>
              <a:ext cx="1504317" cy="178918"/>
            </a:xfrm>
            <a:custGeom>
              <a:avLst/>
              <a:gdLst/>
              <a:ahLst/>
              <a:cxnLst/>
              <a:rect r="r" b="b" t="t" l="l"/>
              <a:pathLst>
                <a:path h="178918" w="1504317">
                  <a:moveTo>
                    <a:pt x="29794" y="0"/>
                  </a:moveTo>
                  <a:lnTo>
                    <a:pt x="1474523" y="0"/>
                  </a:lnTo>
                  <a:cubicBezTo>
                    <a:pt x="1490978" y="0"/>
                    <a:pt x="1504317" y="13339"/>
                    <a:pt x="1504317" y="29794"/>
                  </a:cubicBezTo>
                  <a:lnTo>
                    <a:pt x="1504317" y="149124"/>
                  </a:lnTo>
                  <a:cubicBezTo>
                    <a:pt x="1504317" y="157026"/>
                    <a:pt x="1501178" y="164604"/>
                    <a:pt x="1495591" y="170192"/>
                  </a:cubicBezTo>
                  <a:cubicBezTo>
                    <a:pt x="1490003" y="175779"/>
                    <a:pt x="1482425" y="178918"/>
                    <a:pt x="1474523" y="178918"/>
                  </a:cubicBezTo>
                  <a:lnTo>
                    <a:pt x="29794" y="178918"/>
                  </a:lnTo>
                  <a:cubicBezTo>
                    <a:pt x="21892" y="178918"/>
                    <a:pt x="14314" y="175779"/>
                    <a:pt x="8727" y="170192"/>
                  </a:cubicBezTo>
                  <a:cubicBezTo>
                    <a:pt x="3139" y="164604"/>
                    <a:pt x="0" y="157026"/>
                    <a:pt x="0" y="149124"/>
                  </a:cubicBezTo>
                  <a:lnTo>
                    <a:pt x="0" y="29794"/>
                  </a:lnTo>
                  <a:cubicBezTo>
                    <a:pt x="0" y="21892"/>
                    <a:pt x="3139" y="14314"/>
                    <a:pt x="8727" y="8727"/>
                  </a:cubicBezTo>
                  <a:cubicBezTo>
                    <a:pt x="14314" y="3139"/>
                    <a:pt x="21892" y="0"/>
                    <a:pt x="29794" y="0"/>
                  </a:cubicBezTo>
                  <a:close/>
                </a:path>
              </a:pathLst>
            </a:custGeom>
            <a:solidFill>
              <a:srgbClr val="E7BAFA"/>
            </a:solidFill>
          </p:spPr>
        </p:sp>
        <p:sp>
          <p:nvSpPr>
            <p:cNvPr name="TextBox 35" id="35"/>
            <p:cNvSpPr txBox="true"/>
            <p:nvPr/>
          </p:nvSpPr>
          <p:spPr>
            <a:xfrm>
              <a:off x="0" y="-38100"/>
              <a:ext cx="1504317" cy="217018"/>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3396093" y="6553828"/>
            <a:ext cx="719248" cy="71924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3396093" y="7793277"/>
            <a:ext cx="719248" cy="7192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3479674" y="6626316"/>
            <a:ext cx="552086" cy="586738"/>
          </a:xfrm>
          <a:prstGeom prst="rect">
            <a:avLst/>
          </a:prstGeom>
        </p:spPr>
        <p:txBody>
          <a:bodyPr anchor="t" rtlCol="false" tIns="0" lIns="0" bIns="0" rIns="0">
            <a:spAutoFit/>
          </a:bodyPr>
          <a:lstStyle/>
          <a:p>
            <a:pPr algn="ctr">
              <a:lnSpc>
                <a:spcPts val="3759"/>
              </a:lnSpc>
            </a:pPr>
            <a:r>
              <a:rPr lang="en-US" b="true" sz="3417">
                <a:solidFill>
                  <a:srgbClr val="2F153B"/>
                </a:solidFill>
                <a:latin typeface="Cooper Hewitt Bold"/>
                <a:ea typeface="Cooper Hewitt Bold"/>
                <a:cs typeface="Cooper Hewitt Bold"/>
                <a:sym typeface="Cooper Hewitt Bold"/>
              </a:rPr>
              <a:t>4</a:t>
            </a:r>
          </a:p>
        </p:txBody>
      </p:sp>
      <p:sp>
        <p:nvSpPr>
          <p:cNvPr name="TextBox 43" id="43"/>
          <p:cNvSpPr txBox="true"/>
          <p:nvPr/>
        </p:nvSpPr>
        <p:spPr>
          <a:xfrm rot="0">
            <a:off x="3479674" y="7858694"/>
            <a:ext cx="552086" cy="586738"/>
          </a:xfrm>
          <a:prstGeom prst="rect">
            <a:avLst/>
          </a:prstGeom>
        </p:spPr>
        <p:txBody>
          <a:bodyPr anchor="t" rtlCol="false" tIns="0" lIns="0" bIns="0" rIns="0">
            <a:spAutoFit/>
          </a:bodyPr>
          <a:lstStyle/>
          <a:p>
            <a:pPr algn="ctr">
              <a:lnSpc>
                <a:spcPts val="3759"/>
              </a:lnSpc>
            </a:pPr>
            <a:r>
              <a:rPr lang="en-US" b="true" sz="3417">
                <a:solidFill>
                  <a:srgbClr val="2F153B"/>
                </a:solidFill>
                <a:latin typeface="Cooper Hewitt Bold"/>
                <a:ea typeface="Cooper Hewitt Bold"/>
                <a:cs typeface="Cooper Hewitt Bold"/>
                <a:sym typeface="Cooper Hewitt Bold"/>
              </a:rPr>
              <a:t>5</a:t>
            </a:r>
          </a:p>
        </p:txBody>
      </p:sp>
      <p:sp>
        <p:nvSpPr>
          <p:cNvPr name="TextBox 44" id="44"/>
          <p:cNvSpPr txBox="true"/>
          <p:nvPr/>
        </p:nvSpPr>
        <p:spPr>
          <a:xfrm rot="0">
            <a:off x="4833484" y="6729878"/>
            <a:ext cx="5817725"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Muhammad Nabil Fahruddin</a:t>
            </a:r>
          </a:p>
        </p:txBody>
      </p:sp>
      <p:sp>
        <p:nvSpPr>
          <p:cNvPr name="TextBox 45" id="45"/>
          <p:cNvSpPr txBox="true"/>
          <p:nvPr/>
        </p:nvSpPr>
        <p:spPr>
          <a:xfrm rot="0">
            <a:off x="4831523" y="7936324"/>
            <a:ext cx="6281616"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Faza Nur Aulia Suraya</a:t>
            </a:r>
          </a:p>
        </p:txBody>
      </p:sp>
      <p:grpSp>
        <p:nvGrpSpPr>
          <p:cNvPr name="Group 46" id="46"/>
          <p:cNvGrpSpPr/>
          <p:nvPr/>
        </p:nvGrpSpPr>
        <p:grpSpPr>
          <a:xfrm rot="0">
            <a:off x="11645619" y="5253556"/>
            <a:ext cx="3151915" cy="772633"/>
            <a:chOff x="0" y="0"/>
            <a:chExt cx="729888" cy="178918"/>
          </a:xfrm>
        </p:grpSpPr>
        <p:sp>
          <p:nvSpPr>
            <p:cNvPr name="Freeform 47" id="47"/>
            <p:cNvSpPr/>
            <p:nvPr/>
          </p:nvSpPr>
          <p:spPr>
            <a:xfrm flipH="false" flipV="false" rot="0">
              <a:off x="0" y="0"/>
              <a:ext cx="729888" cy="178918"/>
            </a:xfrm>
            <a:custGeom>
              <a:avLst/>
              <a:gdLst/>
              <a:ahLst/>
              <a:cxnLst/>
              <a:rect r="r" b="b" t="t" l="l"/>
              <a:pathLst>
                <a:path h="178918" w="729888">
                  <a:moveTo>
                    <a:pt x="61406" y="0"/>
                  </a:moveTo>
                  <a:lnTo>
                    <a:pt x="668481" y="0"/>
                  </a:lnTo>
                  <a:cubicBezTo>
                    <a:pt x="684767" y="0"/>
                    <a:pt x="700386" y="6470"/>
                    <a:pt x="711902" y="17986"/>
                  </a:cubicBezTo>
                  <a:cubicBezTo>
                    <a:pt x="723418" y="29501"/>
                    <a:pt x="729888" y="45120"/>
                    <a:pt x="729888" y="61406"/>
                  </a:cubicBezTo>
                  <a:lnTo>
                    <a:pt x="729888" y="117512"/>
                  </a:lnTo>
                  <a:cubicBezTo>
                    <a:pt x="729888" y="151426"/>
                    <a:pt x="702395" y="178918"/>
                    <a:pt x="668481" y="178918"/>
                  </a:cubicBezTo>
                  <a:lnTo>
                    <a:pt x="61406" y="178918"/>
                  </a:lnTo>
                  <a:cubicBezTo>
                    <a:pt x="27493" y="178918"/>
                    <a:pt x="0" y="151426"/>
                    <a:pt x="0" y="117512"/>
                  </a:cubicBezTo>
                  <a:lnTo>
                    <a:pt x="0" y="61406"/>
                  </a:lnTo>
                  <a:cubicBezTo>
                    <a:pt x="0" y="27493"/>
                    <a:pt x="27493" y="0"/>
                    <a:pt x="61406" y="0"/>
                  </a:cubicBezTo>
                  <a:close/>
                </a:path>
              </a:pathLst>
            </a:custGeom>
            <a:solidFill>
              <a:srgbClr val="E7BAFA"/>
            </a:solidFill>
          </p:spPr>
        </p:sp>
        <p:sp>
          <p:nvSpPr>
            <p:cNvPr name="TextBox 48" id="48"/>
            <p:cNvSpPr txBox="true"/>
            <p:nvPr/>
          </p:nvSpPr>
          <p:spPr>
            <a:xfrm>
              <a:off x="0" y="-38100"/>
              <a:ext cx="729888" cy="217018"/>
            </a:xfrm>
            <a:prstGeom prst="rect">
              <a:avLst/>
            </a:prstGeom>
          </p:spPr>
          <p:txBody>
            <a:bodyPr anchor="ctr" rtlCol="false" tIns="50800" lIns="50800" bIns="50800" rIns="50800"/>
            <a:lstStyle/>
            <a:p>
              <a:pPr algn="ctr">
                <a:lnSpc>
                  <a:spcPts val="2659"/>
                </a:lnSpc>
              </a:pPr>
            </a:p>
          </p:txBody>
        </p:sp>
      </p:grpSp>
      <p:grpSp>
        <p:nvGrpSpPr>
          <p:cNvPr name="Group 49" id="49"/>
          <p:cNvGrpSpPr/>
          <p:nvPr/>
        </p:nvGrpSpPr>
        <p:grpSpPr>
          <a:xfrm rot="0">
            <a:off x="11645619" y="4040799"/>
            <a:ext cx="3151915" cy="772633"/>
            <a:chOff x="0" y="0"/>
            <a:chExt cx="729888" cy="178918"/>
          </a:xfrm>
        </p:grpSpPr>
        <p:sp>
          <p:nvSpPr>
            <p:cNvPr name="Freeform 50" id="50"/>
            <p:cNvSpPr/>
            <p:nvPr/>
          </p:nvSpPr>
          <p:spPr>
            <a:xfrm flipH="false" flipV="false" rot="0">
              <a:off x="0" y="0"/>
              <a:ext cx="729888" cy="178918"/>
            </a:xfrm>
            <a:custGeom>
              <a:avLst/>
              <a:gdLst/>
              <a:ahLst/>
              <a:cxnLst/>
              <a:rect r="r" b="b" t="t" l="l"/>
              <a:pathLst>
                <a:path h="178918" w="729888">
                  <a:moveTo>
                    <a:pt x="61406" y="0"/>
                  </a:moveTo>
                  <a:lnTo>
                    <a:pt x="668481" y="0"/>
                  </a:lnTo>
                  <a:cubicBezTo>
                    <a:pt x="684767" y="0"/>
                    <a:pt x="700386" y="6470"/>
                    <a:pt x="711902" y="17986"/>
                  </a:cubicBezTo>
                  <a:cubicBezTo>
                    <a:pt x="723418" y="29501"/>
                    <a:pt x="729888" y="45120"/>
                    <a:pt x="729888" y="61406"/>
                  </a:cubicBezTo>
                  <a:lnTo>
                    <a:pt x="729888" y="117512"/>
                  </a:lnTo>
                  <a:cubicBezTo>
                    <a:pt x="729888" y="151426"/>
                    <a:pt x="702395" y="178918"/>
                    <a:pt x="668481" y="178918"/>
                  </a:cubicBezTo>
                  <a:lnTo>
                    <a:pt x="61406" y="178918"/>
                  </a:lnTo>
                  <a:cubicBezTo>
                    <a:pt x="27493" y="178918"/>
                    <a:pt x="0" y="151426"/>
                    <a:pt x="0" y="117512"/>
                  </a:cubicBezTo>
                  <a:lnTo>
                    <a:pt x="0" y="61406"/>
                  </a:lnTo>
                  <a:cubicBezTo>
                    <a:pt x="0" y="27493"/>
                    <a:pt x="27493" y="0"/>
                    <a:pt x="61406" y="0"/>
                  </a:cubicBezTo>
                  <a:close/>
                </a:path>
              </a:pathLst>
            </a:custGeom>
            <a:solidFill>
              <a:srgbClr val="E7BAFA"/>
            </a:solidFill>
          </p:spPr>
        </p:sp>
        <p:sp>
          <p:nvSpPr>
            <p:cNvPr name="TextBox 51" id="51"/>
            <p:cNvSpPr txBox="true"/>
            <p:nvPr/>
          </p:nvSpPr>
          <p:spPr>
            <a:xfrm>
              <a:off x="0" y="-38100"/>
              <a:ext cx="729888" cy="217018"/>
            </a:xfrm>
            <a:prstGeom prst="rect">
              <a:avLst/>
            </a:prstGeom>
          </p:spPr>
          <p:txBody>
            <a:bodyPr anchor="ctr" rtlCol="false" tIns="50800" lIns="50800" bIns="50800" rIns="50800"/>
            <a:lstStyle/>
            <a:p>
              <a:pPr algn="ctr">
                <a:lnSpc>
                  <a:spcPts val="2659"/>
                </a:lnSpc>
              </a:pPr>
            </a:p>
          </p:txBody>
        </p:sp>
      </p:grpSp>
      <p:grpSp>
        <p:nvGrpSpPr>
          <p:cNvPr name="Group 52" id="52"/>
          <p:cNvGrpSpPr/>
          <p:nvPr/>
        </p:nvGrpSpPr>
        <p:grpSpPr>
          <a:xfrm rot="0">
            <a:off x="11645619" y="2832132"/>
            <a:ext cx="3151915" cy="772633"/>
            <a:chOff x="0" y="0"/>
            <a:chExt cx="729888" cy="178918"/>
          </a:xfrm>
        </p:grpSpPr>
        <p:sp>
          <p:nvSpPr>
            <p:cNvPr name="Freeform 53" id="53"/>
            <p:cNvSpPr/>
            <p:nvPr/>
          </p:nvSpPr>
          <p:spPr>
            <a:xfrm flipH="false" flipV="false" rot="0">
              <a:off x="0" y="0"/>
              <a:ext cx="729888" cy="178918"/>
            </a:xfrm>
            <a:custGeom>
              <a:avLst/>
              <a:gdLst/>
              <a:ahLst/>
              <a:cxnLst/>
              <a:rect r="r" b="b" t="t" l="l"/>
              <a:pathLst>
                <a:path h="178918" w="729888">
                  <a:moveTo>
                    <a:pt x="61406" y="0"/>
                  </a:moveTo>
                  <a:lnTo>
                    <a:pt x="668481" y="0"/>
                  </a:lnTo>
                  <a:cubicBezTo>
                    <a:pt x="684767" y="0"/>
                    <a:pt x="700386" y="6470"/>
                    <a:pt x="711902" y="17986"/>
                  </a:cubicBezTo>
                  <a:cubicBezTo>
                    <a:pt x="723418" y="29501"/>
                    <a:pt x="729888" y="45120"/>
                    <a:pt x="729888" y="61406"/>
                  </a:cubicBezTo>
                  <a:lnTo>
                    <a:pt x="729888" y="117512"/>
                  </a:lnTo>
                  <a:cubicBezTo>
                    <a:pt x="729888" y="151426"/>
                    <a:pt x="702395" y="178918"/>
                    <a:pt x="668481" y="178918"/>
                  </a:cubicBezTo>
                  <a:lnTo>
                    <a:pt x="61406" y="178918"/>
                  </a:lnTo>
                  <a:cubicBezTo>
                    <a:pt x="27493" y="178918"/>
                    <a:pt x="0" y="151426"/>
                    <a:pt x="0" y="117512"/>
                  </a:cubicBezTo>
                  <a:lnTo>
                    <a:pt x="0" y="61406"/>
                  </a:lnTo>
                  <a:cubicBezTo>
                    <a:pt x="0" y="27493"/>
                    <a:pt x="27493" y="0"/>
                    <a:pt x="61406" y="0"/>
                  </a:cubicBezTo>
                  <a:close/>
                </a:path>
              </a:pathLst>
            </a:custGeom>
            <a:solidFill>
              <a:srgbClr val="E7BAFA"/>
            </a:solidFill>
          </p:spPr>
        </p:sp>
        <p:sp>
          <p:nvSpPr>
            <p:cNvPr name="TextBox 54" id="54"/>
            <p:cNvSpPr txBox="true"/>
            <p:nvPr/>
          </p:nvSpPr>
          <p:spPr>
            <a:xfrm>
              <a:off x="0" y="-38100"/>
              <a:ext cx="729888" cy="217018"/>
            </a:xfrm>
            <a:prstGeom prst="rect">
              <a:avLst/>
            </a:prstGeom>
          </p:spPr>
          <p:txBody>
            <a:bodyPr anchor="ctr" rtlCol="false" tIns="50800" lIns="50800" bIns="50800" rIns="50800"/>
            <a:lstStyle/>
            <a:p>
              <a:pPr algn="ctr">
                <a:lnSpc>
                  <a:spcPts val="2659"/>
                </a:lnSpc>
              </a:pPr>
            </a:p>
          </p:txBody>
        </p:sp>
      </p:grpSp>
      <p:sp>
        <p:nvSpPr>
          <p:cNvPr name="TextBox 55" id="55"/>
          <p:cNvSpPr txBox="true"/>
          <p:nvPr/>
        </p:nvSpPr>
        <p:spPr>
          <a:xfrm rot="0">
            <a:off x="11948686" y="2975716"/>
            <a:ext cx="3034928"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103102400035</a:t>
            </a:r>
          </a:p>
        </p:txBody>
      </p:sp>
      <p:sp>
        <p:nvSpPr>
          <p:cNvPr name="TextBox 56" id="56"/>
          <p:cNvSpPr txBox="true"/>
          <p:nvPr/>
        </p:nvSpPr>
        <p:spPr>
          <a:xfrm rot="0">
            <a:off x="11933163" y="4188472"/>
            <a:ext cx="2810802"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103102400037</a:t>
            </a:r>
          </a:p>
        </p:txBody>
      </p:sp>
      <p:sp>
        <p:nvSpPr>
          <p:cNvPr name="TextBox 57" id="57"/>
          <p:cNvSpPr txBox="true"/>
          <p:nvPr/>
        </p:nvSpPr>
        <p:spPr>
          <a:xfrm rot="0">
            <a:off x="11928107" y="5394239"/>
            <a:ext cx="3034928"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103102400049</a:t>
            </a:r>
          </a:p>
        </p:txBody>
      </p:sp>
      <p:grpSp>
        <p:nvGrpSpPr>
          <p:cNvPr name="Group 58" id="58"/>
          <p:cNvGrpSpPr/>
          <p:nvPr/>
        </p:nvGrpSpPr>
        <p:grpSpPr>
          <a:xfrm rot="0">
            <a:off x="11653071" y="7819970"/>
            <a:ext cx="3151915" cy="772633"/>
            <a:chOff x="0" y="0"/>
            <a:chExt cx="729888" cy="178918"/>
          </a:xfrm>
        </p:grpSpPr>
        <p:sp>
          <p:nvSpPr>
            <p:cNvPr name="Freeform 59" id="59"/>
            <p:cNvSpPr/>
            <p:nvPr/>
          </p:nvSpPr>
          <p:spPr>
            <a:xfrm flipH="false" flipV="false" rot="0">
              <a:off x="0" y="0"/>
              <a:ext cx="729888" cy="178918"/>
            </a:xfrm>
            <a:custGeom>
              <a:avLst/>
              <a:gdLst/>
              <a:ahLst/>
              <a:cxnLst/>
              <a:rect r="r" b="b" t="t" l="l"/>
              <a:pathLst>
                <a:path h="178918" w="729888">
                  <a:moveTo>
                    <a:pt x="61406" y="0"/>
                  </a:moveTo>
                  <a:lnTo>
                    <a:pt x="668481" y="0"/>
                  </a:lnTo>
                  <a:cubicBezTo>
                    <a:pt x="684767" y="0"/>
                    <a:pt x="700386" y="6470"/>
                    <a:pt x="711902" y="17986"/>
                  </a:cubicBezTo>
                  <a:cubicBezTo>
                    <a:pt x="723418" y="29501"/>
                    <a:pt x="729888" y="45120"/>
                    <a:pt x="729888" y="61406"/>
                  </a:cubicBezTo>
                  <a:lnTo>
                    <a:pt x="729888" y="117512"/>
                  </a:lnTo>
                  <a:cubicBezTo>
                    <a:pt x="729888" y="151426"/>
                    <a:pt x="702395" y="178918"/>
                    <a:pt x="668481" y="178918"/>
                  </a:cubicBezTo>
                  <a:lnTo>
                    <a:pt x="61406" y="178918"/>
                  </a:lnTo>
                  <a:cubicBezTo>
                    <a:pt x="27493" y="178918"/>
                    <a:pt x="0" y="151426"/>
                    <a:pt x="0" y="117512"/>
                  </a:cubicBezTo>
                  <a:lnTo>
                    <a:pt x="0" y="61406"/>
                  </a:lnTo>
                  <a:cubicBezTo>
                    <a:pt x="0" y="27493"/>
                    <a:pt x="27493" y="0"/>
                    <a:pt x="61406" y="0"/>
                  </a:cubicBezTo>
                  <a:close/>
                </a:path>
              </a:pathLst>
            </a:custGeom>
            <a:solidFill>
              <a:srgbClr val="E7BAFA"/>
            </a:solidFill>
          </p:spPr>
        </p:sp>
        <p:sp>
          <p:nvSpPr>
            <p:cNvPr name="TextBox 60" id="60"/>
            <p:cNvSpPr txBox="true"/>
            <p:nvPr/>
          </p:nvSpPr>
          <p:spPr>
            <a:xfrm>
              <a:off x="0" y="-38100"/>
              <a:ext cx="729888" cy="217018"/>
            </a:xfrm>
            <a:prstGeom prst="rect">
              <a:avLst/>
            </a:prstGeom>
          </p:spPr>
          <p:txBody>
            <a:bodyPr anchor="ctr" rtlCol="false" tIns="50800" lIns="50800" bIns="50800" rIns="50800"/>
            <a:lstStyle/>
            <a:p>
              <a:pPr algn="ctr">
                <a:lnSpc>
                  <a:spcPts val="2659"/>
                </a:lnSpc>
              </a:pPr>
            </a:p>
          </p:txBody>
        </p:sp>
      </p:grpSp>
      <p:grpSp>
        <p:nvGrpSpPr>
          <p:cNvPr name="Group 61" id="61"/>
          <p:cNvGrpSpPr/>
          <p:nvPr/>
        </p:nvGrpSpPr>
        <p:grpSpPr>
          <a:xfrm rot="0">
            <a:off x="11653071" y="6607213"/>
            <a:ext cx="3151915" cy="772633"/>
            <a:chOff x="0" y="0"/>
            <a:chExt cx="729888" cy="178918"/>
          </a:xfrm>
        </p:grpSpPr>
        <p:sp>
          <p:nvSpPr>
            <p:cNvPr name="Freeform 62" id="62"/>
            <p:cNvSpPr/>
            <p:nvPr/>
          </p:nvSpPr>
          <p:spPr>
            <a:xfrm flipH="false" flipV="false" rot="0">
              <a:off x="0" y="0"/>
              <a:ext cx="729888" cy="178918"/>
            </a:xfrm>
            <a:custGeom>
              <a:avLst/>
              <a:gdLst/>
              <a:ahLst/>
              <a:cxnLst/>
              <a:rect r="r" b="b" t="t" l="l"/>
              <a:pathLst>
                <a:path h="178918" w="729888">
                  <a:moveTo>
                    <a:pt x="61406" y="0"/>
                  </a:moveTo>
                  <a:lnTo>
                    <a:pt x="668481" y="0"/>
                  </a:lnTo>
                  <a:cubicBezTo>
                    <a:pt x="684767" y="0"/>
                    <a:pt x="700386" y="6470"/>
                    <a:pt x="711902" y="17986"/>
                  </a:cubicBezTo>
                  <a:cubicBezTo>
                    <a:pt x="723418" y="29501"/>
                    <a:pt x="729888" y="45120"/>
                    <a:pt x="729888" y="61406"/>
                  </a:cubicBezTo>
                  <a:lnTo>
                    <a:pt x="729888" y="117512"/>
                  </a:lnTo>
                  <a:cubicBezTo>
                    <a:pt x="729888" y="151426"/>
                    <a:pt x="702395" y="178918"/>
                    <a:pt x="668481" y="178918"/>
                  </a:cubicBezTo>
                  <a:lnTo>
                    <a:pt x="61406" y="178918"/>
                  </a:lnTo>
                  <a:cubicBezTo>
                    <a:pt x="27493" y="178918"/>
                    <a:pt x="0" y="151426"/>
                    <a:pt x="0" y="117512"/>
                  </a:cubicBezTo>
                  <a:lnTo>
                    <a:pt x="0" y="61406"/>
                  </a:lnTo>
                  <a:cubicBezTo>
                    <a:pt x="0" y="27493"/>
                    <a:pt x="27493" y="0"/>
                    <a:pt x="61406" y="0"/>
                  </a:cubicBezTo>
                  <a:close/>
                </a:path>
              </a:pathLst>
            </a:custGeom>
            <a:solidFill>
              <a:srgbClr val="E7BAFA"/>
            </a:solidFill>
          </p:spPr>
        </p:sp>
        <p:sp>
          <p:nvSpPr>
            <p:cNvPr name="TextBox 63" id="63"/>
            <p:cNvSpPr txBox="true"/>
            <p:nvPr/>
          </p:nvSpPr>
          <p:spPr>
            <a:xfrm>
              <a:off x="0" y="-38100"/>
              <a:ext cx="729888" cy="217018"/>
            </a:xfrm>
            <a:prstGeom prst="rect">
              <a:avLst/>
            </a:prstGeom>
          </p:spPr>
          <p:txBody>
            <a:bodyPr anchor="ctr" rtlCol="false" tIns="50800" lIns="50800" bIns="50800" rIns="50800"/>
            <a:lstStyle/>
            <a:p>
              <a:pPr algn="ctr">
                <a:lnSpc>
                  <a:spcPts val="2659"/>
                </a:lnSpc>
              </a:pPr>
            </a:p>
          </p:txBody>
        </p:sp>
      </p:grpSp>
      <p:sp>
        <p:nvSpPr>
          <p:cNvPr name="TextBox 64" id="64"/>
          <p:cNvSpPr txBox="true"/>
          <p:nvPr/>
        </p:nvSpPr>
        <p:spPr>
          <a:xfrm rot="0">
            <a:off x="11989129" y="6783739"/>
            <a:ext cx="2810802"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103102400053</a:t>
            </a:r>
          </a:p>
        </p:txBody>
      </p:sp>
      <p:sp>
        <p:nvSpPr>
          <p:cNvPr name="TextBox 65" id="65"/>
          <p:cNvSpPr txBox="true"/>
          <p:nvPr/>
        </p:nvSpPr>
        <p:spPr>
          <a:xfrm rot="0">
            <a:off x="11989129" y="7989622"/>
            <a:ext cx="3034928" cy="433328"/>
          </a:xfrm>
          <a:prstGeom prst="rect">
            <a:avLst/>
          </a:prstGeom>
        </p:spPr>
        <p:txBody>
          <a:bodyPr anchor="t" rtlCol="false" tIns="0" lIns="0" bIns="0" rIns="0">
            <a:spAutoFit/>
          </a:bodyPr>
          <a:lstStyle/>
          <a:p>
            <a:pPr algn="l">
              <a:lnSpc>
                <a:spcPts val="3412"/>
              </a:lnSpc>
            </a:pPr>
            <a:r>
              <a:rPr lang="en-US" sz="2843" b="true">
                <a:solidFill>
                  <a:srgbClr val="2F153B"/>
                </a:solidFill>
                <a:latin typeface="DM Sans Bold"/>
                <a:ea typeface="DM Sans Bold"/>
                <a:cs typeface="DM Sans Bold"/>
                <a:sym typeface="DM Sans Bold"/>
              </a:rPr>
              <a:t>103102400066</a:t>
            </a:r>
          </a:p>
        </p:txBody>
      </p:sp>
      <p:sp>
        <p:nvSpPr>
          <p:cNvPr name="Freeform 66" id="66"/>
          <p:cNvSpPr/>
          <p:nvPr/>
        </p:nvSpPr>
        <p:spPr>
          <a:xfrm flipH="false" flipV="false" rot="0">
            <a:off x="17504180" y="201207"/>
            <a:ext cx="668336" cy="878384"/>
          </a:xfrm>
          <a:custGeom>
            <a:avLst/>
            <a:gdLst/>
            <a:ahLst/>
            <a:cxnLst/>
            <a:rect r="r" b="b" t="t" l="l"/>
            <a:pathLst>
              <a:path h="878384" w="668336">
                <a:moveTo>
                  <a:pt x="0" y="0"/>
                </a:moveTo>
                <a:lnTo>
                  <a:pt x="668336" y="0"/>
                </a:lnTo>
                <a:lnTo>
                  <a:pt x="668336" y="878385"/>
                </a:lnTo>
                <a:lnTo>
                  <a:pt x="0" y="878385"/>
                </a:lnTo>
                <a:lnTo>
                  <a:pt x="0" y="0"/>
                </a:lnTo>
                <a:close/>
              </a:path>
            </a:pathLst>
          </a:custGeom>
          <a:blipFill>
            <a:blip r:embed="rId8"/>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0">
            <a:off x="15931595" y="-321077"/>
            <a:ext cx="8460343" cy="3630256"/>
          </a:xfrm>
          <a:custGeom>
            <a:avLst/>
            <a:gdLst/>
            <a:ahLst/>
            <a:cxnLst/>
            <a:rect r="r" b="b" t="t" l="l"/>
            <a:pathLst>
              <a:path h="3630256" w="8460343">
                <a:moveTo>
                  <a:pt x="8460343" y="3630257"/>
                </a:moveTo>
                <a:lnTo>
                  <a:pt x="0" y="3630257"/>
                </a:lnTo>
                <a:lnTo>
                  <a:pt x="0" y="0"/>
                </a:lnTo>
                <a:lnTo>
                  <a:pt x="8460343" y="0"/>
                </a:lnTo>
                <a:lnTo>
                  <a:pt x="8460343" y="363025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786755" y="3647786"/>
            <a:ext cx="6876870" cy="5363958"/>
          </a:xfrm>
          <a:custGeom>
            <a:avLst/>
            <a:gdLst/>
            <a:ahLst/>
            <a:cxnLst/>
            <a:rect r="r" b="b" t="t" l="l"/>
            <a:pathLst>
              <a:path h="5363958" w="6876870">
                <a:moveTo>
                  <a:pt x="0" y="0"/>
                </a:moveTo>
                <a:lnTo>
                  <a:pt x="6876869" y="0"/>
                </a:lnTo>
                <a:lnTo>
                  <a:pt x="6876869" y="5363958"/>
                </a:lnTo>
                <a:lnTo>
                  <a:pt x="0" y="53639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1053361" y="2695127"/>
            <a:ext cx="9257705" cy="6316617"/>
            <a:chOff x="0" y="0"/>
            <a:chExt cx="2438243" cy="1663636"/>
          </a:xfrm>
        </p:grpSpPr>
        <p:sp>
          <p:nvSpPr>
            <p:cNvPr name="Freeform 5" id="5"/>
            <p:cNvSpPr/>
            <p:nvPr/>
          </p:nvSpPr>
          <p:spPr>
            <a:xfrm flipH="false" flipV="false" rot="0">
              <a:off x="0" y="0"/>
              <a:ext cx="2438243" cy="1663636"/>
            </a:xfrm>
            <a:custGeom>
              <a:avLst/>
              <a:gdLst/>
              <a:ahLst/>
              <a:cxnLst/>
              <a:rect r="r" b="b" t="t" l="l"/>
              <a:pathLst>
                <a:path h="1663636" w="2438243">
                  <a:moveTo>
                    <a:pt x="41813" y="0"/>
                  </a:moveTo>
                  <a:lnTo>
                    <a:pt x="2396430" y="0"/>
                  </a:lnTo>
                  <a:cubicBezTo>
                    <a:pt x="2407520" y="0"/>
                    <a:pt x="2418155" y="4405"/>
                    <a:pt x="2425996" y="12247"/>
                  </a:cubicBezTo>
                  <a:cubicBezTo>
                    <a:pt x="2433838" y="20088"/>
                    <a:pt x="2438243" y="30724"/>
                    <a:pt x="2438243" y="41813"/>
                  </a:cubicBezTo>
                  <a:lnTo>
                    <a:pt x="2438243" y="1621823"/>
                  </a:lnTo>
                  <a:cubicBezTo>
                    <a:pt x="2438243" y="1632912"/>
                    <a:pt x="2433838" y="1643548"/>
                    <a:pt x="2425996" y="1651389"/>
                  </a:cubicBezTo>
                  <a:cubicBezTo>
                    <a:pt x="2418155" y="1659231"/>
                    <a:pt x="2407520" y="1663636"/>
                    <a:pt x="2396430" y="1663636"/>
                  </a:cubicBezTo>
                  <a:lnTo>
                    <a:pt x="41813" y="1663636"/>
                  </a:lnTo>
                  <a:cubicBezTo>
                    <a:pt x="30724" y="1663636"/>
                    <a:pt x="20088" y="1659231"/>
                    <a:pt x="12247" y="1651389"/>
                  </a:cubicBezTo>
                  <a:cubicBezTo>
                    <a:pt x="4405" y="1643548"/>
                    <a:pt x="0" y="1632912"/>
                    <a:pt x="0" y="1621823"/>
                  </a:cubicBezTo>
                  <a:lnTo>
                    <a:pt x="0" y="41813"/>
                  </a:lnTo>
                  <a:cubicBezTo>
                    <a:pt x="0" y="30724"/>
                    <a:pt x="4405" y="20088"/>
                    <a:pt x="12247" y="12247"/>
                  </a:cubicBezTo>
                  <a:cubicBezTo>
                    <a:pt x="20088" y="4405"/>
                    <a:pt x="30724" y="0"/>
                    <a:pt x="41813" y="0"/>
                  </a:cubicBezTo>
                  <a:close/>
                </a:path>
              </a:pathLst>
            </a:custGeom>
            <a:solidFill>
              <a:srgbClr val="E7BAFA"/>
            </a:solidFill>
          </p:spPr>
        </p:sp>
        <p:sp>
          <p:nvSpPr>
            <p:cNvPr name="TextBox 6" id="6"/>
            <p:cNvSpPr txBox="true"/>
            <p:nvPr/>
          </p:nvSpPr>
          <p:spPr>
            <a:xfrm>
              <a:off x="0" y="-38100"/>
              <a:ext cx="2438243" cy="1701736"/>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1254778" y="2168628"/>
            <a:ext cx="2578524" cy="839192"/>
          </a:xfrm>
          <a:custGeom>
            <a:avLst/>
            <a:gdLst/>
            <a:ahLst/>
            <a:cxnLst/>
            <a:rect r="r" b="b" t="t" l="l"/>
            <a:pathLst>
              <a:path h="839192" w="2578524">
                <a:moveTo>
                  <a:pt x="0" y="0"/>
                </a:moveTo>
                <a:lnTo>
                  <a:pt x="2578523" y="0"/>
                </a:lnTo>
                <a:lnTo>
                  <a:pt x="2578523" y="839192"/>
                </a:lnTo>
                <a:lnTo>
                  <a:pt x="0" y="8391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830461" y="1057371"/>
            <a:ext cx="8090639" cy="1111257"/>
          </a:xfrm>
          <a:prstGeom prst="rect">
            <a:avLst/>
          </a:prstGeom>
        </p:spPr>
        <p:txBody>
          <a:bodyPr anchor="t" rtlCol="false" tIns="0" lIns="0" bIns="0" rIns="0">
            <a:spAutoFit/>
          </a:bodyPr>
          <a:lstStyle/>
          <a:p>
            <a:pPr algn="ctr">
              <a:lnSpc>
                <a:spcPts val="7150"/>
              </a:lnSpc>
            </a:pPr>
            <a:r>
              <a:rPr lang="en-US" b="true" sz="6500">
                <a:solidFill>
                  <a:srgbClr val="FFFFFF"/>
                </a:solidFill>
                <a:latin typeface="Cooper Hewitt Bold"/>
                <a:ea typeface="Cooper Hewitt Bold"/>
                <a:cs typeface="Cooper Hewitt Bold"/>
                <a:sym typeface="Cooper Hewitt Bold"/>
              </a:rPr>
              <a:t>LATAR BELAKANG</a:t>
            </a:r>
          </a:p>
        </p:txBody>
      </p:sp>
      <p:sp>
        <p:nvSpPr>
          <p:cNvPr name="TextBox 9" id="9"/>
          <p:cNvSpPr txBox="true"/>
          <p:nvPr/>
        </p:nvSpPr>
        <p:spPr>
          <a:xfrm rot="0">
            <a:off x="1185230" y="3007820"/>
            <a:ext cx="8735870" cy="5638800"/>
          </a:xfrm>
          <a:prstGeom prst="rect">
            <a:avLst/>
          </a:prstGeom>
        </p:spPr>
        <p:txBody>
          <a:bodyPr anchor="t" rtlCol="false" tIns="0" lIns="0" bIns="0" rIns="0">
            <a:spAutoFit/>
          </a:bodyPr>
          <a:lstStyle/>
          <a:p>
            <a:pPr algn="just" marL="511377" indent="-255688" lvl="1">
              <a:lnSpc>
                <a:spcPts val="2842"/>
              </a:lnSpc>
              <a:buFont typeface="Arial"/>
              <a:buChar char="•"/>
            </a:pPr>
            <a:r>
              <a:rPr lang="en-US" sz="2368">
                <a:solidFill>
                  <a:srgbClr val="2F153B"/>
                </a:solidFill>
                <a:latin typeface="DM Sans"/>
                <a:ea typeface="DM Sans"/>
                <a:cs typeface="DM Sans"/>
                <a:sym typeface="DM Sans"/>
              </a:rPr>
              <a:t>Pasar saham bersifat dinamis dan dipengaruhi oleh faktor internal perusahaan serta kondisi ekonomi dan sentimen investor.</a:t>
            </a:r>
          </a:p>
          <a:p>
            <a:pPr algn="just" marL="511377" indent="-255688" lvl="1">
              <a:lnSpc>
                <a:spcPts val="2842"/>
              </a:lnSpc>
              <a:buFont typeface="Arial"/>
              <a:buChar char="•"/>
            </a:pPr>
            <a:r>
              <a:rPr lang="en-US" sz="2368">
                <a:solidFill>
                  <a:srgbClr val="2F153B"/>
                </a:solidFill>
                <a:latin typeface="DM Sans"/>
                <a:ea typeface="DM Sans"/>
                <a:cs typeface="DM Sans"/>
                <a:sym typeface="DM Sans"/>
              </a:rPr>
              <a:t>Pergerakan harga saham mengandung ketidakpastian sehingga sulit diprediksi secara pasti.</a:t>
            </a:r>
          </a:p>
          <a:p>
            <a:pPr algn="just" marL="511377" indent="-255688" lvl="1">
              <a:lnSpc>
                <a:spcPts val="2842"/>
              </a:lnSpc>
              <a:buFont typeface="Arial"/>
              <a:buChar char="•"/>
            </a:pPr>
            <a:r>
              <a:rPr lang="en-US" sz="2368">
                <a:solidFill>
                  <a:srgbClr val="2F153B"/>
                </a:solidFill>
                <a:latin typeface="DM Sans"/>
                <a:ea typeface="DM Sans"/>
                <a:cs typeface="DM Sans"/>
                <a:sym typeface="DM Sans"/>
              </a:rPr>
              <a:t>Pemodelan matematis diperlukan untuk merepresentasikan pergerakan harga saham secara sistematis dan terukur.</a:t>
            </a:r>
          </a:p>
          <a:p>
            <a:pPr algn="just" marL="511377" indent="-255688" lvl="1">
              <a:lnSpc>
                <a:spcPts val="2842"/>
              </a:lnSpc>
              <a:buFont typeface="Arial"/>
              <a:buChar char="•"/>
            </a:pPr>
            <a:r>
              <a:rPr lang="en-US" sz="2368">
                <a:solidFill>
                  <a:srgbClr val="2F153B"/>
                </a:solidFill>
                <a:latin typeface="DM Sans"/>
                <a:ea typeface="DM Sans"/>
                <a:cs typeface="DM Sans"/>
                <a:sym typeface="DM Sans"/>
              </a:rPr>
              <a:t>Model binomial digunakan sebagai pendekatan diskrit yang mengasumsikan harga saham hanya naik atau turun pada setiap periode.</a:t>
            </a:r>
          </a:p>
          <a:p>
            <a:pPr algn="just" marL="511377" indent="-255688" lvl="1">
              <a:lnSpc>
                <a:spcPts val="2842"/>
              </a:lnSpc>
              <a:buFont typeface="Arial"/>
              <a:buChar char="•"/>
            </a:pPr>
            <a:r>
              <a:rPr lang="en-US" sz="2368">
                <a:solidFill>
                  <a:srgbClr val="2F153B"/>
                </a:solidFill>
                <a:latin typeface="DM Sans"/>
                <a:ea typeface="DM Sans"/>
                <a:cs typeface="DM Sans"/>
                <a:sym typeface="DM Sans"/>
              </a:rPr>
              <a:t>Objek kajian adalah saham PT Jasa Marga (Persero) Tbk (JSMR) menggunakan data historis sekitar 18 bulan.</a:t>
            </a:r>
          </a:p>
          <a:p>
            <a:pPr algn="just" marL="511377" indent="-255688" lvl="1">
              <a:lnSpc>
                <a:spcPts val="2842"/>
              </a:lnSpc>
              <a:buFont typeface="Arial"/>
              <a:buChar char="•"/>
            </a:pPr>
            <a:r>
              <a:rPr lang="en-US" sz="2368">
                <a:solidFill>
                  <a:srgbClr val="2F153B"/>
                </a:solidFill>
                <a:latin typeface="DM Sans"/>
                <a:ea typeface="DM Sans"/>
                <a:cs typeface="DM Sans"/>
                <a:sym typeface="DM Sans"/>
              </a:rPr>
              <a:t>Model binomial dipilih karena sederhana, mudah diimplementasikan, dan mampu menggambarkan volatilitas harga saham.</a:t>
            </a:r>
          </a:p>
        </p:txBody>
      </p:sp>
      <p:grpSp>
        <p:nvGrpSpPr>
          <p:cNvPr name="Group 10" id="10"/>
          <p:cNvGrpSpPr/>
          <p:nvPr/>
        </p:nvGrpSpPr>
        <p:grpSpPr>
          <a:xfrm rot="0">
            <a:off x="-1609254" y="9753600"/>
            <a:ext cx="21506508" cy="1542089"/>
            <a:chOff x="0" y="0"/>
            <a:chExt cx="5664265" cy="406147"/>
          </a:xfrm>
        </p:grpSpPr>
        <p:sp>
          <p:nvSpPr>
            <p:cNvPr name="Freeform 11" id="11"/>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12" id="12"/>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7504180" y="201207"/>
            <a:ext cx="668336" cy="878384"/>
          </a:xfrm>
          <a:custGeom>
            <a:avLst/>
            <a:gdLst/>
            <a:ahLst/>
            <a:cxnLst/>
            <a:rect r="r" b="b" t="t" l="l"/>
            <a:pathLst>
              <a:path h="878384" w="668336">
                <a:moveTo>
                  <a:pt x="0" y="0"/>
                </a:moveTo>
                <a:lnTo>
                  <a:pt x="668336" y="0"/>
                </a:lnTo>
                <a:lnTo>
                  <a:pt x="668336" y="878385"/>
                </a:lnTo>
                <a:lnTo>
                  <a:pt x="0" y="878385"/>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734939" y="1318781"/>
            <a:ext cx="16818123" cy="1181100"/>
          </a:xfrm>
          <a:prstGeom prst="rect">
            <a:avLst/>
          </a:prstGeom>
        </p:spPr>
        <p:txBody>
          <a:bodyPr anchor="t" rtlCol="false" tIns="0" lIns="0" bIns="0" rIns="0">
            <a:spAutoFit/>
          </a:bodyPr>
          <a:lstStyle/>
          <a:p>
            <a:pPr algn="ctr">
              <a:lnSpc>
                <a:spcPts val="7800"/>
              </a:lnSpc>
            </a:pPr>
            <a:r>
              <a:rPr lang="en-US" b="true" sz="6500">
                <a:solidFill>
                  <a:srgbClr val="FFFFFF"/>
                </a:solidFill>
                <a:latin typeface="Cooper Hewitt Bold"/>
                <a:ea typeface="Cooper Hewitt Bold"/>
                <a:cs typeface="Cooper Hewitt Bold"/>
                <a:sym typeface="Cooper Hewitt Bold"/>
              </a:rPr>
              <a:t>RUMUSAN MASALAH</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609254" y="9890980"/>
            <a:ext cx="21506508" cy="1542089"/>
            <a:chOff x="0" y="0"/>
            <a:chExt cx="5664265" cy="406147"/>
          </a:xfrm>
        </p:grpSpPr>
        <p:sp>
          <p:nvSpPr>
            <p:cNvPr name="Freeform 6" id="6"/>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7" id="7"/>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608392" y="-1102511"/>
            <a:ext cx="3071217" cy="1680793"/>
          </a:xfrm>
          <a:custGeom>
            <a:avLst/>
            <a:gdLst/>
            <a:ahLst/>
            <a:cxnLst/>
            <a:rect r="r" b="b" t="t" l="l"/>
            <a:pathLst>
              <a:path h="1680793" w="3071217">
                <a:moveTo>
                  <a:pt x="0" y="0"/>
                </a:moveTo>
                <a:lnTo>
                  <a:pt x="3071216" y="0"/>
                </a:lnTo>
                <a:lnTo>
                  <a:pt x="3071216" y="1680793"/>
                </a:lnTo>
                <a:lnTo>
                  <a:pt x="0" y="16807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7504180" y="201207"/>
            <a:ext cx="668336" cy="878384"/>
          </a:xfrm>
          <a:custGeom>
            <a:avLst/>
            <a:gdLst/>
            <a:ahLst/>
            <a:cxnLst/>
            <a:rect r="r" b="b" t="t" l="l"/>
            <a:pathLst>
              <a:path h="878384" w="668336">
                <a:moveTo>
                  <a:pt x="0" y="0"/>
                </a:moveTo>
                <a:lnTo>
                  <a:pt x="668336" y="0"/>
                </a:lnTo>
                <a:lnTo>
                  <a:pt x="668336" y="878385"/>
                </a:lnTo>
                <a:lnTo>
                  <a:pt x="0" y="878385"/>
                </a:lnTo>
                <a:lnTo>
                  <a:pt x="0" y="0"/>
                </a:lnTo>
                <a:close/>
              </a:path>
            </a:pathLst>
          </a:custGeom>
          <a:blipFill>
            <a:blip r:embed="rId6"/>
            <a:stretch>
              <a:fillRect l="0" t="0" r="0" b="0"/>
            </a:stretch>
          </a:blipFill>
        </p:spPr>
      </p:sp>
      <p:grpSp>
        <p:nvGrpSpPr>
          <p:cNvPr name="Group 10" id="10"/>
          <p:cNvGrpSpPr/>
          <p:nvPr/>
        </p:nvGrpSpPr>
        <p:grpSpPr>
          <a:xfrm rot="0">
            <a:off x="1458893" y="4102013"/>
            <a:ext cx="3942058" cy="1117392"/>
            <a:chOff x="0" y="0"/>
            <a:chExt cx="1038238" cy="294293"/>
          </a:xfrm>
        </p:grpSpPr>
        <p:sp>
          <p:nvSpPr>
            <p:cNvPr name="Freeform 11" id="11"/>
            <p:cNvSpPr/>
            <p:nvPr/>
          </p:nvSpPr>
          <p:spPr>
            <a:xfrm flipH="false" flipV="false" rot="0">
              <a:off x="0" y="0"/>
              <a:ext cx="1038238" cy="294293"/>
            </a:xfrm>
            <a:custGeom>
              <a:avLst/>
              <a:gdLst/>
              <a:ahLst/>
              <a:cxnLst/>
              <a:rect r="r" b="b" t="t" l="l"/>
              <a:pathLst>
                <a:path h="294293" w="1038238">
                  <a:moveTo>
                    <a:pt x="47134" y="0"/>
                  </a:moveTo>
                  <a:lnTo>
                    <a:pt x="991103" y="0"/>
                  </a:lnTo>
                  <a:cubicBezTo>
                    <a:pt x="1003604" y="0"/>
                    <a:pt x="1015593" y="4966"/>
                    <a:pt x="1024432" y="13805"/>
                  </a:cubicBezTo>
                  <a:cubicBezTo>
                    <a:pt x="1033272" y="22645"/>
                    <a:pt x="1038238" y="34633"/>
                    <a:pt x="1038238" y="47134"/>
                  </a:cubicBezTo>
                  <a:lnTo>
                    <a:pt x="1038238" y="247158"/>
                  </a:lnTo>
                  <a:cubicBezTo>
                    <a:pt x="1038238" y="259659"/>
                    <a:pt x="1033272" y="271648"/>
                    <a:pt x="1024432" y="280487"/>
                  </a:cubicBezTo>
                  <a:cubicBezTo>
                    <a:pt x="1015593" y="289327"/>
                    <a:pt x="1003604" y="294293"/>
                    <a:pt x="991103" y="294293"/>
                  </a:cubicBezTo>
                  <a:lnTo>
                    <a:pt x="47134" y="294293"/>
                  </a:lnTo>
                  <a:cubicBezTo>
                    <a:pt x="34633" y="294293"/>
                    <a:pt x="22645" y="289327"/>
                    <a:pt x="13805" y="280487"/>
                  </a:cubicBezTo>
                  <a:cubicBezTo>
                    <a:pt x="4966" y="271648"/>
                    <a:pt x="0" y="259659"/>
                    <a:pt x="0" y="247158"/>
                  </a:cubicBezTo>
                  <a:lnTo>
                    <a:pt x="0" y="47134"/>
                  </a:lnTo>
                  <a:cubicBezTo>
                    <a:pt x="0" y="34633"/>
                    <a:pt x="4966" y="22645"/>
                    <a:pt x="13805" y="13805"/>
                  </a:cubicBezTo>
                  <a:cubicBezTo>
                    <a:pt x="22645" y="4966"/>
                    <a:pt x="34633" y="0"/>
                    <a:pt x="47134" y="0"/>
                  </a:cubicBezTo>
                  <a:close/>
                </a:path>
              </a:pathLst>
            </a:custGeom>
            <a:solidFill>
              <a:srgbClr val="E7BAFA"/>
            </a:solidFill>
          </p:spPr>
        </p:sp>
        <p:sp>
          <p:nvSpPr>
            <p:cNvPr name="TextBox 12" id="12"/>
            <p:cNvSpPr txBox="true"/>
            <p:nvPr/>
          </p:nvSpPr>
          <p:spPr>
            <a:xfrm>
              <a:off x="0" y="-38100"/>
              <a:ext cx="1038238" cy="33239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7106666" y="4121063"/>
            <a:ext cx="3942058" cy="1117392"/>
            <a:chOff x="0" y="0"/>
            <a:chExt cx="1038238" cy="294293"/>
          </a:xfrm>
        </p:grpSpPr>
        <p:sp>
          <p:nvSpPr>
            <p:cNvPr name="Freeform 14" id="14"/>
            <p:cNvSpPr/>
            <p:nvPr/>
          </p:nvSpPr>
          <p:spPr>
            <a:xfrm flipH="false" flipV="false" rot="0">
              <a:off x="0" y="0"/>
              <a:ext cx="1038238" cy="294293"/>
            </a:xfrm>
            <a:custGeom>
              <a:avLst/>
              <a:gdLst/>
              <a:ahLst/>
              <a:cxnLst/>
              <a:rect r="r" b="b" t="t" l="l"/>
              <a:pathLst>
                <a:path h="294293" w="1038238">
                  <a:moveTo>
                    <a:pt x="47134" y="0"/>
                  </a:moveTo>
                  <a:lnTo>
                    <a:pt x="991103" y="0"/>
                  </a:lnTo>
                  <a:cubicBezTo>
                    <a:pt x="1003604" y="0"/>
                    <a:pt x="1015593" y="4966"/>
                    <a:pt x="1024432" y="13805"/>
                  </a:cubicBezTo>
                  <a:cubicBezTo>
                    <a:pt x="1033272" y="22645"/>
                    <a:pt x="1038238" y="34633"/>
                    <a:pt x="1038238" y="47134"/>
                  </a:cubicBezTo>
                  <a:lnTo>
                    <a:pt x="1038238" y="247158"/>
                  </a:lnTo>
                  <a:cubicBezTo>
                    <a:pt x="1038238" y="259659"/>
                    <a:pt x="1033272" y="271648"/>
                    <a:pt x="1024432" y="280487"/>
                  </a:cubicBezTo>
                  <a:cubicBezTo>
                    <a:pt x="1015593" y="289327"/>
                    <a:pt x="1003604" y="294293"/>
                    <a:pt x="991103" y="294293"/>
                  </a:cubicBezTo>
                  <a:lnTo>
                    <a:pt x="47134" y="294293"/>
                  </a:lnTo>
                  <a:cubicBezTo>
                    <a:pt x="34633" y="294293"/>
                    <a:pt x="22645" y="289327"/>
                    <a:pt x="13805" y="280487"/>
                  </a:cubicBezTo>
                  <a:cubicBezTo>
                    <a:pt x="4966" y="271648"/>
                    <a:pt x="0" y="259659"/>
                    <a:pt x="0" y="247158"/>
                  </a:cubicBezTo>
                  <a:lnTo>
                    <a:pt x="0" y="47134"/>
                  </a:lnTo>
                  <a:cubicBezTo>
                    <a:pt x="0" y="34633"/>
                    <a:pt x="4966" y="22645"/>
                    <a:pt x="13805" y="13805"/>
                  </a:cubicBezTo>
                  <a:cubicBezTo>
                    <a:pt x="22645" y="4966"/>
                    <a:pt x="34633" y="0"/>
                    <a:pt x="47134" y="0"/>
                  </a:cubicBezTo>
                  <a:close/>
                </a:path>
              </a:pathLst>
            </a:custGeom>
            <a:solidFill>
              <a:srgbClr val="E7BAFA"/>
            </a:solidFill>
          </p:spPr>
        </p:sp>
        <p:sp>
          <p:nvSpPr>
            <p:cNvPr name="TextBox 15" id="15"/>
            <p:cNvSpPr txBox="true"/>
            <p:nvPr/>
          </p:nvSpPr>
          <p:spPr>
            <a:xfrm>
              <a:off x="0" y="-38100"/>
              <a:ext cx="1038238" cy="33239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2887049" y="4208628"/>
            <a:ext cx="3942058" cy="1117392"/>
            <a:chOff x="0" y="0"/>
            <a:chExt cx="1038238" cy="294293"/>
          </a:xfrm>
        </p:grpSpPr>
        <p:sp>
          <p:nvSpPr>
            <p:cNvPr name="Freeform 17" id="17"/>
            <p:cNvSpPr/>
            <p:nvPr/>
          </p:nvSpPr>
          <p:spPr>
            <a:xfrm flipH="false" flipV="false" rot="0">
              <a:off x="0" y="0"/>
              <a:ext cx="1038238" cy="294293"/>
            </a:xfrm>
            <a:custGeom>
              <a:avLst/>
              <a:gdLst/>
              <a:ahLst/>
              <a:cxnLst/>
              <a:rect r="r" b="b" t="t" l="l"/>
              <a:pathLst>
                <a:path h="294293" w="1038238">
                  <a:moveTo>
                    <a:pt x="47134" y="0"/>
                  </a:moveTo>
                  <a:lnTo>
                    <a:pt x="991103" y="0"/>
                  </a:lnTo>
                  <a:cubicBezTo>
                    <a:pt x="1003604" y="0"/>
                    <a:pt x="1015593" y="4966"/>
                    <a:pt x="1024432" y="13805"/>
                  </a:cubicBezTo>
                  <a:cubicBezTo>
                    <a:pt x="1033272" y="22645"/>
                    <a:pt x="1038238" y="34633"/>
                    <a:pt x="1038238" y="47134"/>
                  </a:cubicBezTo>
                  <a:lnTo>
                    <a:pt x="1038238" y="247158"/>
                  </a:lnTo>
                  <a:cubicBezTo>
                    <a:pt x="1038238" y="259659"/>
                    <a:pt x="1033272" y="271648"/>
                    <a:pt x="1024432" y="280487"/>
                  </a:cubicBezTo>
                  <a:cubicBezTo>
                    <a:pt x="1015593" y="289327"/>
                    <a:pt x="1003604" y="294293"/>
                    <a:pt x="991103" y="294293"/>
                  </a:cubicBezTo>
                  <a:lnTo>
                    <a:pt x="47134" y="294293"/>
                  </a:lnTo>
                  <a:cubicBezTo>
                    <a:pt x="34633" y="294293"/>
                    <a:pt x="22645" y="289327"/>
                    <a:pt x="13805" y="280487"/>
                  </a:cubicBezTo>
                  <a:cubicBezTo>
                    <a:pt x="4966" y="271648"/>
                    <a:pt x="0" y="259659"/>
                    <a:pt x="0" y="247158"/>
                  </a:cubicBezTo>
                  <a:lnTo>
                    <a:pt x="0" y="47134"/>
                  </a:lnTo>
                  <a:cubicBezTo>
                    <a:pt x="0" y="34633"/>
                    <a:pt x="4966" y="22645"/>
                    <a:pt x="13805" y="13805"/>
                  </a:cubicBezTo>
                  <a:cubicBezTo>
                    <a:pt x="22645" y="4966"/>
                    <a:pt x="34633" y="0"/>
                    <a:pt x="47134" y="0"/>
                  </a:cubicBezTo>
                  <a:close/>
                </a:path>
              </a:pathLst>
            </a:custGeom>
            <a:solidFill>
              <a:srgbClr val="E7BAFA"/>
            </a:solidFill>
          </p:spPr>
        </p:sp>
        <p:sp>
          <p:nvSpPr>
            <p:cNvPr name="TextBox 18" id="18"/>
            <p:cNvSpPr txBox="true"/>
            <p:nvPr/>
          </p:nvSpPr>
          <p:spPr>
            <a:xfrm>
              <a:off x="0" y="-38100"/>
              <a:ext cx="1038238" cy="332393"/>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552507" y="5460509"/>
            <a:ext cx="3754830" cy="2600325"/>
          </a:xfrm>
          <a:prstGeom prst="rect">
            <a:avLst/>
          </a:prstGeom>
        </p:spPr>
        <p:txBody>
          <a:bodyPr anchor="t" rtlCol="false" tIns="0" lIns="0" bIns="0" rIns="0">
            <a:spAutoFit/>
          </a:bodyPr>
          <a:lstStyle/>
          <a:p>
            <a:pPr algn="just">
              <a:lnSpc>
                <a:spcPts val="2999"/>
              </a:lnSpc>
            </a:pPr>
            <a:r>
              <a:rPr lang="en-US" sz="2499">
                <a:solidFill>
                  <a:srgbClr val="FFFFFF"/>
                </a:solidFill>
                <a:latin typeface="DM Sans"/>
                <a:ea typeface="DM Sans"/>
                <a:cs typeface="DM Sans"/>
                <a:sym typeface="DM Sans"/>
              </a:rPr>
              <a:t>Bagaimana penerapan model binomial dalam memodelkan pergerakan harga saham PT Jasa Marga (Persero) Tbk berdasarkan data historis harga saham?</a:t>
            </a:r>
          </a:p>
        </p:txBody>
      </p:sp>
      <p:sp>
        <p:nvSpPr>
          <p:cNvPr name="TextBox 20" id="20"/>
          <p:cNvSpPr txBox="true"/>
          <p:nvPr/>
        </p:nvSpPr>
        <p:spPr>
          <a:xfrm rot="0">
            <a:off x="7106666" y="5489084"/>
            <a:ext cx="3942058" cy="2971800"/>
          </a:xfrm>
          <a:prstGeom prst="rect">
            <a:avLst/>
          </a:prstGeom>
        </p:spPr>
        <p:txBody>
          <a:bodyPr anchor="t" rtlCol="false" tIns="0" lIns="0" bIns="0" rIns="0">
            <a:spAutoFit/>
          </a:bodyPr>
          <a:lstStyle/>
          <a:p>
            <a:pPr algn="just">
              <a:lnSpc>
                <a:spcPts val="2999"/>
              </a:lnSpc>
            </a:pPr>
            <a:r>
              <a:rPr lang="en-US" sz="2499">
                <a:solidFill>
                  <a:srgbClr val="FFFFFF"/>
                </a:solidFill>
                <a:latin typeface="DM Sans"/>
                <a:ea typeface="DM Sans"/>
                <a:cs typeface="DM Sans"/>
                <a:sym typeface="DM Sans"/>
              </a:rPr>
              <a:t>Sejauh mana hasil simulasi pergerakan harga saham yang dihasilkan oleh model binomial mampu merepresentasikan dan mendekati pergerakan harga saham aktual?</a:t>
            </a:r>
          </a:p>
          <a:p>
            <a:pPr algn="just">
              <a:lnSpc>
                <a:spcPts val="2999"/>
              </a:lnSpc>
            </a:pPr>
          </a:p>
        </p:txBody>
      </p:sp>
      <p:sp>
        <p:nvSpPr>
          <p:cNvPr name="TextBox 21" id="21"/>
          <p:cNvSpPr txBox="true"/>
          <p:nvPr/>
        </p:nvSpPr>
        <p:spPr>
          <a:xfrm rot="0">
            <a:off x="13017072" y="5576649"/>
            <a:ext cx="3668705" cy="3714750"/>
          </a:xfrm>
          <a:prstGeom prst="rect">
            <a:avLst/>
          </a:prstGeom>
        </p:spPr>
        <p:txBody>
          <a:bodyPr anchor="t" rtlCol="false" tIns="0" lIns="0" bIns="0" rIns="0">
            <a:spAutoFit/>
          </a:bodyPr>
          <a:lstStyle/>
          <a:p>
            <a:pPr algn="just">
              <a:lnSpc>
                <a:spcPts val="2999"/>
              </a:lnSpc>
            </a:pPr>
            <a:r>
              <a:rPr lang="en-US" sz="2499">
                <a:solidFill>
                  <a:srgbClr val="FFFFFF"/>
                </a:solidFill>
                <a:latin typeface="DM Sans"/>
                <a:ea typeface="DM Sans"/>
                <a:cs typeface="DM Sans"/>
                <a:sym typeface="DM Sans"/>
              </a:rPr>
              <a:t>Metode estimasi parameter apa yang memberikan kinerja simulasi paling baik dalam mendekati harga saham aktual, antara metode Cox–Ross–Rubinstein (CRR) dan pendekatan empiris?</a:t>
            </a:r>
          </a:p>
          <a:p>
            <a:pPr algn="just">
              <a:lnSpc>
                <a:spcPts val="2999"/>
              </a:lnSpc>
            </a:pPr>
          </a:p>
        </p:txBody>
      </p:sp>
      <p:sp>
        <p:nvSpPr>
          <p:cNvPr name="TextBox 22" id="22"/>
          <p:cNvSpPr txBox="true"/>
          <p:nvPr/>
        </p:nvSpPr>
        <p:spPr>
          <a:xfrm rot="0">
            <a:off x="1595570" y="4289234"/>
            <a:ext cx="3668705" cy="742950"/>
          </a:xfrm>
          <a:prstGeom prst="rect">
            <a:avLst/>
          </a:prstGeom>
        </p:spPr>
        <p:txBody>
          <a:bodyPr anchor="t" rtlCol="false" tIns="0" lIns="0" bIns="0" rIns="0">
            <a:spAutoFit/>
          </a:bodyPr>
          <a:lstStyle/>
          <a:p>
            <a:pPr algn="ctr">
              <a:lnSpc>
                <a:spcPts val="2999"/>
              </a:lnSpc>
            </a:pPr>
            <a:r>
              <a:rPr lang="en-US" b="true" sz="2499">
                <a:solidFill>
                  <a:srgbClr val="2F153B"/>
                </a:solidFill>
                <a:latin typeface="DM Sans Bold"/>
                <a:ea typeface="DM Sans Bold"/>
                <a:cs typeface="DM Sans Bold"/>
                <a:sym typeface="DM Sans Bold"/>
              </a:rPr>
              <a:t>Penerapan Model Binomial</a:t>
            </a:r>
          </a:p>
        </p:txBody>
      </p:sp>
      <p:sp>
        <p:nvSpPr>
          <p:cNvPr name="TextBox 23" id="23"/>
          <p:cNvSpPr txBox="true"/>
          <p:nvPr/>
        </p:nvSpPr>
        <p:spPr>
          <a:xfrm rot="0">
            <a:off x="7243342" y="4308284"/>
            <a:ext cx="3668705" cy="742950"/>
          </a:xfrm>
          <a:prstGeom prst="rect">
            <a:avLst/>
          </a:prstGeom>
        </p:spPr>
        <p:txBody>
          <a:bodyPr anchor="t" rtlCol="false" tIns="0" lIns="0" bIns="0" rIns="0">
            <a:spAutoFit/>
          </a:bodyPr>
          <a:lstStyle/>
          <a:p>
            <a:pPr algn="ctr">
              <a:lnSpc>
                <a:spcPts val="2999"/>
              </a:lnSpc>
            </a:pPr>
            <a:r>
              <a:rPr lang="en-US" b="true" sz="2499">
                <a:solidFill>
                  <a:srgbClr val="2F153B"/>
                </a:solidFill>
                <a:latin typeface="DM Sans Bold"/>
                <a:ea typeface="DM Sans Bold"/>
                <a:cs typeface="DM Sans Bold"/>
                <a:sym typeface="DM Sans Bold"/>
              </a:rPr>
              <a:t>Efektivitas Model Binomial</a:t>
            </a:r>
          </a:p>
        </p:txBody>
      </p:sp>
      <p:sp>
        <p:nvSpPr>
          <p:cNvPr name="TextBox 24" id="24"/>
          <p:cNvSpPr txBox="true"/>
          <p:nvPr/>
        </p:nvSpPr>
        <p:spPr>
          <a:xfrm rot="0">
            <a:off x="13017072" y="4395850"/>
            <a:ext cx="3668705" cy="742950"/>
          </a:xfrm>
          <a:prstGeom prst="rect">
            <a:avLst/>
          </a:prstGeom>
        </p:spPr>
        <p:txBody>
          <a:bodyPr anchor="t" rtlCol="false" tIns="0" lIns="0" bIns="0" rIns="0">
            <a:spAutoFit/>
          </a:bodyPr>
          <a:lstStyle/>
          <a:p>
            <a:pPr algn="ctr">
              <a:lnSpc>
                <a:spcPts val="2999"/>
              </a:lnSpc>
            </a:pPr>
            <a:r>
              <a:rPr lang="en-US" b="true" sz="2499">
                <a:solidFill>
                  <a:srgbClr val="2F153B"/>
                </a:solidFill>
                <a:latin typeface="DM Sans Bold"/>
                <a:ea typeface="DM Sans Bold"/>
                <a:cs typeface="DM Sans Bold"/>
                <a:sym typeface="DM Sans Bold"/>
              </a:rPr>
              <a:t>Metode Estimasi Parameter</a:t>
            </a:r>
          </a:p>
        </p:txBody>
      </p:sp>
      <p:grpSp>
        <p:nvGrpSpPr>
          <p:cNvPr name="Group 25" id="25"/>
          <p:cNvGrpSpPr/>
          <p:nvPr/>
        </p:nvGrpSpPr>
        <p:grpSpPr>
          <a:xfrm rot="0">
            <a:off x="3061778" y="2995181"/>
            <a:ext cx="632392" cy="63239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3135266" y="3044647"/>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1</a:t>
            </a:r>
          </a:p>
        </p:txBody>
      </p:sp>
      <p:grpSp>
        <p:nvGrpSpPr>
          <p:cNvPr name="Group 29" id="29"/>
          <p:cNvGrpSpPr/>
          <p:nvPr/>
        </p:nvGrpSpPr>
        <p:grpSpPr>
          <a:xfrm rot="0">
            <a:off x="8761499" y="3079096"/>
            <a:ext cx="632392" cy="63239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8834986" y="3128561"/>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2</a:t>
            </a:r>
          </a:p>
        </p:txBody>
      </p:sp>
      <p:grpSp>
        <p:nvGrpSpPr>
          <p:cNvPr name="Group 33" id="33"/>
          <p:cNvGrpSpPr/>
          <p:nvPr/>
        </p:nvGrpSpPr>
        <p:grpSpPr>
          <a:xfrm rot="0">
            <a:off x="14651691" y="3195236"/>
            <a:ext cx="632392" cy="632392"/>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14725179" y="3244702"/>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17120703" y="3730433"/>
            <a:ext cx="2793531" cy="909168"/>
          </a:xfrm>
          <a:custGeom>
            <a:avLst/>
            <a:gdLst/>
            <a:ahLst/>
            <a:cxnLst/>
            <a:rect r="r" b="b" t="t" l="l"/>
            <a:pathLst>
              <a:path h="909168" w="2793531">
                <a:moveTo>
                  <a:pt x="0" y="0"/>
                </a:moveTo>
                <a:lnTo>
                  <a:pt x="2793531" y="0"/>
                </a:lnTo>
                <a:lnTo>
                  <a:pt x="2793531" y="909168"/>
                </a:lnTo>
                <a:lnTo>
                  <a:pt x="0" y="909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680903" y="416726"/>
            <a:ext cx="8294805" cy="1223334"/>
            <a:chOff x="0" y="0"/>
            <a:chExt cx="2184640" cy="322195"/>
          </a:xfrm>
        </p:grpSpPr>
        <p:sp>
          <p:nvSpPr>
            <p:cNvPr name="Freeform 4" id="4"/>
            <p:cNvSpPr/>
            <p:nvPr/>
          </p:nvSpPr>
          <p:spPr>
            <a:xfrm flipH="false" flipV="false" rot="0">
              <a:off x="0" y="0"/>
              <a:ext cx="2184640" cy="322195"/>
            </a:xfrm>
            <a:custGeom>
              <a:avLst/>
              <a:gdLst/>
              <a:ahLst/>
              <a:cxnLst/>
              <a:rect r="r" b="b" t="t" l="l"/>
              <a:pathLst>
                <a:path h="322195" w="2184640">
                  <a:moveTo>
                    <a:pt x="23334" y="0"/>
                  </a:moveTo>
                  <a:lnTo>
                    <a:pt x="2161306" y="0"/>
                  </a:lnTo>
                  <a:cubicBezTo>
                    <a:pt x="2167495" y="0"/>
                    <a:pt x="2173430" y="2458"/>
                    <a:pt x="2177806" y="6834"/>
                  </a:cubicBezTo>
                  <a:cubicBezTo>
                    <a:pt x="2182182" y="11210"/>
                    <a:pt x="2184640" y="17145"/>
                    <a:pt x="2184640" y="23334"/>
                  </a:cubicBezTo>
                  <a:lnTo>
                    <a:pt x="2184640" y="298861"/>
                  </a:lnTo>
                  <a:cubicBezTo>
                    <a:pt x="2184640" y="305050"/>
                    <a:pt x="2182182" y="310985"/>
                    <a:pt x="2177806" y="315361"/>
                  </a:cubicBezTo>
                  <a:cubicBezTo>
                    <a:pt x="2173430" y="319737"/>
                    <a:pt x="2167495" y="322195"/>
                    <a:pt x="2161306" y="322195"/>
                  </a:cubicBezTo>
                  <a:lnTo>
                    <a:pt x="23334" y="322195"/>
                  </a:lnTo>
                  <a:cubicBezTo>
                    <a:pt x="17145" y="322195"/>
                    <a:pt x="11210" y="319737"/>
                    <a:pt x="6834" y="315361"/>
                  </a:cubicBezTo>
                  <a:cubicBezTo>
                    <a:pt x="2458" y="310985"/>
                    <a:pt x="0" y="305050"/>
                    <a:pt x="0" y="298861"/>
                  </a:cubicBezTo>
                  <a:lnTo>
                    <a:pt x="0" y="23334"/>
                  </a:lnTo>
                  <a:cubicBezTo>
                    <a:pt x="0" y="17145"/>
                    <a:pt x="2458" y="11210"/>
                    <a:pt x="6834" y="6834"/>
                  </a:cubicBezTo>
                  <a:cubicBezTo>
                    <a:pt x="11210" y="2458"/>
                    <a:pt x="17145" y="0"/>
                    <a:pt x="23334" y="0"/>
                  </a:cubicBezTo>
                  <a:close/>
                </a:path>
              </a:pathLst>
            </a:custGeom>
            <a:solidFill>
              <a:srgbClr val="E7BAFA"/>
            </a:solidFill>
          </p:spPr>
        </p:sp>
        <p:sp>
          <p:nvSpPr>
            <p:cNvPr name="TextBox 5" id="5"/>
            <p:cNvSpPr txBox="true"/>
            <p:nvPr/>
          </p:nvSpPr>
          <p:spPr>
            <a:xfrm>
              <a:off x="0" y="-38100"/>
              <a:ext cx="2184640" cy="3602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560275" y="771687"/>
            <a:ext cx="632392" cy="63239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212797" y="1315208"/>
            <a:ext cx="4623578" cy="2810554"/>
          </a:xfrm>
          <a:prstGeom prst="rect">
            <a:avLst/>
          </a:prstGeom>
        </p:spPr>
        <p:txBody>
          <a:bodyPr anchor="t" rtlCol="false" tIns="0" lIns="0" bIns="0" rIns="0">
            <a:spAutoFit/>
          </a:bodyPr>
          <a:lstStyle/>
          <a:p>
            <a:pPr algn="ctr">
              <a:lnSpc>
                <a:spcPts val="9958"/>
              </a:lnSpc>
            </a:pPr>
            <a:r>
              <a:rPr lang="en-US" b="true" sz="9053">
                <a:solidFill>
                  <a:srgbClr val="FFFFFF"/>
                </a:solidFill>
                <a:latin typeface="Cooper Hewitt Bold"/>
                <a:ea typeface="Cooper Hewitt Bold"/>
                <a:cs typeface="Cooper Hewitt Bold"/>
                <a:sym typeface="Cooper Hewitt Bold"/>
              </a:rPr>
              <a:t>TUJUAN</a:t>
            </a:r>
          </a:p>
          <a:p>
            <a:pPr algn="ctr">
              <a:lnSpc>
                <a:spcPts val="9958"/>
              </a:lnSpc>
            </a:pPr>
            <a:r>
              <a:rPr lang="en-US" b="true" sz="9053">
                <a:solidFill>
                  <a:srgbClr val="FFFFFF"/>
                </a:solidFill>
                <a:latin typeface="Cooper Hewitt Bold"/>
                <a:ea typeface="Cooper Hewitt Bold"/>
                <a:cs typeface="Cooper Hewitt Bold"/>
                <a:sym typeface="Cooper Hewitt Bold"/>
              </a:rPr>
              <a:t>  MODEL  </a:t>
            </a:r>
          </a:p>
        </p:txBody>
      </p:sp>
      <p:sp>
        <p:nvSpPr>
          <p:cNvPr name="TextBox 10" id="10"/>
          <p:cNvSpPr txBox="true"/>
          <p:nvPr/>
        </p:nvSpPr>
        <p:spPr>
          <a:xfrm rot="0">
            <a:off x="6633762" y="821153"/>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1</a:t>
            </a:r>
          </a:p>
        </p:txBody>
      </p:sp>
      <p:sp>
        <p:nvSpPr>
          <p:cNvPr name="TextBox 11" id="11"/>
          <p:cNvSpPr txBox="true"/>
          <p:nvPr/>
        </p:nvSpPr>
        <p:spPr>
          <a:xfrm rot="0">
            <a:off x="7920777" y="550123"/>
            <a:ext cx="7815058" cy="923925"/>
          </a:xfrm>
          <a:prstGeom prst="rect">
            <a:avLst/>
          </a:prstGeom>
        </p:spPr>
        <p:txBody>
          <a:bodyPr anchor="t" rtlCol="false" tIns="0" lIns="0" bIns="0" rIns="0">
            <a:spAutoFit/>
          </a:bodyPr>
          <a:lstStyle/>
          <a:p>
            <a:pPr algn="just">
              <a:lnSpc>
                <a:spcPts val="2400"/>
              </a:lnSpc>
            </a:pPr>
            <a:r>
              <a:rPr lang="en-US" b="true" sz="2000">
                <a:solidFill>
                  <a:srgbClr val="2F153B"/>
                </a:solidFill>
                <a:latin typeface="DM Sans Bold"/>
                <a:ea typeface="DM Sans Bold"/>
                <a:cs typeface="DM Sans Bold"/>
                <a:sym typeface="DM Sans Bold"/>
              </a:rPr>
              <a:t>Membangun model binomial untuk merepresentasikan pergerakan harga saham PT Jasa Marga (Persero) Tbk secara diskrit.</a:t>
            </a:r>
          </a:p>
        </p:txBody>
      </p:sp>
      <p:grpSp>
        <p:nvGrpSpPr>
          <p:cNvPr name="Group 12" id="12"/>
          <p:cNvGrpSpPr/>
          <p:nvPr/>
        </p:nvGrpSpPr>
        <p:grpSpPr>
          <a:xfrm rot="0">
            <a:off x="-1609254" y="10033445"/>
            <a:ext cx="21506508" cy="1542089"/>
            <a:chOff x="0" y="0"/>
            <a:chExt cx="5664265" cy="406147"/>
          </a:xfrm>
        </p:grpSpPr>
        <p:sp>
          <p:nvSpPr>
            <p:cNvPr name="Freeform 13" id="13"/>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14" id="14"/>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17624084" y="6466655"/>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7504180" y="201207"/>
            <a:ext cx="668336" cy="878384"/>
          </a:xfrm>
          <a:custGeom>
            <a:avLst/>
            <a:gdLst/>
            <a:ahLst/>
            <a:cxnLst/>
            <a:rect r="r" b="b" t="t" l="l"/>
            <a:pathLst>
              <a:path h="878384" w="668336">
                <a:moveTo>
                  <a:pt x="0" y="0"/>
                </a:moveTo>
                <a:lnTo>
                  <a:pt x="668336" y="0"/>
                </a:lnTo>
                <a:lnTo>
                  <a:pt x="668336" y="878385"/>
                </a:lnTo>
                <a:lnTo>
                  <a:pt x="0" y="878385"/>
                </a:lnTo>
                <a:lnTo>
                  <a:pt x="0" y="0"/>
                </a:lnTo>
                <a:close/>
              </a:path>
            </a:pathLst>
          </a:custGeom>
          <a:blipFill>
            <a:blip r:embed="rId6"/>
            <a:stretch>
              <a:fillRect l="0" t="0" r="0" b="0"/>
            </a:stretch>
          </a:blipFill>
        </p:spPr>
      </p:sp>
      <p:grpSp>
        <p:nvGrpSpPr>
          <p:cNvPr name="Group 17" id="17"/>
          <p:cNvGrpSpPr/>
          <p:nvPr/>
        </p:nvGrpSpPr>
        <p:grpSpPr>
          <a:xfrm rot="0">
            <a:off x="7680903" y="1865594"/>
            <a:ext cx="8294805" cy="1504950"/>
            <a:chOff x="0" y="0"/>
            <a:chExt cx="2184640" cy="396365"/>
          </a:xfrm>
        </p:grpSpPr>
        <p:sp>
          <p:nvSpPr>
            <p:cNvPr name="Freeform 18" id="18"/>
            <p:cNvSpPr/>
            <p:nvPr/>
          </p:nvSpPr>
          <p:spPr>
            <a:xfrm flipH="false" flipV="false" rot="0">
              <a:off x="0" y="0"/>
              <a:ext cx="2184640" cy="396365"/>
            </a:xfrm>
            <a:custGeom>
              <a:avLst/>
              <a:gdLst/>
              <a:ahLst/>
              <a:cxnLst/>
              <a:rect r="r" b="b" t="t" l="l"/>
              <a:pathLst>
                <a:path h="396365" w="2184640">
                  <a:moveTo>
                    <a:pt x="23334" y="0"/>
                  </a:moveTo>
                  <a:lnTo>
                    <a:pt x="2161306" y="0"/>
                  </a:lnTo>
                  <a:cubicBezTo>
                    <a:pt x="2167495" y="0"/>
                    <a:pt x="2173430" y="2458"/>
                    <a:pt x="2177806" y="6834"/>
                  </a:cubicBezTo>
                  <a:cubicBezTo>
                    <a:pt x="2182182" y="11210"/>
                    <a:pt x="2184640" y="17145"/>
                    <a:pt x="2184640" y="23334"/>
                  </a:cubicBezTo>
                  <a:lnTo>
                    <a:pt x="2184640" y="373032"/>
                  </a:lnTo>
                  <a:cubicBezTo>
                    <a:pt x="2184640" y="385919"/>
                    <a:pt x="2174193" y="396365"/>
                    <a:pt x="2161306" y="396365"/>
                  </a:cubicBezTo>
                  <a:lnTo>
                    <a:pt x="23334" y="396365"/>
                  </a:lnTo>
                  <a:cubicBezTo>
                    <a:pt x="17145" y="396365"/>
                    <a:pt x="11210" y="393907"/>
                    <a:pt x="6834" y="389531"/>
                  </a:cubicBezTo>
                  <a:cubicBezTo>
                    <a:pt x="2458" y="385155"/>
                    <a:pt x="0" y="379220"/>
                    <a:pt x="0" y="373032"/>
                  </a:cubicBezTo>
                  <a:lnTo>
                    <a:pt x="0" y="23334"/>
                  </a:lnTo>
                  <a:cubicBezTo>
                    <a:pt x="0" y="17145"/>
                    <a:pt x="2458" y="11210"/>
                    <a:pt x="6834" y="6834"/>
                  </a:cubicBezTo>
                  <a:cubicBezTo>
                    <a:pt x="11210" y="2458"/>
                    <a:pt x="17145" y="0"/>
                    <a:pt x="23334" y="0"/>
                  </a:cubicBezTo>
                  <a:close/>
                </a:path>
              </a:pathLst>
            </a:custGeom>
            <a:solidFill>
              <a:srgbClr val="E7BAFA"/>
            </a:solidFill>
          </p:spPr>
        </p:sp>
        <p:sp>
          <p:nvSpPr>
            <p:cNvPr name="TextBox 19" id="19"/>
            <p:cNvSpPr txBox="true"/>
            <p:nvPr/>
          </p:nvSpPr>
          <p:spPr>
            <a:xfrm>
              <a:off x="0" y="-38100"/>
              <a:ext cx="2184640" cy="434465"/>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6560275" y="2301873"/>
            <a:ext cx="632392" cy="63239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6633762" y="2351339"/>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2</a:t>
            </a:r>
          </a:p>
        </p:txBody>
      </p:sp>
      <p:sp>
        <p:nvSpPr>
          <p:cNvPr name="TextBox 24" id="24"/>
          <p:cNvSpPr txBox="true"/>
          <p:nvPr/>
        </p:nvSpPr>
        <p:spPr>
          <a:xfrm rot="0">
            <a:off x="7920777" y="1982205"/>
            <a:ext cx="7815058" cy="1514475"/>
          </a:xfrm>
          <a:prstGeom prst="rect">
            <a:avLst/>
          </a:prstGeom>
        </p:spPr>
        <p:txBody>
          <a:bodyPr anchor="t" rtlCol="false" tIns="0" lIns="0" bIns="0" rIns="0">
            <a:spAutoFit/>
          </a:bodyPr>
          <a:lstStyle/>
          <a:p>
            <a:pPr algn="just">
              <a:lnSpc>
                <a:spcPts val="2400"/>
              </a:lnSpc>
            </a:pPr>
            <a:r>
              <a:rPr lang="en-US" b="true" sz="2000">
                <a:solidFill>
                  <a:srgbClr val="2F153B"/>
                </a:solidFill>
                <a:latin typeface="DM Sans Bold"/>
                <a:ea typeface="DM Sans Bold"/>
                <a:cs typeface="DM Sans Bold"/>
                <a:sym typeface="DM Sans Bold"/>
              </a:rPr>
              <a:t>Mengestimasi parameter model binomial, yaitu faktor kenaikan harga (</a:t>
            </a:r>
            <a:r>
              <a:rPr lang="en-US" b="true" sz="2000" i="true">
                <a:solidFill>
                  <a:srgbClr val="2F153B"/>
                </a:solidFill>
                <a:latin typeface="DM Sans Bold Italics"/>
                <a:ea typeface="DM Sans Bold Italics"/>
                <a:cs typeface="DM Sans Bold Italics"/>
                <a:sym typeface="DM Sans Bold Italics"/>
              </a:rPr>
              <a:t>u</a:t>
            </a:r>
            <a:r>
              <a:rPr lang="en-US" b="true" sz="2000">
                <a:solidFill>
                  <a:srgbClr val="2F153B"/>
                </a:solidFill>
                <a:latin typeface="DM Sans Bold"/>
                <a:ea typeface="DM Sans Bold"/>
                <a:cs typeface="DM Sans Bold"/>
                <a:sym typeface="DM Sans Bold"/>
              </a:rPr>
              <a:t>), faktor penurunan harga (</a:t>
            </a:r>
            <a:r>
              <a:rPr lang="en-US" b="true" sz="2000" i="true">
                <a:solidFill>
                  <a:srgbClr val="2F153B"/>
                </a:solidFill>
                <a:latin typeface="DM Sans Bold Italics"/>
                <a:ea typeface="DM Sans Bold Italics"/>
                <a:cs typeface="DM Sans Bold Italics"/>
                <a:sym typeface="DM Sans Bold Italics"/>
              </a:rPr>
              <a:t>d</a:t>
            </a:r>
            <a:r>
              <a:rPr lang="en-US" b="true" sz="2000">
                <a:solidFill>
                  <a:srgbClr val="2F153B"/>
                </a:solidFill>
                <a:latin typeface="DM Sans Bold"/>
                <a:ea typeface="DM Sans Bold"/>
                <a:cs typeface="DM Sans Bold"/>
                <a:sym typeface="DM Sans Bold"/>
              </a:rPr>
              <a:t>), dan probabilitas kenaikan harga (</a:t>
            </a:r>
            <a:r>
              <a:rPr lang="en-US" b="true" sz="2000" i="true">
                <a:solidFill>
                  <a:srgbClr val="2F153B"/>
                </a:solidFill>
                <a:latin typeface="DM Sans Bold Italics"/>
                <a:ea typeface="DM Sans Bold Italics"/>
                <a:cs typeface="DM Sans Bold Italics"/>
                <a:sym typeface="DM Sans Bold Italics"/>
              </a:rPr>
              <a:t>p</a:t>
            </a:r>
            <a:r>
              <a:rPr lang="en-US" b="true" sz="2000">
                <a:solidFill>
                  <a:srgbClr val="2F153B"/>
                </a:solidFill>
                <a:latin typeface="DM Sans Bold"/>
                <a:ea typeface="DM Sans Bold"/>
                <a:cs typeface="DM Sans Bold"/>
                <a:sym typeface="DM Sans Bold"/>
              </a:rPr>
              <a:t>), menggunakan pendekatan Cox–Ross–Rubinstein (CRR) dan pendekatan empiris.</a:t>
            </a:r>
          </a:p>
          <a:p>
            <a:pPr algn="just">
              <a:lnSpc>
                <a:spcPts val="2280"/>
              </a:lnSpc>
            </a:pPr>
          </a:p>
        </p:txBody>
      </p:sp>
      <p:grpSp>
        <p:nvGrpSpPr>
          <p:cNvPr name="Group 25" id="25"/>
          <p:cNvGrpSpPr/>
          <p:nvPr/>
        </p:nvGrpSpPr>
        <p:grpSpPr>
          <a:xfrm rot="0">
            <a:off x="6560275" y="3798988"/>
            <a:ext cx="632392" cy="63239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6633762" y="3848454"/>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3</a:t>
            </a:r>
          </a:p>
        </p:txBody>
      </p:sp>
      <p:grpSp>
        <p:nvGrpSpPr>
          <p:cNvPr name="Group 29" id="29"/>
          <p:cNvGrpSpPr/>
          <p:nvPr/>
        </p:nvGrpSpPr>
        <p:grpSpPr>
          <a:xfrm rot="0">
            <a:off x="7680903" y="3658605"/>
            <a:ext cx="8294805" cy="930605"/>
            <a:chOff x="0" y="0"/>
            <a:chExt cx="2184640" cy="245098"/>
          </a:xfrm>
        </p:grpSpPr>
        <p:sp>
          <p:nvSpPr>
            <p:cNvPr name="Freeform 30" id="30"/>
            <p:cNvSpPr/>
            <p:nvPr/>
          </p:nvSpPr>
          <p:spPr>
            <a:xfrm flipH="false" flipV="false" rot="0">
              <a:off x="0" y="0"/>
              <a:ext cx="2184640" cy="245098"/>
            </a:xfrm>
            <a:custGeom>
              <a:avLst/>
              <a:gdLst/>
              <a:ahLst/>
              <a:cxnLst/>
              <a:rect r="r" b="b" t="t" l="l"/>
              <a:pathLst>
                <a:path h="245098" w="2184640">
                  <a:moveTo>
                    <a:pt x="23334" y="0"/>
                  </a:moveTo>
                  <a:lnTo>
                    <a:pt x="2161306" y="0"/>
                  </a:lnTo>
                  <a:cubicBezTo>
                    <a:pt x="2167495" y="0"/>
                    <a:pt x="2173430" y="2458"/>
                    <a:pt x="2177806" y="6834"/>
                  </a:cubicBezTo>
                  <a:cubicBezTo>
                    <a:pt x="2182182" y="11210"/>
                    <a:pt x="2184640" y="17145"/>
                    <a:pt x="2184640" y="23334"/>
                  </a:cubicBezTo>
                  <a:lnTo>
                    <a:pt x="2184640" y="221764"/>
                  </a:lnTo>
                  <a:cubicBezTo>
                    <a:pt x="2184640" y="227952"/>
                    <a:pt x="2182182" y="233887"/>
                    <a:pt x="2177806" y="238263"/>
                  </a:cubicBezTo>
                  <a:cubicBezTo>
                    <a:pt x="2173430" y="242639"/>
                    <a:pt x="2167495" y="245098"/>
                    <a:pt x="2161306" y="245098"/>
                  </a:cubicBezTo>
                  <a:lnTo>
                    <a:pt x="23334" y="245098"/>
                  </a:lnTo>
                  <a:cubicBezTo>
                    <a:pt x="10447" y="245098"/>
                    <a:pt x="0" y="234651"/>
                    <a:pt x="0" y="221764"/>
                  </a:cubicBezTo>
                  <a:lnTo>
                    <a:pt x="0" y="23334"/>
                  </a:lnTo>
                  <a:cubicBezTo>
                    <a:pt x="0" y="17145"/>
                    <a:pt x="2458" y="11210"/>
                    <a:pt x="6834" y="6834"/>
                  </a:cubicBezTo>
                  <a:cubicBezTo>
                    <a:pt x="11210" y="2458"/>
                    <a:pt x="17145" y="0"/>
                    <a:pt x="23334" y="0"/>
                  </a:cubicBezTo>
                  <a:close/>
                </a:path>
              </a:pathLst>
            </a:custGeom>
            <a:solidFill>
              <a:srgbClr val="E7BAFA"/>
            </a:solidFill>
          </p:spPr>
        </p:sp>
        <p:sp>
          <p:nvSpPr>
            <p:cNvPr name="TextBox 31" id="31"/>
            <p:cNvSpPr txBox="true"/>
            <p:nvPr/>
          </p:nvSpPr>
          <p:spPr>
            <a:xfrm>
              <a:off x="0" y="-38100"/>
              <a:ext cx="2184640" cy="283198"/>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7920777" y="3792002"/>
            <a:ext cx="7815058" cy="619125"/>
          </a:xfrm>
          <a:prstGeom prst="rect">
            <a:avLst/>
          </a:prstGeom>
        </p:spPr>
        <p:txBody>
          <a:bodyPr anchor="t" rtlCol="false" tIns="0" lIns="0" bIns="0" rIns="0">
            <a:spAutoFit/>
          </a:bodyPr>
          <a:lstStyle/>
          <a:p>
            <a:pPr algn="just">
              <a:lnSpc>
                <a:spcPts val="2400"/>
              </a:lnSpc>
            </a:pPr>
            <a:r>
              <a:rPr lang="en-US" b="true" sz="2000">
                <a:solidFill>
                  <a:srgbClr val="2F153B"/>
                </a:solidFill>
                <a:latin typeface="DM Sans Bold"/>
                <a:ea typeface="DM Sans Bold"/>
                <a:cs typeface="DM Sans Bold"/>
                <a:sym typeface="DM Sans Bold"/>
              </a:rPr>
              <a:t>Membentuk pohon binomial harga saham berdasarkan parameter yang telah diestimasi.</a:t>
            </a:r>
          </a:p>
        </p:txBody>
      </p:sp>
      <p:grpSp>
        <p:nvGrpSpPr>
          <p:cNvPr name="Group 33" id="33"/>
          <p:cNvGrpSpPr/>
          <p:nvPr/>
        </p:nvGrpSpPr>
        <p:grpSpPr>
          <a:xfrm rot="0">
            <a:off x="2149329" y="5484561"/>
            <a:ext cx="8294805" cy="1153544"/>
            <a:chOff x="0" y="0"/>
            <a:chExt cx="2184640" cy="303814"/>
          </a:xfrm>
        </p:grpSpPr>
        <p:sp>
          <p:nvSpPr>
            <p:cNvPr name="Freeform 34" id="34"/>
            <p:cNvSpPr/>
            <p:nvPr/>
          </p:nvSpPr>
          <p:spPr>
            <a:xfrm flipH="false" flipV="false" rot="0">
              <a:off x="0" y="0"/>
              <a:ext cx="2184640" cy="303814"/>
            </a:xfrm>
            <a:custGeom>
              <a:avLst/>
              <a:gdLst/>
              <a:ahLst/>
              <a:cxnLst/>
              <a:rect r="r" b="b" t="t" l="l"/>
              <a:pathLst>
                <a:path h="303814" w="2184640">
                  <a:moveTo>
                    <a:pt x="23334" y="0"/>
                  </a:moveTo>
                  <a:lnTo>
                    <a:pt x="2161306" y="0"/>
                  </a:lnTo>
                  <a:cubicBezTo>
                    <a:pt x="2167495" y="0"/>
                    <a:pt x="2173430" y="2458"/>
                    <a:pt x="2177806" y="6834"/>
                  </a:cubicBezTo>
                  <a:cubicBezTo>
                    <a:pt x="2182182" y="11210"/>
                    <a:pt x="2184640" y="17145"/>
                    <a:pt x="2184640" y="23334"/>
                  </a:cubicBezTo>
                  <a:lnTo>
                    <a:pt x="2184640" y="280481"/>
                  </a:lnTo>
                  <a:cubicBezTo>
                    <a:pt x="2184640" y="293367"/>
                    <a:pt x="2174193" y="303814"/>
                    <a:pt x="2161306" y="303814"/>
                  </a:cubicBezTo>
                  <a:lnTo>
                    <a:pt x="23334" y="303814"/>
                  </a:lnTo>
                  <a:cubicBezTo>
                    <a:pt x="17145" y="303814"/>
                    <a:pt x="11210" y="301356"/>
                    <a:pt x="6834" y="296980"/>
                  </a:cubicBezTo>
                  <a:cubicBezTo>
                    <a:pt x="2458" y="292604"/>
                    <a:pt x="0" y="286669"/>
                    <a:pt x="0" y="280481"/>
                  </a:cubicBezTo>
                  <a:lnTo>
                    <a:pt x="0" y="23334"/>
                  </a:lnTo>
                  <a:cubicBezTo>
                    <a:pt x="0" y="17145"/>
                    <a:pt x="2458" y="11210"/>
                    <a:pt x="6834" y="6834"/>
                  </a:cubicBezTo>
                  <a:cubicBezTo>
                    <a:pt x="11210" y="2458"/>
                    <a:pt x="17145" y="0"/>
                    <a:pt x="23334" y="0"/>
                  </a:cubicBezTo>
                  <a:close/>
                </a:path>
              </a:pathLst>
            </a:custGeom>
            <a:solidFill>
              <a:srgbClr val="E7BAFA"/>
            </a:solidFill>
          </p:spPr>
        </p:sp>
        <p:sp>
          <p:nvSpPr>
            <p:cNvPr name="TextBox 35" id="35"/>
            <p:cNvSpPr txBox="true"/>
            <p:nvPr/>
          </p:nvSpPr>
          <p:spPr>
            <a:xfrm>
              <a:off x="0" y="-38100"/>
              <a:ext cx="2184640" cy="341914"/>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028700" y="5772847"/>
            <a:ext cx="632392" cy="632392"/>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1102188" y="5826427"/>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1</a:t>
            </a:r>
          </a:p>
        </p:txBody>
      </p:sp>
      <p:sp>
        <p:nvSpPr>
          <p:cNvPr name="TextBox 40" id="40"/>
          <p:cNvSpPr txBox="true"/>
          <p:nvPr/>
        </p:nvSpPr>
        <p:spPr>
          <a:xfrm rot="0">
            <a:off x="2389202" y="5551282"/>
            <a:ext cx="7815058" cy="1257300"/>
          </a:xfrm>
          <a:prstGeom prst="rect">
            <a:avLst/>
          </a:prstGeom>
        </p:spPr>
        <p:txBody>
          <a:bodyPr anchor="t" rtlCol="false" tIns="0" lIns="0" bIns="0" rIns="0">
            <a:spAutoFit/>
          </a:bodyPr>
          <a:lstStyle/>
          <a:p>
            <a:pPr algn="just">
              <a:lnSpc>
                <a:spcPts val="2400"/>
              </a:lnSpc>
            </a:pPr>
            <a:r>
              <a:rPr lang="en-US" b="true" sz="2000">
                <a:solidFill>
                  <a:srgbClr val="2F153B"/>
                </a:solidFill>
                <a:latin typeface="DM Sans Bold"/>
                <a:ea typeface="DM Sans Bold"/>
                <a:cs typeface="DM Sans Bold"/>
                <a:sym typeface="DM Sans Bold"/>
              </a:rPr>
              <a:t>Melakukan simulasi Monte Carlo untuk memperoleh gambaran pergerakan harga saham PT Jasa Marga (Persero) Tbk pada periode waktu mendatang.</a:t>
            </a:r>
          </a:p>
          <a:p>
            <a:pPr algn="just">
              <a:lnSpc>
                <a:spcPts val="2640"/>
              </a:lnSpc>
            </a:pPr>
          </a:p>
        </p:txBody>
      </p:sp>
      <p:grpSp>
        <p:nvGrpSpPr>
          <p:cNvPr name="Group 41" id="41"/>
          <p:cNvGrpSpPr/>
          <p:nvPr/>
        </p:nvGrpSpPr>
        <p:grpSpPr>
          <a:xfrm rot="0">
            <a:off x="2149329" y="6918505"/>
            <a:ext cx="8294805" cy="1068671"/>
            <a:chOff x="0" y="0"/>
            <a:chExt cx="2184640" cy="281461"/>
          </a:xfrm>
        </p:grpSpPr>
        <p:sp>
          <p:nvSpPr>
            <p:cNvPr name="Freeform 42" id="42"/>
            <p:cNvSpPr/>
            <p:nvPr/>
          </p:nvSpPr>
          <p:spPr>
            <a:xfrm flipH="false" flipV="false" rot="0">
              <a:off x="0" y="0"/>
              <a:ext cx="2184640" cy="281461"/>
            </a:xfrm>
            <a:custGeom>
              <a:avLst/>
              <a:gdLst/>
              <a:ahLst/>
              <a:cxnLst/>
              <a:rect r="r" b="b" t="t" l="l"/>
              <a:pathLst>
                <a:path h="281461" w="2184640">
                  <a:moveTo>
                    <a:pt x="23334" y="0"/>
                  </a:moveTo>
                  <a:lnTo>
                    <a:pt x="2161306" y="0"/>
                  </a:lnTo>
                  <a:cubicBezTo>
                    <a:pt x="2167495" y="0"/>
                    <a:pt x="2173430" y="2458"/>
                    <a:pt x="2177806" y="6834"/>
                  </a:cubicBezTo>
                  <a:cubicBezTo>
                    <a:pt x="2182182" y="11210"/>
                    <a:pt x="2184640" y="17145"/>
                    <a:pt x="2184640" y="23334"/>
                  </a:cubicBezTo>
                  <a:lnTo>
                    <a:pt x="2184640" y="258127"/>
                  </a:lnTo>
                  <a:cubicBezTo>
                    <a:pt x="2184640" y="264316"/>
                    <a:pt x="2182182" y="270251"/>
                    <a:pt x="2177806" y="274626"/>
                  </a:cubicBezTo>
                  <a:cubicBezTo>
                    <a:pt x="2173430" y="279002"/>
                    <a:pt x="2167495" y="281461"/>
                    <a:pt x="2161306" y="281461"/>
                  </a:cubicBezTo>
                  <a:lnTo>
                    <a:pt x="23334" y="281461"/>
                  </a:lnTo>
                  <a:cubicBezTo>
                    <a:pt x="10447" y="281461"/>
                    <a:pt x="0" y="271014"/>
                    <a:pt x="0" y="258127"/>
                  </a:cubicBezTo>
                  <a:lnTo>
                    <a:pt x="0" y="23334"/>
                  </a:lnTo>
                  <a:cubicBezTo>
                    <a:pt x="0" y="17145"/>
                    <a:pt x="2458" y="11210"/>
                    <a:pt x="6834" y="6834"/>
                  </a:cubicBezTo>
                  <a:cubicBezTo>
                    <a:pt x="11210" y="2458"/>
                    <a:pt x="17145" y="0"/>
                    <a:pt x="23334" y="0"/>
                  </a:cubicBezTo>
                  <a:close/>
                </a:path>
              </a:pathLst>
            </a:custGeom>
            <a:solidFill>
              <a:srgbClr val="E7BAFA"/>
            </a:solidFill>
          </p:spPr>
        </p:sp>
        <p:sp>
          <p:nvSpPr>
            <p:cNvPr name="TextBox 43" id="43"/>
            <p:cNvSpPr txBox="true"/>
            <p:nvPr/>
          </p:nvSpPr>
          <p:spPr>
            <a:xfrm>
              <a:off x="0" y="-38100"/>
              <a:ext cx="2184640" cy="319561"/>
            </a:xfrm>
            <a:prstGeom prst="rect">
              <a:avLst/>
            </a:prstGeom>
          </p:spPr>
          <p:txBody>
            <a:bodyPr anchor="ctr" rtlCol="false" tIns="50800" lIns="50800" bIns="50800" rIns="50800"/>
            <a:lstStyle/>
            <a:p>
              <a:pPr algn="ctr">
                <a:lnSpc>
                  <a:spcPts val="2659"/>
                </a:lnSpc>
              </a:pPr>
            </a:p>
          </p:txBody>
        </p:sp>
      </p:grpSp>
      <p:grpSp>
        <p:nvGrpSpPr>
          <p:cNvPr name="Group 44" id="44"/>
          <p:cNvGrpSpPr/>
          <p:nvPr/>
        </p:nvGrpSpPr>
        <p:grpSpPr>
          <a:xfrm rot="0">
            <a:off x="1028700" y="7112362"/>
            <a:ext cx="632392" cy="632392"/>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7" id="47"/>
          <p:cNvSpPr txBox="true"/>
          <p:nvPr/>
        </p:nvSpPr>
        <p:spPr>
          <a:xfrm rot="0">
            <a:off x="1102188" y="7161828"/>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2</a:t>
            </a:r>
          </a:p>
        </p:txBody>
      </p:sp>
      <p:sp>
        <p:nvSpPr>
          <p:cNvPr name="TextBox 48" id="48"/>
          <p:cNvSpPr txBox="true"/>
          <p:nvPr/>
        </p:nvSpPr>
        <p:spPr>
          <a:xfrm rot="0">
            <a:off x="2389202" y="6986116"/>
            <a:ext cx="7815058" cy="923925"/>
          </a:xfrm>
          <a:prstGeom prst="rect">
            <a:avLst/>
          </a:prstGeom>
        </p:spPr>
        <p:txBody>
          <a:bodyPr anchor="t" rtlCol="false" tIns="0" lIns="0" bIns="0" rIns="0">
            <a:spAutoFit/>
          </a:bodyPr>
          <a:lstStyle/>
          <a:p>
            <a:pPr algn="just">
              <a:lnSpc>
                <a:spcPts val="2400"/>
              </a:lnSpc>
            </a:pPr>
            <a:r>
              <a:rPr lang="en-US" b="true" sz="2000">
                <a:solidFill>
                  <a:srgbClr val="2F153B"/>
                </a:solidFill>
                <a:latin typeface="DM Sans Bold"/>
                <a:ea typeface="DM Sans Bold"/>
                <a:cs typeface="DM Sans Bold"/>
                <a:sym typeface="DM Sans Bold"/>
              </a:rPr>
              <a:t>Menghitung nilai harga saham rata-rata hasil simulasi serta menentukan selang kepercayaan 95% pada setiap interval waktu.</a:t>
            </a:r>
          </a:p>
        </p:txBody>
      </p:sp>
      <p:grpSp>
        <p:nvGrpSpPr>
          <p:cNvPr name="Group 49" id="49"/>
          <p:cNvGrpSpPr/>
          <p:nvPr/>
        </p:nvGrpSpPr>
        <p:grpSpPr>
          <a:xfrm rot="0">
            <a:off x="1028700" y="8331079"/>
            <a:ext cx="632392" cy="632392"/>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51" id="5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2" id="52"/>
          <p:cNvSpPr txBox="true"/>
          <p:nvPr/>
        </p:nvSpPr>
        <p:spPr>
          <a:xfrm rot="0">
            <a:off x="1102188" y="8380545"/>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3</a:t>
            </a:r>
          </a:p>
        </p:txBody>
      </p:sp>
      <p:grpSp>
        <p:nvGrpSpPr>
          <p:cNvPr name="Group 53" id="53"/>
          <p:cNvGrpSpPr/>
          <p:nvPr/>
        </p:nvGrpSpPr>
        <p:grpSpPr>
          <a:xfrm rot="0">
            <a:off x="2149329" y="8267489"/>
            <a:ext cx="8294805" cy="1033196"/>
            <a:chOff x="0" y="0"/>
            <a:chExt cx="2184640" cy="272118"/>
          </a:xfrm>
        </p:grpSpPr>
        <p:sp>
          <p:nvSpPr>
            <p:cNvPr name="Freeform 54" id="54"/>
            <p:cNvSpPr/>
            <p:nvPr/>
          </p:nvSpPr>
          <p:spPr>
            <a:xfrm flipH="false" flipV="false" rot="0">
              <a:off x="0" y="0"/>
              <a:ext cx="2184640" cy="272118"/>
            </a:xfrm>
            <a:custGeom>
              <a:avLst/>
              <a:gdLst/>
              <a:ahLst/>
              <a:cxnLst/>
              <a:rect r="r" b="b" t="t" l="l"/>
              <a:pathLst>
                <a:path h="272118" w="2184640">
                  <a:moveTo>
                    <a:pt x="23334" y="0"/>
                  </a:moveTo>
                  <a:lnTo>
                    <a:pt x="2161306" y="0"/>
                  </a:lnTo>
                  <a:cubicBezTo>
                    <a:pt x="2167495" y="0"/>
                    <a:pt x="2173430" y="2458"/>
                    <a:pt x="2177806" y="6834"/>
                  </a:cubicBezTo>
                  <a:cubicBezTo>
                    <a:pt x="2182182" y="11210"/>
                    <a:pt x="2184640" y="17145"/>
                    <a:pt x="2184640" y="23334"/>
                  </a:cubicBezTo>
                  <a:lnTo>
                    <a:pt x="2184640" y="248784"/>
                  </a:lnTo>
                  <a:cubicBezTo>
                    <a:pt x="2184640" y="261671"/>
                    <a:pt x="2174193" y="272118"/>
                    <a:pt x="2161306" y="272118"/>
                  </a:cubicBezTo>
                  <a:lnTo>
                    <a:pt x="23334" y="272118"/>
                  </a:lnTo>
                  <a:cubicBezTo>
                    <a:pt x="17145" y="272118"/>
                    <a:pt x="11210" y="269659"/>
                    <a:pt x="6834" y="265283"/>
                  </a:cubicBezTo>
                  <a:cubicBezTo>
                    <a:pt x="2458" y="260907"/>
                    <a:pt x="0" y="254972"/>
                    <a:pt x="0" y="248784"/>
                  </a:cubicBezTo>
                  <a:lnTo>
                    <a:pt x="0" y="23334"/>
                  </a:lnTo>
                  <a:cubicBezTo>
                    <a:pt x="0" y="17145"/>
                    <a:pt x="2458" y="11210"/>
                    <a:pt x="6834" y="6834"/>
                  </a:cubicBezTo>
                  <a:cubicBezTo>
                    <a:pt x="11210" y="2458"/>
                    <a:pt x="17145" y="0"/>
                    <a:pt x="23334" y="0"/>
                  </a:cubicBezTo>
                  <a:close/>
                </a:path>
              </a:pathLst>
            </a:custGeom>
            <a:solidFill>
              <a:srgbClr val="E7BAFA"/>
            </a:solidFill>
          </p:spPr>
        </p:sp>
        <p:sp>
          <p:nvSpPr>
            <p:cNvPr name="TextBox 55" id="55"/>
            <p:cNvSpPr txBox="true"/>
            <p:nvPr/>
          </p:nvSpPr>
          <p:spPr>
            <a:xfrm>
              <a:off x="0" y="-38100"/>
              <a:ext cx="2184640" cy="310218"/>
            </a:xfrm>
            <a:prstGeom prst="rect">
              <a:avLst/>
            </a:prstGeom>
          </p:spPr>
          <p:txBody>
            <a:bodyPr anchor="ctr" rtlCol="false" tIns="50800" lIns="50800" bIns="50800" rIns="50800"/>
            <a:lstStyle/>
            <a:p>
              <a:pPr algn="ctr">
                <a:lnSpc>
                  <a:spcPts val="2659"/>
                </a:lnSpc>
              </a:pPr>
            </a:p>
          </p:txBody>
        </p:sp>
      </p:grpSp>
      <p:sp>
        <p:nvSpPr>
          <p:cNvPr name="TextBox 56" id="56"/>
          <p:cNvSpPr txBox="true"/>
          <p:nvPr/>
        </p:nvSpPr>
        <p:spPr>
          <a:xfrm rot="0">
            <a:off x="2389202" y="8324093"/>
            <a:ext cx="7815058" cy="1228725"/>
          </a:xfrm>
          <a:prstGeom prst="rect">
            <a:avLst/>
          </a:prstGeom>
        </p:spPr>
        <p:txBody>
          <a:bodyPr anchor="t" rtlCol="false" tIns="0" lIns="0" bIns="0" rIns="0">
            <a:spAutoFit/>
          </a:bodyPr>
          <a:lstStyle/>
          <a:p>
            <a:pPr algn="just">
              <a:lnSpc>
                <a:spcPts val="2400"/>
              </a:lnSpc>
            </a:pPr>
            <a:r>
              <a:rPr lang="en-US" b="true" sz="2000">
                <a:solidFill>
                  <a:srgbClr val="2F153B"/>
                </a:solidFill>
                <a:latin typeface="DM Sans Bold"/>
                <a:ea typeface="DM Sans Bold"/>
                <a:cs typeface="DM Sans Bold"/>
                <a:sym typeface="DM Sans Bold"/>
              </a:rPr>
              <a:t>Membandingkan hasil simulasi dengan data harga saham aktual untuk mengevaluasi kinerja model binomial berdasarkan metrik kesalahan tertentu.</a:t>
            </a:r>
          </a:p>
          <a:p>
            <a:pPr algn="just">
              <a:lnSpc>
                <a:spcPts val="2400"/>
              </a:lnSpc>
            </a:pPr>
          </a:p>
        </p:txBody>
      </p:sp>
      <p:sp>
        <p:nvSpPr>
          <p:cNvPr name="TextBox 57" id="57"/>
          <p:cNvSpPr txBox="true"/>
          <p:nvPr/>
        </p:nvSpPr>
        <p:spPr>
          <a:xfrm rot="0">
            <a:off x="11006109" y="5961369"/>
            <a:ext cx="5800025" cy="2810554"/>
          </a:xfrm>
          <a:prstGeom prst="rect">
            <a:avLst/>
          </a:prstGeom>
        </p:spPr>
        <p:txBody>
          <a:bodyPr anchor="t" rtlCol="false" tIns="0" lIns="0" bIns="0" rIns="0">
            <a:spAutoFit/>
          </a:bodyPr>
          <a:lstStyle/>
          <a:p>
            <a:pPr algn="l">
              <a:lnSpc>
                <a:spcPts val="9958"/>
              </a:lnSpc>
            </a:pPr>
            <a:r>
              <a:rPr lang="en-US" sz="9053" b="true">
                <a:solidFill>
                  <a:srgbClr val="FFFFFF"/>
                </a:solidFill>
                <a:latin typeface="Cooper Hewitt Bold"/>
                <a:ea typeface="Cooper Hewitt Bold"/>
                <a:cs typeface="Cooper Hewitt Bold"/>
                <a:sym typeface="Cooper Hewitt Bold"/>
              </a:rPr>
              <a:t>   TUJUAN</a:t>
            </a:r>
          </a:p>
          <a:p>
            <a:pPr algn="ctr">
              <a:lnSpc>
                <a:spcPts val="9958"/>
              </a:lnSpc>
            </a:pPr>
            <a:r>
              <a:rPr lang="en-US" b="true" sz="9053">
                <a:solidFill>
                  <a:srgbClr val="FFFFFF"/>
                </a:solidFill>
                <a:latin typeface="Cooper Hewitt Bold"/>
                <a:ea typeface="Cooper Hewitt Bold"/>
                <a:cs typeface="Cooper Hewitt Bold"/>
                <a:sym typeface="Cooper Hewitt Bold"/>
              </a:rPr>
              <a:t>SIMULASI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6898486" y="3284397"/>
            <a:ext cx="5473468" cy="5800400"/>
          </a:xfrm>
          <a:custGeom>
            <a:avLst/>
            <a:gdLst/>
            <a:ahLst/>
            <a:cxnLst/>
            <a:rect r="r" b="b" t="t" l="l"/>
            <a:pathLst>
              <a:path h="5800400" w="5473468">
                <a:moveTo>
                  <a:pt x="0" y="0"/>
                </a:moveTo>
                <a:lnTo>
                  <a:pt x="5473469" y="0"/>
                </a:lnTo>
                <a:lnTo>
                  <a:pt x="5473469" y="5800400"/>
                </a:lnTo>
                <a:lnTo>
                  <a:pt x="0" y="5800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true" rot="0">
            <a:off x="14421216" y="-671725"/>
            <a:ext cx="9165801" cy="3932962"/>
          </a:xfrm>
          <a:custGeom>
            <a:avLst/>
            <a:gdLst/>
            <a:ahLst/>
            <a:cxnLst/>
            <a:rect r="r" b="b" t="t" l="l"/>
            <a:pathLst>
              <a:path h="3932962" w="9165801">
                <a:moveTo>
                  <a:pt x="9165801" y="3932962"/>
                </a:moveTo>
                <a:lnTo>
                  <a:pt x="0" y="3932962"/>
                </a:lnTo>
                <a:lnTo>
                  <a:pt x="0" y="0"/>
                </a:lnTo>
                <a:lnTo>
                  <a:pt x="9165801" y="0"/>
                </a:lnTo>
                <a:lnTo>
                  <a:pt x="9165801" y="3932962"/>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970207" y="5716853"/>
            <a:ext cx="935489" cy="935489"/>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CB35"/>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5725527" y="911855"/>
            <a:ext cx="7036836" cy="1133475"/>
          </a:xfrm>
          <a:prstGeom prst="rect">
            <a:avLst/>
          </a:prstGeom>
        </p:spPr>
        <p:txBody>
          <a:bodyPr anchor="t" rtlCol="false" tIns="0" lIns="0" bIns="0" rIns="0">
            <a:spAutoFit/>
          </a:bodyPr>
          <a:lstStyle/>
          <a:p>
            <a:pPr algn="ctr">
              <a:lnSpc>
                <a:spcPts val="7560"/>
              </a:lnSpc>
            </a:pPr>
            <a:r>
              <a:rPr lang="en-US" b="true" sz="6300">
                <a:solidFill>
                  <a:srgbClr val="FFFFFF"/>
                </a:solidFill>
                <a:latin typeface="Cooper Hewitt Bold"/>
                <a:ea typeface="Cooper Hewitt Bold"/>
                <a:cs typeface="Cooper Hewitt Bold"/>
                <a:sym typeface="Cooper Hewitt Bold"/>
              </a:rPr>
              <a:t>BATASAN MODEL </a:t>
            </a:r>
          </a:p>
        </p:txBody>
      </p:sp>
      <p:sp>
        <p:nvSpPr>
          <p:cNvPr name="TextBox 8" id="8"/>
          <p:cNvSpPr txBox="true"/>
          <p:nvPr/>
        </p:nvSpPr>
        <p:spPr>
          <a:xfrm rot="0">
            <a:off x="2777171" y="5795092"/>
            <a:ext cx="1321623" cy="733425"/>
          </a:xfrm>
          <a:prstGeom prst="rect">
            <a:avLst/>
          </a:prstGeom>
        </p:spPr>
        <p:txBody>
          <a:bodyPr anchor="t" rtlCol="false" tIns="0" lIns="0" bIns="0" rIns="0">
            <a:spAutoFit/>
          </a:bodyPr>
          <a:lstStyle/>
          <a:p>
            <a:pPr algn="ctr">
              <a:lnSpc>
                <a:spcPts val="4800"/>
              </a:lnSpc>
            </a:pPr>
            <a:r>
              <a:rPr lang="en-US" b="true" sz="4000">
                <a:solidFill>
                  <a:srgbClr val="2F153B"/>
                </a:solidFill>
                <a:latin typeface="Cooper Hewitt Bold"/>
                <a:ea typeface="Cooper Hewitt Bold"/>
                <a:cs typeface="Cooper Hewitt Bold"/>
                <a:sym typeface="Cooper Hewitt Bold"/>
              </a:rPr>
              <a:t>1</a:t>
            </a:r>
          </a:p>
        </p:txBody>
      </p:sp>
      <p:grpSp>
        <p:nvGrpSpPr>
          <p:cNvPr name="Group 9" id="9"/>
          <p:cNvGrpSpPr/>
          <p:nvPr/>
        </p:nvGrpSpPr>
        <p:grpSpPr>
          <a:xfrm rot="0">
            <a:off x="-1609254" y="8923263"/>
            <a:ext cx="21506508" cy="2372427"/>
            <a:chOff x="0" y="0"/>
            <a:chExt cx="5664265" cy="624837"/>
          </a:xfrm>
        </p:grpSpPr>
        <p:sp>
          <p:nvSpPr>
            <p:cNvPr name="Freeform 10" id="10"/>
            <p:cNvSpPr/>
            <p:nvPr/>
          </p:nvSpPr>
          <p:spPr>
            <a:xfrm flipH="false" flipV="false" rot="0">
              <a:off x="0" y="0"/>
              <a:ext cx="5664265" cy="624837"/>
            </a:xfrm>
            <a:custGeom>
              <a:avLst/>
              <a:gdLst/>
              <a:ahLst/>
              <a:cxnLst/>
              <a:rect r="r" b="b" t="t" l="l"/>
              <a:pathLst>
                <a:path h="624837" w="5664265">
                  <a:moveTo>
                    <a:pt x="0" y="0"/>
                  </a:moveTo>
                  <a:lnTo>
                    <a:pt x="5664265" y="0"/>
                  </a:lnTo>
                  <a:lnTo>
                    <a:pt x="5664265" y="624837"/>
                  </a:lnTo>
                  <a:lnTo>
                    <a:pt x="0" y="624837"/>
                  </a:lnTo>
                  <a:close/>
                </a:path>
              </a:pathLst>
            </a:custGeom>
            <a:solidFill>
              <a:srgbClr val="FE7FD0"/>
            </a:solidFill>
          </p:spPr>
        </p:sp>
        <p:sp>
          <p:nvSpPr>
            <p:cNvPr name="TextBox 11" id="11"/>
            <p:cNvSpPr txBox="true"/>
            <p:nvPr/>
          </p:nvSpPr>
          <p:spPr>
            <a:xfrm>
              <a:off x="0" y="-38100"/>
              <a:ext cx="5664265" cy="66293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8700" y="6339052"/>
            <a:ext cx="4818566" cy="1746011"/>
            <a:chOff x="0" y="0"/>
            <a:chExt cx="1269087" cy="459855"/>
          </a:xfrm>
        </p:grpSpPr>
        <p:sp>
          <p:nvSpPr>
            <p:cNvPr name="Freeform 13" id="13"/>
            <p:cNvSpPr/>
            <p:nvPr/>
          </p:nvSpPr>
          <p:spPr>
            <a:xfrm flipH="false" flipV="false" rot="0">
              <a:off x="0" y="0"/>
              <a:ext cx="1269087" cy="459855"/>
            </a:xfrm>
            <a:custGeom>
              <a:avLst/>
              <a:gdLst/>
              <a:ahLst/>
              <a:cxnLst/>
              <a:rect r="r" b="b" t="t" l="l"/>
              <a:pathLst>
                <a:path h="459855" w="1269087">
                  <a:moveTo>
                    <a:pt x="38560" y="0"/>
                  </a:moveTo>
                  <a:lnTo>
                    <a:pt x="1230527" y="0"/>
                  </a:lnTo>
                  <a:cubicBezTo>
                    <a:pt x="1251823" y="0"/>
                    <a:pt x="1269087" y="17264"/>
                    <a:pt x="1269087" y="38560"/>
                  </a:cubicBezTo>
                  <a:lnTo>
                    <a:pt x="1269087" y="421294"/>
                  </a:lnTo>
                  <a:cubicBezTo>
                    <a:pt x="1269087" y="431521"/>
                    <a:pt x="1265025" y="441329"/>
                    <a:pt x="1257793" y="448561"/>
                  </a:cubicBezTo>
                  <a:cubicBezTo>
                    <a:pt x="1250562" y="455792"/>
                    <a:pt x="1240754" y="459855"/>
                    <a:pt x="1230527" y="459855"/>
                  </a:cubicBezTo>
                  <a:lnTo>
                    <a:pt x="38560" y="459855"/>
                  </a:lnTo>
                  <a:cubicBezTo>
                    <a:pt x="28334" y="459855"/>
                    <a:pt x="18526" y="455792"/>
                    <a:pt x="11294" y="448561"/>
                  </a:cubicBezTo>
                  <a:cubicBezTo>
                    <a:pt x="4063" y="441329"/>
                    <a:pt x="0" y="431521"/>
                    <a:pt x="0" y="421294"/>
                  </a:cubicBezTo>
                  <a:lnTo>
                    <a:pt x="0" y="38560"/>
                  </a:lnTo>
                  <a:cubicBezTo>
                    <a:pt x="0" y="28334"/>
                    <a:pt x="4063" y="18526"/>
                    <a:pt x="11294" y="11294"/>
                  </a:cubicBezTo>
                  <a:cubicBezTo>
                    <a:pt x="18526" y="4063"/>
                    <a:pt x="28334" y="0"/>
                    <a:pt x="38560" y="0"/>
                  </a:cubicBezTo>
                  <a:close/>
                </a:path>
              </a:pathLst>
            </a:custGeom>
            <a:solidFill>
              <a:srgbClr val="F9CB35"/>
            </a:solidFill>
          </p:spPr>
        </p:sp>
        <p:sp>
          <p:nvSpPr>
            <p:cNvPr name="TextBox 14" id="14"/>
            <p:cNvSpPr txBox="true"/>
            <p:nvPr/>
          </p:nvSpPr>
          <p:spPr>
            <a:xfrm>
              <a:off x="0" y="-38100"/>
              <a:ext cx="1269087" cy="497955"/>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150376" y="6518992"/>
            <a:ext cx="4575151" cy="1343025"/>
          </a:xfrm>
          <a:prstGeom prst="rect">
            <a:avLst/>
          </a:prstGeom>
        </p:spPr>
        <p:txBody>
          <a:bodyPr anchor="t" rtlCol="false" tIns="0" lIns="0" bIns="0" rIns="0">
            <a:spAutoFit/>
          </a:bodyPr>
          <a:lstStyle/>
          <a:p>
            <a:pPr algn="ctr">
              <a:lnSpc>
                <a:spcPts val="2640"/>
              </a:lnSpc>
            </a:pPr>
            <a:r>
              <a:rPr lang="en-US" sz="2200">
                <a:solidFill>
                  <a:srgbClr val="2F153B"/>
                </a:solidFill>
                <a:latin typeface="DM Sans"/>
                <a:ea typeface="DM Sans"/>
                <a:cs typeface="DM Sans"/>
                <a:sym typeface="DM Sans"/>
              </a:rPr>
              <a:t>Data harga saham yang digunakan dalam pemodelan adalah harga penutupan (closing price) saham PT Jasa Marga (Persero) Tbk</a:t>
            </a:r>
          </a:p>
        </p:txBody>
      </p:sp>
      <p:grpSp>
        <p:nvGrpSpPr>
          <p:cNvPr name="Group 16" id="16"/>
          <p:cNvGrpSpPr/>
          <p:nvPr/>
        </p:nvGrpSpPr>
        <p:grpSpPr>
          <a:xfrm rot="0">
            <a:off x="3631019" y="2261330"/>
            <a:ext cx="935489" cy="93548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7FD0"/>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437983" y="2339570"/>
            <a:ext cx="1321623" cy="733425"/>
          </a:xfrm>
          <a:prstGeom prst="rect">
            <a:avLst/>
          </a:prstGeom>
        </p:spPr>
        <p:txBody>
          <a:bodyPr anchor="t" rtlCol="false" tIns="0" lIns="0" bIns="0" rIns="0">
            <a:spAutoFit/>
          </a:bodyPr>
          <a:lstStyle/>
          <a:p>
            <a:pPr algn="ctr">
              <a:lnSpc>
                <a:spcPts val="4800"/>
              </a:lnSpc>
            </a:pPr>
            <a:r>
              <a:rPr lang="en-US" b="true" sz="4000">
                <a:solidFill>
                  <a:srgbClr val="2F153B"/>
                </a:solidFill>
                <a:latin typeface="Cooper Hewitt Bold"/>
                <a:ea typeface="Cooper Hewitt Bold"/>
                <a:cs typeface="Cooper Hewitt Bold"/>
                <a:sym typeface="Cooper Hewitt Bold"/>
              </a:rPr>
              <a:t>2</a:t>
            </a:r>
          </a:p>
        </p:txBody>
      </p:sp>
      <p:grpSp>
        <p:nvGrpSpPr>
          <p:cNvPr name="Group 20" id="20"/>
          <p:cNvGrpSpPr/>
          <p:nvPr/>
        </p:nvGrpSpPr>
        <p:grpSpPr>
          <a:xfrm rot="0">
            <a:off x="1689512" y="2883530"/>
            <a:ext cx="4818566" cy="1998180"/>
            <a:chOff x="0" y="0"/>
            <a:chExt cx="1269087" cy="526270"/>
          </a:xfrm>
        </p:grpSpPr>
        <p:sp>
          <p:nvSpPr>
            <p:cNvPr name="Freeform 21" id="21"/>
            <p:cNvSpPr/>
            <p:nvPr/>
          </p:nvSpPr>
          <p:spPr>
            <a:xfrm flipH="false" flipV="false" rot="0">
              <a:off x="0" y="0"/>
              <a:ext cx="1269087" cy="526270"/>
            </a:xfrm>
            <a:custGeom>
              <a:avLst/>
              <a:gdLst/>
              <a:ahLst/>
              <a:cxnLst/>
              <a:rect r="r" b="b" t="t" l="l"/>
              <a:pathLst>
                <a:path h="526270" w="1269087">
                  <a:moveTo>
                    <a:pt x="38560" y="0"/>
                  </a:moveTo>
                  <a:lnTo>
                    <a:pt x="1230527" y="0"/>
                  </a:lnTo>
                  <a:cubicBezTo>
                    <a:pt x="1251823" y="0"/>
                    <a:pt x="1269087" y="17264"/>
                    <a:pt x="1269087" y="38560"/>
                  </a:cubicBezTo>
                  <a:lnTo>
                    <a:pt x="1269087" y="487709"/>
                  </a:lnTo>
                  <a:cubicBezTo>
                    <a:pt x="1269087" y="497936"/>
                    <a:pt x="1265025" y="507744"/>
                    <a:pt x="1257793" y="514976"/>
                  </a:cubicBezTo>
                  <a:cubicBezTo>
                    <a:pt x="1250562" y="522207"/>
                    <a:pt x="1240754" y="526270"/>
                    <a:pt x="1230527" y="526270"/>
                  </a:cubicBezTo>
                  <a:lnTo>
                    <a:pt x="38560" y="526270"/>
                  </a:lnTo>
                  <a:cubicBezTo>
                    <a:pt x="28334" y="526270"/>
                    <a:pt x="18526" y="522207"/>
                    <a:pt x="11294" y="514976"/>
                  </a:cubicBezTo>
                  <a:cubicBezTo>
                    <a:pt x="4063" y="507744"/>
                    <a:pt x="0" y="497936"/>
                    <a:pt x="0" y="487709"/>
                  </a:cubicBezTo>
                  <a:lnTo>
                    <a:pt x="0" y="38560"/>
                  </a:lnTo>
                  <a:cubicBezTo>
                    <a:pt x="0" y="28334"/>
                    <a:pt x="4063" y="18526"/>
                    <a:pt x="11294" y="11294"/>
                  </a:cubicBezTo>
                  <a:cubicBezTo>
                    <a:pt x="18526" y="4063"/>
                    <a:pt x="28334" y="0"/>
                    <a:pt x="38560" y="0"/>
                  </a:cubicBezTo>
                  <a:close/>
                </a:path>
              </a:pathLst>
            </a:custGeom>
            <a:solidFill>
              <a:srgbClr val="FE7FD0"/>
            </a:solidFill>
          </p:spPr>
        </p:sp>
        <p:sp>
          <p:nvSpPr>
            <p:cNvPr name="TextBox 22" id="22"/>
            <p:cNvSpPr txBox="true"/>
            <p:nvPr/>
          </p:nvSpPr>
          <p:spPr>
            <a:xfrm>
              <a:off x="0" y="-38100"/>
              <a:ext cx="1269087" cy="56437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811188" y="3029833"/>
            <a:ext cx="4575151" cy="1990725"/>
          </a:xfrm>
          <a:prstGeom prst="rect">
            <a:avLst/>
          </a:prstGeom>
        </p:spPr>
        <p:txBody>
          <a:bodyPr anchor="t" rtlCol="false" tIns="0" lIns="0" bIns="0" rIns="0">
            <a:spAutoFit/>
          </a:bodyPr>
          <a:lstStyle/>
          <a:p>
            <a:pPr algn="ctr">
              <a:lnSpc>
                <a:spcPts val="2640"/>
              </a:lnSpc>
            </a:pPr>
            <a:r>
              <a:rPr lang="en-US" sz="2200">
                <a:solidFill>
                  <a:srgbClr val="2F153B"/>
                </a:solidFill>
                <a:latin typeface="DM Sans"/>
                <a:ea typeface="DM Sans"/>
                <a:cs typeface="DM Sans"/>
                <a:sym typeface="DM Sans"/>
              </a:rPr>
              <a:t>Model yang digunakan merupakan model binomial satu aset dengan dua kemungkinan pergerakan harga pada setiap interval waktu, yaitu naik dan turun.</a:t>
            </a:r>
          </a:p>
          <a:p>
            <a:pPr algn="ctr">
              <a:lnSpc>
                <a:spcPts val="2520"/>
              </a:lnSpc>
            </a:pPr>
          </a:p>
        </p:txBody>
      </p:sp>
      <p:grpSp>
        <p:nvGrpSpPr>
          <p:cNvPr name="Group 24" id="24"/>
          <p:cNvGrpSpPr/>
          <p:nvPr/>
        </p:nvGrpSpPr>
        <p:grpSpPr>
          <a:xfrm rot="0">
            <a:off x="13953440" y="2435542"/>
            <a:ext cx="935489" cy="93548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CB35"/>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2011933" y="3057742"/>
            <a:ext cx="4818566" cy="1598061"/>
            <a:chOff x="0" y="0"/>
            <a:chExt cx="1269087" cy="420888"/>
          </a:xfrm>
        </p:grpSpPr>
        <p:sp>
          <p:nvSpPr>
            <p:cNvPr name="Freeform 28" id="28"/>
            <p:cNvSpPr/>
            <p:nvPr/>
          </p:nvSpPr>
          <p:spPr>
            <a:xfrm flipH="false" flipV="false" rot="0">
              <a:off x="0" y="0"/>
              <a:ext cx="1269087" cy="420888"/>
            </a:xfrm>
            <a:custGeom>
              <a:avLst/>
              <a:gdLst/>
              <a:ahLst/>
              <a:cxnLst/>
              <a:rect r="r" b="b" t="t" l="l"/>
              <a:pathLst>
                <a:path h="420888" w="1269087">
                  <a:moveTo>
                    <a:pt x="38560" y="0"/>
                  </a:moveTo>
                  <a:lnTo>
                    <a:pt x="1230527" y="0"/>
                  </a:lnTo>
                  <a:cubicBezTo>
                    <a:pt x="1251823" y="0"/>
                    <a:pt x="1269087" y="17264"/>
                    <a:pt x="1269087" y="38560"/>
                  </a:cubicBezTo>
                  <a:lnTo>
                    <a:pt x="1269087" y="382328"/>
                  </a:lnTo>
                  <a:cubicBezTo>
                    <a:pt x="1269087" y="392555"/>
                    <a:pt x="1265025" y="402363"/>
                    <a:pt x="1257793" y="409594"/>
                  </a:cubicBezTo>
                  <a:cubicBezTo>
                    <a:pt x="1250562" y="416826"/>
                    <a:pt x="1240754" y="420888"/>
                    <a:pt x="1230527" y="420888"/>
                  </a:cubicBezTo>
                  <a:lnTo>
                    <a:pt x="38560" y="420888"/>
                  </a:lnTo>
                  <a:cubicBezTo>
                    <a:pt x="28334" y="420888"/>
                    <a:pt x="18526" y="416826"/>
                    <a:pt x="11294" y="409594"/>
                  </a:cubicBezTo>
                  <a:cubicBezTo>
                    <a:pt x="4063" y="402363"/>
                    <a:pt x="0" y="392555"/>
                    <a:pt x="0" y="382328"/>
                  </a:cubicBezTo>
                  <a:lnTo>
                    <a:pt x="0" y="38560"/>
                  </a:lnTo>
                  <a:cubicBezTo>
                    <a:pt x="0" y="28334"/>
                    <a:pt x="4063" y="18526"/>
                    <a:pt x="11294" y="11294"/>
                  </a:cubicBezTo>
                  <a:cubicBezTo>
                    <a:pt x="18526" y="4063"/>
                    <a:pt x="28334" y="0"/>
                    <a:pt x="38560" y="0"/>
                  </a:cubicBezTo>
                  <a:close/>
                </a:path>
              </a:pathLst>
            </a:custGeom>
            <a:solidFill>
              <a:srgbClr val="F9CB35"/>
            </a:solidFill>
          </p:spPr>
        </p:sp>
        <p:sp>
          <p:nvSpPr>
            <p:cNvPr name="TextBox 29" id="29"/>
            <p:cNvSpPr txBox="true"/>
            <p:nvPr/>
          </p:nvSpPr>
          <p:spPr>
            <a:xfrm>
              <a:off x="0" y="-38100"/>
              <a:ext cx="1269087" cy="458988"/>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3760404" y="2548384"/>
            <a:ext cx="1321623" cy="733425"/>
          </a:xfrm>
          <a:prstGeom prst="rect">
            <a:avLst/>
          </a:prstGeom>
        </p:spPr>
        <p:txBody>
          <a:bodyPr anchor="t" rtlCol="false" tIns="0" lIns="0" bIns="0" rIns="0">
            <a:spAutoFit/>
          </a:bodyPr>
          <a:lstStyle/>
          <a:p>
            <a:pPr algn="ctr">
              <a:lnSpc>
                <a:spcPts val="4800"/>
              </a:lnSpc>
            </a:pPr>
            <a:r>
              <a:rPr lang="en-US" b="true" sz="4000">
                <a:solidFill>
                  <a:srgbClr val="2F153B"/>
                </a:solidFill>
                <a:latin typeface="Cooper Hewitt Bold"/>
                <a:ea typeface="Cooper Hewitt Bold"/>
                <a:cs typeface="Cooper Hewitt Bold"/>
                <a:sym typeface="Cooper Hewitt Bold"/>
              </a:rPr>
              <a:t>3</a:t>
            </a:r>
          </a:p>
        </p:txBody>
      </p:sp>
      <p:sp>
        <p:nvSpPr>
          <p:cNvPr name="TextBox 31" id="31"/>
          <p:cNvSpPr txBox="true"/>
          <p:nvPr/>
        </p:nvSpPr>
        <p:spPr>
          <a:xfrm rot="0">
            <a:off x="12133609" y="3205310"/>
            <a:ext cx="4575151" cy="1676400"/>
          </a:xfrm>
          <a:prstGeom prst="rect">
            <a:avLst/>
          </a:prstGeom>
        </p:spPr>
        <p:txBody>
          <a:bodyPr anchor="t" rtlCol="false" tIns="0" lIns="0" bIns="0" rIns="0">
            <a:spAutoFit/>
          </a:bodyPr>
          <a:lstStyle/>
          <a:p>
            <a:pPr algn="ctr">
              <a:lnSpc>
                <a:spcPts val="2640"/>
              </a:lnSpc>
            </a:pPr>
            <a:r>
              <a:rPr lang="en-US" sz="2200">
                <a:solidFill>
                  <a:srgbClr val="2F153B"/>
                </a:solidFill>
                <a:latin typeface="DM Sans"/>
                <a:ea typeface="DM Sans"/>
                <a:cs typeface="DM Sans"/>
                <a:sym typeface="DM Sans"/>
              </a:rPr>
              <a:t>Model tidak mempertimbangkan faktor pembagian dividen, biaya transaksi, maupun kebijakan perusahaan lainnya.</a:t>
            </a:r>
          </a:p>
          <a:p>
            <a:pPr algn="ctr">
              <a:lnSpc>
                <a:spcPts val="2640"/>
              </a:lnSpc>
            </a:pPr>
          </a:p>
        </p:txBody>
      </p:sp>
      <p:grpSp>
        <p:nvGrpSpPr>
          <p:cNvPr name="Group 32" id="32"/>
          <p:cNvGrpSpPr/>
          <p:nvPr/>
        </p:nvGrpSpPr>
        <p:grpSpPr>
          <a:xfrm rot="0">
            <a:off x="14703870" y="5891369"/>
            <a:ext cx="935489" cy="935489"/>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7FD0"/>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5" id="35"/>
          <p:cNvSpPr txBox="true"/>
          <p:nvPr/>
        </p:nvSpPr>
        <p:spPr>
          <a:xfrm rot="0">
            <a:off x="14510834" y="5969609"/>
            <a:ext cx="1321623" cy="733425"/>
          </a:xfrm>
          <a:prstGeom prst="rect">
            <a:avLst/>
          </a:prstGeom>
        </p:spPr>
        <p:txBody>
          <a:bodyPr anchor="t" rtlCol="false" tIns="0" lIns="0" bIns="0" rIns="0">
            <a:spAutoFit/>
          </a:bodyPr>
          <a:lstStyle/>
          <a:p>
            <a:pPr algn="ctr">
              <a:lnSpc>
                <a:spcPts val="4800"/>
              </a:lnSpc>
            </a:pPr>
            <a:r>
              <a:rPr lang="en-US" b="true" sz="4000">
                <a:solidFill>
                  <a:srgbClr val="2F153B"/>
                </a:solidFill>
                <a:latin typeface="Cooper Hewitt Bold"/>
                <a:ea typeface="Cooper Hewitt Bold"/>
                <a:cs typeface="Cooper Hewitt Bold"/>
                <a:sym typeface="Cooper Hewitt Bold"/>
              </a:rPr>
              <a:t>4</a:t>
            </a:r>
          </a:p>
        </p:txBody>
      </p:sp>
      <p:grpSp>
        <p:nvGrpSpPr>
          <p:cNvPr name="Group 36" id="36"/>
          <p:cNvGrpSpPr/>
          <p:nvPr/>
        </p:nvGrpSpPr>
        <p:grpSpPr>
          <a:xfrm rot="0">
            <a:off x="12762363" y="6528822"/>
            <a:ext cx="4818566" cy="1333195"/>
            <a:chOff x="0" y="0"/>
            <a:chExt cx="1269087" cy="351130"/>
          </a:xfrm>
        </p:grpSpPr>
        <p:sp>
          <p:nvSpPr>
            <p:cNvPr name="Freeform 37" id="37"/>
            <p:cNvSpPr/>
            <p:nvPr/>
          </p:nvSpPr>
          <p:spPr>
            <a:xfrm flipH="false" flipV="false" rot="0">
              <a:off x="0" y="0"/>
              <a:ext cx="1269087" cy="351130"/>
            </a:xfrm>
            <a:custGeom>
              <a:avLst/>
              <a:gdLst/>
              <a:ahLst/>
              <a:cxnLst/>
              <a:rect r="r" b="b" t="t" l="l"/>
              <a:pathLst>
                <a:path h="351130" w="1269087">
                  <a:moveTo>
                    <a:pt x="38560" y="0"/>
                  </a:moveTo>
                  <a:lnTo>
                    <a:pt x="1230527" y="0"/>
                  </a:lnTo>
                  <a:cubicBezTo>
                    <a:pt x="1251823" y="0"/>
                    <a:pt x="1269087" y="17264"/>
                    <a:pt x="1269087" y="38560"/>
                  </a:cubicBezTo>
                  <a:lnTo>
                    <a:pt x="1269087" y="312569"/>
                  </a:lnTo>
                  <a:cubicBezTo>
                    <a:pt x="1269087" y="322796"/>
                    <a:pt x="1265025" y="332604"/>
                    <a:pt x="1257793" y="339836"/>
                  </a:cubicBezTo>
                  <a:cubicBezTo>
                    <a:pt x="1250562" y="347067"/>
                    <a:pt x="1240754" y="351130"/>
                    <a:pt x="1230527" y="351130"/>
                  </a:cubicBezTo>
                  <a:lnTo>
                    <a:pt x="38560" y="351130"/>
                  </a:lnTo>
                  <a:cubicBezTo>
                    <a:pt x="28334" y="351130"/>
                    <a:pt x="18526" y="347067"/>
                    <a:pt x="11294" y="339836"/>
                  </a:cubicBezTo>
                  <a:cubicBezTo>
                    <a:pt x="4063" y="332604"/>
                    <a:pt x="0" y="322796"/>
                    <a:pt x="0" y="312569"/>
                  </a:cubicBezTo>
                  <a:lnTo>
                    <a:pt x="0" y="38560"/>
                  </a:lnTo>
                  <a:cubicBezTo>
                    <a:pt x="0" y="28334"/>
                    <a:pt x="4063" y="18526"/>
                    <a:pt x="11294" y="11294"/>
                  </a:cubicBezTo>
                  <a:cubicBezTo>
                    <a:pt x="18526" y="4063"/>
                    <a:pt x="28334" y="0"/>
                    <a:pt x="38560" y="0"/>
                  </a:cubicBezTo>
                  <a:close/>
                </a:path>
              </a:pathLst>
            </a:custGeom>
            <a:solidFill>
              <a:srgbClr val="FE7FD0"/>
            </a:solidFill>
          </p:spPr>
        </p:sp>
        <p:sp>
          <p:nvSpPr>
            <p:cNvPr name="TextBox 38" id="38"/>
            <p:cNvSpPr txBox="true"/>
            <p:nvPr/>
          </p:nvSpPr>
          <p:spPr>
            <a:xfrm>
              <a:off x="0" y="-38100"/>
              <a:ext cx="1269087" cy="389230"/>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12884040" y="6661137"/>
            <a:ext cx="4575151" cy="1009650"/>
          </a:xfrm>
          <a:prstGeom prst="rect">
            <a:avLst/>
          </a:prstGeom>
        </p:spPr>
        <p:txBody>
          <a:bodyPr anchor="t" rtlCol="false" tIns="0" lIns="0" bIns="0" rIns="0">
            <a:spAutoFit/>
          </a:bodyPr>
          <a:lstStyle/>
          <a:p>
            <a:pPr algn="ctr">
              <a:lnSpc>
                <a:spcPts val="2640"/>
              </a:lnSpc>
            </a:pPr>
            <a:r>
              <a:rPr lang="en-US" sz="2200">
                <a:solidFill>
                  <a:srgbClr val="2F153B"/>
                </a:solidFill>
                <a:latin typeface="DM Sans"/>
                <a:ea typeface="DM Sans"/>
                <a:cs typeface="DM Sans"/>
                <a:sym typeface="DM Sans"/>
              </a:rPr>
              <a:t>Parameter model binomial diasumsikan bersifat konstan selama periode simulasi.</a:t>
            </a:r>
          </a:p>
        </p:txBody>
      </p:sp>
      <p:sp>
        <p:nvSpPr>
          <p:cNvPr name="Freeform 40" id="40"/>
          <p:cNvSpPr/>
          <p:nvPr/>
        </p:nvSpPr>
        <p:spPr>
          <a:xfrm flipH="true" flipV="true" rot="-510402">
            <a:off x="-4679169" y="-840187"/>
            <a:ext cx="9165801" cy="3932962"/>
          </a:xfrm>
          <a:custGeom>
            <a:avLst/>
            <a:gdLst/>
            <a:ahLst/>
            <a:cxnLst/>
            <a:rect r="r" b="b" t="t" l="l"/>
            <a:pathLst>
              <a:path h="3932962" w="9165801">
                <a:moveTo>
                  <a:pt x="9165801" y="3932962"/>
                </a:moveTo>
                <a:lnTo>
                  <a:pt x="0" y="3932962"/>
                </a:lnTo>
                <a:lnTo>
                  <a:pt x="0" y="0"/>
                </a:lnTo>
                <a:lnTo>
                  <a:pt x="9165801" y="0"/>
                </a:lnTo>
                <a:lnTo>
                  <a:pt x="9165801" y="39329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1" id="41"/>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93893">
            <a:off x="-5556514" y="-1421719"/>
            <a:ext cx="9165801" cy="3932962"/>
          </a:xfrm>
          <a:custGeom>
            <a:avLst/>
            <a:gdLst/>
            <a:ahLst/>
            <a:cxnLst/>
            <a:rect r="r" b="b" t="t" l="l"/>
            <a:pathLst>
              <a:path h="3932962" w="9165801">
                <a:moveTo>
                  <a:pt x="0" y="3932962"/>
                </a:moveTo>
                <a:lnTo>
                  <a:pt x="9165801" y="3932962"/>
                </a:lnTo>
                <a:lnTo>
                  <a:pt x="9165801"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09254" y="9753600"/>
            <a:ext cx="21506508" cy="1542089"/>
            <a:chOff x="0" y="0"/>
            <a:chExt cx="5664265" cy="406147"/>
          </a:xfrm>
        </p:grpSpPr>
        <p:sp>
          <p:nvSpPr>
            <p:cNvPr name="Freeform 5" id="5"/>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6" id="6"/>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834780" y="3965804"/>
            <a:ext cx="7759622" cy="4771353"/>
            <a:chOff x="0" y="0"/>
            <a:chExt cx="1979287" cy="1217054"/>
          </a:xfrm>
        </p:grpSpPr>
        <p:sp>
          <p:nvSpPr>
            <p:cNvPr name="Freeform 8" id="8"/>
            <p:cNvSpPr/>
            <p:nvPr/>
          </p:nvSpPr>
          <p:spPr>
            <a:xfrm flipH="false" flipV="false" rot="0">
              <a:off x="0" y="0"/>
              <a:ext cx="1979287" cy="1217054"/>
            </a:xfrm>
            <a:custGeom>
              <a:avLst/>
              <a:gdLst/>
              <a:ahLst/>
              <a:cxnLst/>
              <a:rect r="r" b="b" t="t" l="l"/>
              <a:pathLst>
                <a:path h="1217054" w="1979287">
                  <a:moveTo>
                    <a:pt x="49886" y="0"/>
                  </a:moveTo>
                  <a:lnTo>
                    <a:pt x="1929401" y="0"/>
                  </a:lnTo>
                  <a:cubicBezTo>
                    <a:pt x="1956952" y="0"/>
                    <a:pt x="1979287" y="22335"/>
                    <a:pt x="1979287" y="49886"/>
                  </a:cubicBezTo>
                  <a:lnTo>
                    <a:pt x="1979287" y="1167168"/>
                  </a:lnTo>
                  <a:cubicBezTo>
                    <a:pt x="1979287" y="1180399"/>
                    <a:pt x="1974031" y="1193087"/>
                    <a:pt x="1964676" y="1202443"/>
                  </a:cubicBezTo>
                  <a:cubicBezTo>
                    <a:pt x="1955320" y="1211798"/>
                    <a:pt x="1942632" y="1217054"/>
                    <a:pt x="1929401" y="1217054"/>
                  </a:cubicBezTo>
                  <a:lnTo>
                    <a:pt x="49886" y="1217054"/>
                  </a:lnTo>
                  <a:cubicBezTo>
                    <a:pt x="36655" y="1217054"/>
                    <a:pt x="23967" y="1211798"/>
                    <a:pt x="14611" y="1202443"/>
                  </a:cubicBezTo>
                  <a:cubicBezTo>
                    <a:pt x="5256" y="1193087"/>
                    <a:pt x="0" y="1180399"/>
                    <a:pt x="0" y="1167168"/>
                  </a:cubicBezTo>
                  <a:lnTo>
                    <a:pt x="0" y="49886"/>
                  </a:lnTo>
                  <a:cubicBezTo>
                    <a:pt x="0" y="36655"/>
                    <a:pt x="5256" y="23967"/>
                    <a:pt x="14611" y="14611"/>
                  </a:cubicBezTo>
                  <a:cubicBezTo>
                    <a:pt x="23967" y="5256"/>
                    <a:pt x="36655" y="0"/>
                    <a:pt x="49886" y="0"/>
                  </a:cubicBezTo>
                  <a:close/>
                </a:path>
              </a:pathLst>
            </a:custGeom>
            <a:solidFill>
              <a:srgbClr val="FE7FD0"/>
            </a:solidFill>
          </p:spPr>
        </p:sp>
        <p:sp>
          <p:nvSpPr>
            <p:cNvPr name="TextBox 9" id="9"/>
            <p:cNvSpPr txBox="true"/>
            <p:nvPr/>
          </p:nvSpPr>
          <p:spPr>
            <a:xfrm>
              <a:off x="0" y="-38100"/>
              <a:ext cx="1979287" cy="125515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187812" y="2842069"/>
            <a:ext cx="3281604" cy="1666076"/>
            <a:chOff x="0" y="0"/>
            <a:chExt cx="837056" cy="424975"/>
          </a:xfrm>
        </p:grpSpPr>
        <p:sp>
          <p:nvSpPr>
            <p:cNvPr name="Freeform 11" id="11"/>
            <p:cNvSpPr/>
            <p:nvPr/>
          </p:nvSpPr>
          <p:spPr>
            <a:xfrm flipH="false" flipV="false" rot="0">
              <a:off x="0" y="0"/>
              <a:ext cx="837056" cy="424975"/>
            </a:xfrm>
            <a:custGeom>
              <a:avLst/>
              <a:gdLst/>
              <a:ahLst/>
              <a:cxnLst/>
              <a:rect r="r" b="b" t="t" l="l"/>
              <a:pathLst>
                <a:path h="424975" w="837056">
                  <a:moveTo>
                    <a:pt x="117959" y="0"/>
                  </a:moveTo>
                  <a:lnTo>
                    <a:pt x="719097" y="0"/>
                  </a:lnTo>
                  <a:cubicBezTo>
                    <a:pt x="750381" y="0"/>
                    <a:pt x="780385" y="12428"/>
                    <a:pt x="802506" y="34550"/>
                  </a:cubicBezTo>
                  <a:cubicBezTo>
                    <a:pt x="824628" y="56671"/>
                    <a:pt x="837056" y="86675"/>
                    <a:pt x="837056" y="117959"/>
                  </a:cubicBezTo>
                  <a:lnTo>
                    <a:pt x="837056" y="307015"/>
                  </a:lnTo>
                  <a:cubicBezTo>
                    <a:pt x="837056" y="338300"/>
                    <a:pt x="824628" y="368304"/>
                    <a:pt x="802506" y="390425"/>
                  </a:cubicBezTo>
                  <a:cubicBezTo>
                    <a:pt x="780385" y="412547"/>
                    <a:pt x="750381" y="424975"/>
                    <a:pt x="719097" y="424975"/>
                  </a:cubicBezTo>
                  <a:lnTo>
                    <a:pt x="117959" y="424975"/>
                  </a:lnTo>
                  <a:cubicBezTo>
                    <a:pt x="86675" y="424975"/>
                    <a:pt x="56671" y="412547"/>
                    <a:pt x="34550" y="390425"/>
                  </a:cubicBezTo>
                  <a:cubicBezTo>
                    <a:pt x="12428" y="368304"/>
                    <a:pt x="0" y="338300"/>
                    <a:pt x="0" y="307015"/>
                  </a:cubicBezTo>
                  <a:lnTo>
                    <a:pt x="0" y="117959"/>
                  </a:lnTo>
                  <a:cubicBezTo>
                    <a:pt x="0" y="86675"/>
                    <a:pt x="12428" y="56671"/>
                    <a:pt x="34550" y="34550"/>
                  </a:cubicBezTo>
                  <a:cubicBezTo>
                    <a:pt x="56671" y="12428"/>
                    <a:pt x="86675" y="0"/>
                    <a:pt x="117959" y="0"/>
                  </a:cubicBezTo>
                  <a:close/>
                </a:path>
              </a:pathLst>
            </a:custGeom>
            <a:solidFill>
              <a:srgbClr val="FE7FD0"/>
            </a:solidFill>
          </p:spPr>
        </p:sp>
        <p:sp>
          <p:nvSpPr>
            <p:cNvPr name="TextBox 12" id="12"/>
            <p:cNvSpPr txBox="true"/>
            <p:nvPr/>
          </p:nvSpPr>
          <p:spPr>
            <a:xfrm>
              <a:off x="0" y="-38100"/>
              <a:ext cx="837056" cy="46307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275921" y="4479570"/>
            <a:ext cx="6877339" cy="4370127"/>
          </a:xfrm>
          <a:prstGeom prst="rect">
            <a:avLst/>
          </a:prstGeom>
        </p:spPr>
        <p:txBody>
          <a:bodyPr anchor="t" rtlCol="false" tIns="0" lIns="0" bIns="0" rIns="0">
            <a:spAutoFit/>
          </a:bodyPr>
          <a:lstStyle/>
          <a:p>
            <a:pPr algn="just">
              <a:lnSpc>
                <a:spcPts val="3832"/>
              </a:lnSpc>
            </a:pPr>
            <a:r>
              <a:rPr lang="en-US" sz="2994">
                <a:solidFill>
                  <a:srgbClr val="2F153B"/>
                </a:solidFill>
                <a:latin typeface="DM Sans"/>
                <a:ea typeface="DM Sans"/>
                <a:cs typeface="DM Sans"/>
                <a:sym typeface="DM Sans"/>
              </a:rPr>
              <a:t>Model binomial memodelkan harga saham secara diskrit, dengan dua kemungkinan di tiap periode: naik (u) atau turun (d).</a:t>
            </a:r>
          </a:p>
          <a:p>
            <a:pPr algn="just">
              <a:lnSpc>
                <a:spcPts val="3832"/>
              </a:lnSpc>
            </a:pPr>
            <a:r>
              <a:rPr lang="en-US" sz="2994">
                <a:solidFill>
                  <a:srgbClr val="2F153B"/>
                </a:solidFill>
                <a:latin typeface="DM Sans"/>
                <a:ea typeface="DM Sans"/>
                <a:cs typeface="DM Sans"/>
                <a:sym typeface="DM Sans"/>
              </a:rPr>
              <a:t>Jika naik: Sₜ₊Δₜ = Sₜ × u</a:t>
            </a:r>
          </a:p>
          <a:p>
            <a:pPr algn="just">
              <a:lnSpc>
                <a:spcPts val="3832"/>
              </a:lnSpc>
            </a:pPr>
            <a:r>
              <a:rPr lang="en-US" sz="2994">
                <a:solidFill>
                  <a:srgbClr val="2F153B"/>
                </a:solidFill>
                <a:latin typeface="DM Sans"/>
                <a:ea typeface="DM Sans"/>
                <a:cs typeface="DM Sans"/>
                <a:sym typeface="DM Sans"/>
              </a:rPr>
              <a:t>Jika turun: Sₜ₊Δₜ = Sₜ × d</a:t>
            </a:r>
          </a:p>
          <a:p>
            <a:pPr algn="just">
              <a:lnSpc>
                <a:spcPts val="3832"/>
              </a:lnSpc>
            </a:pPr>
            <a:r>
              <a:rPr lang="en-US" sz="2994">
                <a:solidFill>
                  <a:srgbClr val="2F153B"/>
                </a:solidFill>
                <a:latin typeface="DM Sans"/>
                <a:ea typeface="DM Sans"/>
                <a:cs typeface="DM Sans"/>
                <a:sym typeface="DM Sans"/>
              </a:rPr>
              <a:t>Nilai u, d, dan p menentukan arah serta peluang perubahan harga.</a:t>
            </a:r>
          </a:p>
          <a:p>
            <a:pPr algn="just">
              <a:lnSpc>
                <a:spcPts val="3832"/>
              </a:lnSpc>
            </a:pPr>
          </a:p>
        </p:txBody>
      </p:sp>
      <p:sp>
        <p:nvSpPr>
          <p:cNvPr name="TextBox 14" id="14"/>
          <p:cNvSpPr txBox="true"/>
          <p:nvPr/>
        </p:nvSpPr>
        <p:spPr>
          <a:xfrm rot="0">
            <a:off x="3327975" y="2943405"/>
            <a:ext cx="3001279" cy="1371794"/>
          </a:xfrm>
          <a:prstGeom prst="rect">
            <a:avLst/>
          </a:prstGeom>
        </p:spPr>
        <p:txBody>
          <a:bodyPr anchor="t" rtlCol="false" tIns="0" lIns="0" bIns="0" rIns="0">
            <a:spAutoFit/>
          </a:bodyPr>
          <a:lstStyle/>
          <a:p>
            <a:pPr algn="ctr">
              <a:lnSpc>
                <a:spcPts val="4884"/>
              </a:lnSpc>
            </a:pPr>
            <a:r>
              <a:rPr lang="en-US" b="true" sz="4440">
                <a:solidFill>
                  <a:srgbClr val="FFFFFF"/>
                </a:solidFill>
                <a:latin typeface="Cooper Hewitt Bold"/>
                <a:ea typeface="Cooper Hewitt Bold"/>
                <a:cs typeface="Cooper Hewitt Bold"/>
                <a:sym typeface="Cooper Hewitt Bold"/>
              </a:rPr>
              <a:t>MODEL BINOMIAL</a:t>
            </a:r>
          </a:p>
        </p:txBody>
      </p:sp>
      <p:grpSp>
        <p:nvGrpSpPr>
          <p:cNvPr name="Group 15" id="15"/>
          <p:cNvGrpSpPr/>
          <p:nvPr/>
        </p:nvGrpSpPr>
        <p:grpSpPr>
          <a:xfrm rot="0">
            <a:off x="9833846" y="3965804"/>
            <a:ext cx="7759622" cy="4821967"/>
            <a:chOff x="0" y="0"/>
            <a:chExt cx="1979287" cy="1229964"/>
          </a:xfrm>
        </p:grpSpPr>
        <p:sp>
          <p:nvSpPr>
            <p:cNvPr name="Freeform 16" id="16"/>
            <p:cNvSpPr/>
            <p:nvPr/>
          </p:nvSpPr>
          <p:spPr>
            <a:xfrm flipH="false" flipV="false" rot="0">
              <a:off x="0" y="0"/>
              <a:ext cx="1979287" cy="1229964"/>
            </a:xfrm>
            <a:custGeom>
              <a:avLst/>
              <a:gdLst/>
              <a:ahLst/>
              <a:cxnLst/>
              <a:rect r="r" b="b" t="t" l="l"/>
              <a:pathLst>
                <a:path h="1229964" w="1979287">
                  <a:moveTo>
                    <a:pt x="49886" y="0"/>
                  </a:moveTo>
                  <a:lnTo>
                    <a:pt x="1929401" y="0"/>
                  </a:lnTo>
                  <a:cubicBezTo>
                    <a:pt x="1956952" y="0"/>
                    <a:pt x="1979287" y="22335"/>
                    <a:pt x="1979287" y="49886"/>
                  </a:cubicBezTo>
                  <a:lnTo>
                    <a:pt x="1979287" y="1180078"/>
                  </a:lnTo>
                  <a:cubicBezTo>
                    <a:pt x="1979287" y="1193309"/>
                    <a:pt x="1974031" y="1205998"/>
                    <a:pt x="1964676" y="1215353"/>
                  </a:cubicBezTo>
                  <a:cubicBezTo>
                    <a:pt x="1955320" y="1224708"/>
                    <a:pt x="1942632" y="1229964"/>
                    <a:pt x="1929401" y="1229964"/>
                  </a:cubicBezTo>
                  <a:lnTo>
                    <a:pt x="49886" y="1229964"/>
                  </a:lnTo>
                  <a:cubicBezTo>
                    <a:pt x="22335" y="1229964"/>
                    <a:pt x="0" y="1207629"/>
                    <a:pt x="0" y="1180078"/>
                  </a:cubicBezTo>
                  <a:lnTo>
                    <a:pt x="0" y="49886"/>
                  </a:lnTo>
                  <a:cubicBezTo>
                    <a:pt x="0" y="36655"/>
                    <a:pt x="5256" y="23967"/>
                    <a:pt x="14611" y="14611"/>
                  </a:cubicBezTo>
                  <a:cubicBezTo>
                    <a:pt x="23967" y="5256"/>
                    <a:pt x="36655" y="0"/>
                    <a:pt x="49886" y="0"/>
                  </a:cubicBezTo>
                  <a:close/>
                </a:path>
              </a:pathLst>
            </a:custGeom>
            <a:solidFill>
              <a:srgbClr val="F9CB35"/>
            </a:solidFill>
          </p:spPr>
        </p:sp>
        <p:sp>
          <p:nvSpPr>
            <p:cNvPr name="TextBox 17" id="17"/>
            <p:cNvSpPr txBox="true"/>
            <p:nvPr/>
          </p:nvSpPr>
          <p:spPr>
            <a:xfrm>
              <a:off x="0" y="-38100"/>
              <a:ext cx="1979287" cy="126806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186879" y="2842069"/>
            <a:ext cx="3281604" cy="1666076"/>
            <a:chOff x="0" y="0"/>
            <a:chExt cx="837056" cy="424975"/>
          </a:xfrm>
        </p:grpSpPr>
        <p:sp>
          <p:nvSpPr>
            <p:cNvPr name="Freeform 19" id="19"/>
            <p:cNvSpPr/>
            <p:nvPr/>
          </p:nvSpPr>
          <p:spPr>
            <a:xfrm flipH="false" flipV="false" rot="0">
              <a:off x="0" y="0"/>
              <a:ext cx="837056" cy="424975"/>
            </a:xfrm>
            <a:custGeom>
              <a:avLst/>
              <a:gdLst/>
              <a:ahLst/>
              <a:cxnLst/>
              <a:rect r="r" b="b" t="t" l="l"/>
              <a:pathLst>
                <a:path h="424975" w="837056">
                  <a:moveTo>
                    <a:pt x="117959" y="0"/>
                  </a:moveTo>
                  <a:lnTo>
                    <a:pt x="719097" y="0"/>
                  </a:lnTo>
                  <a:cubicBezTo>
                    <a:pt x="750381" y="0"/>
                    <a:pt x="780385" y="12428"/>
                    <a:pt x="802506" y="34550"/>
                  </a:cubicBezTo>
                  <a:cubicBezTo>
                    <a:pt x="824628" y="56671"/>
                    <a:pt x="837056" y="86675"/>
                    <a:pt x="837056" y="117959"/>
                  </a:cubicBezTo>
                  <a:lnTo>
                    <a:pt x="837056" y="307015"/>
                  </a:lnTo>
                  <a:cubicBezTo>
                    <a:pt x="837056" y="338300"/>
                    <a:pt x="824628" y="368304"/>
                    <a:pt x="802506" y="390425"/>
                  </a:cubicBezTo>
                  <a:cubicBezTo>
                    <a:pt x="780385" y="412547"/>
                    <a:pt x="750381" y="424975"/>
                    <a:pt x="719097" y="424975"/>
                  </a:cubicBezTo>
                  <a:lnTo>
                    <a:pt x="117959" y="424975"/>
                  </a:lnTo>
                  <a:cubicBezTo>
                    <a:pt x="86675" y="424975"/>
                    <a:pt x="56671" y="412547"/>
                    <a:pt x="34550" y="390425"/>
                  </a:cubicBezTo>
                  <a:cubicBezTo>
                    <a:pt x="12428" y="368304"/>
                    <a:pt x="0" y="338300"/>
                    <a:pt x="0" y="307015"/>
                  </a:cubicBezTo>
                  <a:lnTo>
                    <a:pt x="0" y="117959"/>
                  </a:lnTo>
                  <a:cubicBezTo>
                    <a:pt x="0" y="86675"/>
                    <a:pt x="12428" y="56671"/>
                    <a:pt x="34550" y="34550"/>
                  </a:cubicBezTo>
                  <a:cubicBezTo>
                    <a:pt x="56671" y="12428"/>
                    <a:pt x="86675" y="0"/>
                    <a:pt x="117959" y="0"/>
                  </a:cubicBezTo>
                  <a:close/>
                </a:path>
              </a:pathLst>
            </a:custGeom>
            <a:solidFill>
              <a:srgbClr val="F9CB35"/>
            </a:solidFill>
          </p:spPr>
        </p:sp>
        <p:sp>
          <p:nvSpPr>
            <p:cNvPr name="TextBox 20" id="20"/>
            <p:cNvSpPr txBox="true"/>
            <p:nvPr/>
          </p:nvSpPr>
          <p:spPr>
            <a:xfrm>
              <a:off x="0" y="-38100"/>
              <a:ext cx="837056" cy="46307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0274987" y="4508145"/>
            <a:ext cx="6877339" cy="4229012"/>
          </a:xfrm>
          <a:prstGeom prst="rect">
            <a:avLst/>
          </a:prstGeom>
        </p:spPr>
        <p:txBody>
          <a:bodyPr anchor="t" rtlCol="false" tIns="0" lIns="0" bIns="0" rIns="0">
            <a:spAutoFit/>
          </a:bodyPr>
          <a:lstStyle/>
          <a:p>
            <a:pPr algn="just">
              <a:lnSpc>
                <a:spcPts val="3345"/>
              </a:lnSpc>
            </a:pPr>
            <a:r>
              <a:rPr lang="en-US" sz="2787">
                <a:solidFill>
                  <a:srgbClr val="2F153B"/>
                </a:solidFill>
                <a:latin typeface="DM Sans"/>
                <a:ea typeface="DM Sans"/>
                <a:cs typeface="DM Sans"/>
                <a:sym typeface="DM Sans"/>
              </a:rPr>
              <a:t>Data saham PT Jasa Marga (JSMR) selama 390 hari bursa</a:t>
            </a:r>
          </a:p>
          <a:p>
            <a:pPr algn="just">
              <a:lnSpc>
                <a:spcPts val="3345"/>
              </a:lnSpc>
            </a:pPr>
            <a:r>
              <a:rPr lang="en-US" sz="2787">
                <a:solidFill>
                  <a:srgbClr val="2F153B"/>
                </a:solidFill>
                <a:latin typeface="DM Sans"/>
                <a:ea typeface="DM Sans"/>
                <a:cs typeface="DM Sans"/>
                <a:sym typeface="DM Sans"/>
              </a:rPr>
              <a:t> (3 Juni 2024 – 28 November 2025).</a:t>
            </a:r>
          </a:p>
          <a:p>
            <a:pPr algn="just" marL="601902" indent="-300951" lvl="1">
              <a:lnSpc>
                <a:spcPts val="3345"/>
              </a:lnSpc>
              <a:buFont typeface="Arial"/>
              <a:buChar char="•"/>
            </a:pPr>
            <a:r>
              <a:rPr lang="en-US" sz="2787">
                <a:solidFill>
                  <a:srgbClr val="2F153B"/>
                </a:solidFill>
                <a:latin typeface="DM Sans"/>
                <a:ea typeface="DM Sans"/>
                <a:cs typeface="DM Sans"/>
                <a:sym typeface="DM Sans"/>
              </a:rPr>
              <a:t>260 hari: training (estimasi parameter)</a:t>
            </a:r>
          </a:p>
          <a:p>
            <a:pPr algn="just" marL="601902" indent="-300951" lvl="1">
              <a:lnSpc>
                <a:spcPts val="3345"/>
              </a:lnSpc>
              <a:buFont typeface="Arial"/>
              <a:buChar char="•"/>
            </a:pPr>
            <a:r>
              <a:rPr lang="en-US" sz="2787">
                <a:solidFill>
                  <a:srgbClr val="2F153B"/>
                </a:solidFill>
                <a:latin typeface="DM Sans"/>
                <a:ea typeface="DM Sans"/>
                <a:cs typeface="DM Sans"/>
                <a:sym typeface="DM Sans"/>
              </a:rPr>
              <a:t>130 hari: testing (evaluasi hasil simulasi)</a:t>
            </a:r>
          </a:p>
          <a:p>
            <a:pPr algn="just" marL="601902" indent="-300951" lvl="1">
              <a:lnSpc>
                <a:spcPts val="3345"/>
              </a:lnSpc>
              <a:buFont typeface="Arial"/>
              <a:buChar char="•"/>
            </a:pPr>
            <a:r>
              <a:rPr lang="en-US" sz="2787">
                <a:solidFill>
                  <a:srgbClr val="2F153B"/>
                </a:solidFill>
                <a:latin typeface="DM Sans"/>
                <a:ea typeface="DM Sans"/>
                <a:cs typeface="DM Sans"/>
                <a:sym typeface="DM Sans"/>
              </a:rPr>
              <a:t> Harga awal simulasi = penutupan awal periode testing.</a:t>
            </a:r>
          </a:p>
          <a:p>
            <a:pPr algn="just">
              <a:lnSpc>
                <a:spcPts val="3345"/>
              </a:lnSpc>
            </a:pPr>
          </a:p>
        </p:txBody>
      </p:sp>
      <p:sp>
        <p:nvSpPr>
          <p:cNvPr name="TextBox 22" id="22"/>
          <p:cNvSpPr txBox="true"/>
          <p:nvPr/>
        </p:nvSpPr>
        <p:spPr>
          <a:xfrm rot="0">
            <a:off x="12327041" y="2933880"/>
            <a:ext cx="3001279" cy="1340668"/>
          </a:xfrm>
          <a:prstGeom prst="rect">
            <a:avLst/>
          </a:prstGeom>
        </p:spPr>
        <p:txBody>
          <a:bodyPr anchor="t" rtlCol="false" tIns="0" lIns="0" bIns="0" rIns="0">
            <a:spAutoFit/>
          </a:bodyPr>
          <a:lstStyle/>
          <a:p>
            <a:pPr algn="ctr">
              <a:lnSpc>
                <a:spcPts val="4771"/>
              </a:lnSpc>
            </a:pPr>
            <a:r>
              <a:rPr lang="en-US" b="true" sz="4337">
                <a:solidFill>
                  <a:srgbClr val="FFFFFF"/>
                </a:solidFill>
                <a:latin typeface="Cooper Hewitt Bold"/>
                <a:ea typeface="Cooper Hewitt Bold"/>
                <a:cs typeface="Cooper Hewitt Bold"/>
                <a:sym typeface="Cooper Hewitt Bold"/>
              </a:rPr>
              <a:t>DATA</a:t>
            </a:r>
          </a:p>
          <a:p>
            <a:pPr algn="ctr">
              <a:lnSpc>
                <a:spcPts val="4771"/>
              </a:lnSpc>
            </a:pPr>
            <a:r>
              <a:rPr lang="en-US" b="true" sz="4337">
                <a:solidFill>
                  <a:srgbClr val="FFFFFF"/>
                </a:solidFill>
                <a:latin typeface="Cooper Hewitt Bold"/>
                <a:ea typeface="Cooper Hewitt Bold"/>
                <a:cs typeface="Cooper Hewitt Bold"/>
                <a:sym typeface="Cooper Hewitt Bold"/>
              </a:rPr>
              <a:t>PENELITIAN</a:t>
            </a:r>
          </a:p>
        </p:txBody>
      </p:sp>
      <p:sp>
        <p:nvSpPr>
          <p:cNvPr name="Freeform 23" id="23"/>
          <p:cNvSpPr/>
          <p:nvPr/>
        </p:nvSpPr>
        <p:spPr>
          <a:xfrm flipH="false" flipV="true" rot="1937392">
            <a:off x="-672419" y="-2660432"/>
            <a:ext cx="9165801" cy="3932962"/>
          </a:xfrm>
          <a:custGeom>
            <a:avLst/>
            <a:gdLst/>
            <a:ahLst/>
            <a:cxnLst/>
            <a:rect r="r" b="b" t="t" l="l"/>
            <a:pathLst>
              <a:path h="3932962" w="9165801">
                <a:moveTo>
                  <a:pt x="0" y="3932962"/>
                </a:moveTo>
                <a:lnTo>
                  <a:pt x="9165801" y="3932962"/>
                </a:lnTo>
                <a:lnTo>
                  <a:pt x="9165801"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true" rot="1937392">
            <a:off x="7002292" y="-2834483"/>
            <a:ext cx="9165801" cy="3932962"/>
          </a:xfrm>
          <a:custGeom>
            <a:avLst/>
            <a:gdLst/>
            <a:ahLst/>
            <a:cxnLst/>
            <a:rect r="r" b="b" t="t" l="l"/>
            <a:pathLst>
              <a:path h="3932962" w="9165801">
                <a:moveTo>
                  <a:pt x="0" y="3932962"/>
                </a:moveTo>
                <a:lnTo>
                  <a:pt x="9165801" y="3932962"/>
                </a:lnTo>
                <a:lnTo>
                  <a:pt x="9165801"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true" rot="1937392">
            <a:off x="4561099" y="-3081876"/>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693893">
            <a:off x="-5556514" y="-1421719"/>
            <a:ext cx="9165801" cy="3932962"/>
          </a:xfrm>
          <a:custGeom>
            <a:avLst/>
            <a:gdLst/>
            <a:ahLst/>
            <a:cxnLst/>
            <a:rect r="r" b="b" t="t" l="l"/>
            <a:pathLst>
              <a:path h="3932962" w="9165801">
                <a:moveTo>
                  <a:pt x="0" y="3932962"/>
                </a:moveTo>
                <a:lnTo>
                  <a:pt x="9165801" y="3932962"/>
                </a:lnTo>
                <a:lnTo>
                  <a:pt x="9165801"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609254" y="9753600"/>
            <a:ext cx="21506508" cy="1542089"/>
            <a:chOff x="0" y="0"/>
            <a:chExt cx="5664265" cy="406147"/>
          </a:xfrm>
        </p:grpSpPr>
        <p:sp>
          <p:nvSpPr>
            <p:cNvPr name="Freeform 5" id="5"/>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6" id="6"/>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834780" y="3965804"/>
            <a:ext cx="7759622" cy="4771353"/>
            <a:chOff x="0" y="0"/>
            <a:chExt cx="1979287" cy="1217054"/>
          </a:xfrm>
        </p:grpSpPr>
        <p:sp>
          <p:nvSpPr>
            <p:cNvPr name="Freeform 8" id="8"/>
            <p:cNvSpPr/>
            <p:nvPr/>
          </p:nvSpPr>
          <p:spPr>
            <a:xfrm flipH="false" flipV="false" rot="0">
              <a:off x="0" y="0"/>
              <a:ext cx="1979287" cy="1217054"/>
            </a:xfrm>
            <a:custGeom>
              <a:avLst/>
              <a:gdLst/>
              <a:ahLst/>
              <a:cxnLst/>
              <a:rect r="r" b="b" t="t" l="l"/>
              <a:pathLst>
                <a:path h="1217054" w="1979287">
                  <a:moveTo>
                    <a:pt x="49886" y="0"/>
                  </a:moveTo>
                  <a:lnTo>
                    <a:pt x="1929401" y="0"/>
                  </a:lnTo>
                  <a:cubicBezTo>
                    <a:pt x="1956952" y="0"/>
                    <a:pt x="1979287" y="22335"/>
                    <a:pt x="1979287" y="49886"/>
                  </a:cubicBezTo>
                  <a:lnTo>
                    <a:pt x="1979287" y="1167168"/>
                  </a:lnTo>
                  <a:cubicBezTo>
                    <a:pt x="1979287" y="1180399"/>
                    <a:pt x="1974031" y="1193087"/>
                    <a:pt x="1964676" y="1202443"/>
                  </a:cubicBezTo>
                  <a:cubicBezTo>
                    <a:pt x="1955320" y="1211798"/>
                    <a:pt x="1942632" y="1217054"/>
                    <a:pt x="1929401" y="1217054"/>
                  </a:cubicBezTo>
                  <a:lnTo>
                    <a:pt x="49886" y="1217054"/>
                  </a:lnTo>
                  <a:cubicBezTo>
                    <a:pt x="36655" y="1217054"/>
                    <a:pt x="23967" y="1211798"/>
                    <a:pt x="14611" y="1202443"/>
                  </a:cubicBezTo>
                  <a:cubicBezTo>
                    <a:pt x="5256" y="1193087"/>
                    <a:pt x="0" y="1180399"/>
                    <a:pt x="0" y="1167168"/>
                  </a:cubicBezTo>
                  <a:lnTo>
                    <a:pt x="0" y="49886"/>
                  </a:lnTo>
                  <a:cubicBezTo>
                    <a:pt x="0" y="36655"/>
                    <a:pt x="5256" y="23967"/>
                    <a:pt x="14611" y="14611"/>
                  </a:cubicBezTo>
                  <a:cubicBezTo>
                    <a:pt x="23967" y="5256"/>
                    <a:pt x="36655" y="0"/>
                    <a:pt x="49886" y="0"/>
                  </a:cubicBezTo>
                  <a:close/>
                </a:path>
              </a:pathLst>
            </a:custGeom>
            <a:solidFill>
              <a:srgbClr val="F9CB35"/>
            </a:solidFill>
          </p:spPr>
        </p:sp>
        <p:sp>
          <p:nvSpPr>
            <p:cNvPr name="TextBox 9" id="9"/>
            <p:cNvSpPr txBox="true"/>
            <p:nvPr/>
          </p:nvSpPr>
          <p:spPr>
            <a:xfrm>
              <a:off x="0" y="-38100"/>
              <a:ext cx="1979287" cy="125515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187812" y="2842069"/>
            <a:ext cx="3281604" cy="1666076"/>
            <a:chOff x="0" y="0"/>
            <a:chExt cx="837056" cy="424975"/>
          </a:xfrm>
        </p:grpSpPr>
        <p:sp>
          <p:nvSpPr>
            <p:cNvPr name="Freeform 11" id="11"/>
            <p:cNvSpPr/>
            <p:nvPr/>
          </p:nvSpPr>
          <p:spPr>
            <a:xfrm flipH="false" flipV="false" rot="0">
              <a:off x="0" y="0"/>
              <a:ext cx="837056" cy="424975"/>
            </a:xfrm>
            <a:custGeom>
              <a:avLst/>
              <a:gdLst/>
              <a:ahLst/>
              <a:cxnLst/>
              <a:rect r="r" b="b" t="t" l="l"/>
              <a:pathLst>
                <a:path h="424975" w="837056">
                  <a:moveTo>
                    <a:pt x="117959" y="0"/>
                  </a:moveTo>
                  <a:lnTo>
                    <a:pt x="719097" y="0"/>
                  </a:lnTo>
                  <a:cubicBezTo>
                    <a:pt x="750381" y="0"/>
                    <a:pt x="780385" y="12428"/>
                    <a:pt x="802506" y="34550"/>
                  </a:cubicBezTo>
                  <a:cubicBezTo>
                    <a:pt x="824628" y="56671"/>
                    <a:pt x="837056" y="86675"/>
                    <a:pt x="837056" y="117959"/>
                  </a:cubicBezTo>
                  <a:lnTo>
                    <a:pt x="837056" y="307015"/>
                  </a:lnTo>
                  <a:cubicBezTo>
                    <a:pt x="837056" y="338300"/>
                    <a:pt x="824628" y="368304"/>
                    <a:pt x="802506" y="390425"/>
                  </a:cubicBezTo>
                  <a:cubicBezTo>
                    <a:pt x="780385" y="412547"/>
                    <a:pt x="750381" y="424975"/>
                    <a:pt x="719097" y="424975"/>
                  </a:cubicBezTo>
                  <a:lnTo>
                    <a:pt x="117959" y="424975"/>
                  </a:lnTo>
                  <a:cubicBezTo>
                    <a:pt x="86675" y="424975"/>
                    <a:pt x="56671" y="412547"/>
                    <a:pt x="34550" y="390425"/>
                  </a:cubicBezTo>
                  <a:cubicBezTo>
                    <a:pt x="12428" y="368304"/>
                    <a:pt x="0" y="338300"/>
                    <a:pt x="0" y="307015"/>
                  </a:cubicBezTo>
                  <a:lnTo>
                    <a:pt x="0" y="117959"/>
                  </a:lnTo>
                  <a:cubicBezTo>
                    <a:pt x="0" y="86675"/>
                    <a:pt x="12428" y="56671"/>
                    <a:pt x="34550" y="34550"/>
                  </a:cubicBezTo>
                  <a:cubicBezTo>
                    <a:pt x="56671" y="12428"/>
                    <a:pt x="86675" y="0"/>
                    <a:pt x="117959" y="0"/>
                  </a:cubicBezTo>
                  <a:close/>
                </a:path>
              </a:pathLst>
            </a:custGeom>
            <a:solidFill>
              <a:srgbClr val="F9CB35"/>
            </a:solidFill>
          </p:spPr>
        </p:sp>
        <p:sp>
          <p:nvSpPr>
            <p:cNvPr name="TextBox 12" id="12"/>
            <p:cNvSpPr txBox="true"/>
            <p:nvPr/>
          </p:nvSpPr>
          <p:spPr>
            <a:xfrm>
              <a:off x="0" y="-38100"/>
              <a:ext cx="837056" cy="46307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151032" y="4293855"/>
            <a:ext cx="7127118" cy="4573341"/>
          </a:xfrm>
          <a:prstGeom prst="rect">
            <a:avLst/>
          </a:prstGeom>
        </p:spPr>
        <p:txBody>
          <a:bodyPr anchor="t" rtlCol="false" tIns="0" lIns="0" bIns="0" rIns="0">
            <a:spAutoFit/>
          </a:bodyPr>
          <a:lstStyle/>
          <a:p>
            <a:pPr algn="just">
              <a:lnSpc>
                <a:spcPts val="4052"/>
              </a:lnSpc>
            </a:pPr>
            <a:r>
              <a:rPr lang="en-US" sz="2894">
                <a:solidFill>
                  <a:srgbClr val="2F153B"/>
                </a:solidFill>
                <a:latin typeface="DM Sans"/>
                <a:ea typeface="DM Sans"/>
                <a:cs typeface="DM Sans"/>
                <a:sym typeface="DM Sans"/>
              </a:rPr>
              <a:t>Volatilitas menunjukkan seberapa besar harga saham berfluktuasi. Dihitung menggunakan </a:t>
            </a:r>
            <a:r>
              <a:rPr lang="en-US" sz="2894" i="true">
                <a:solidFill>
                  <a:srgbClr val="2F153B"/>
                </a:solidFill>
                <a:latin typeface="DM Sans Italics"/>
                <a:ea typeface="DM Sans Italics"/>
                <a:cs typeface="DM Sans Italics"/>
                <a:sym typeface="DM Sans Italics"/>
              </a:rPr>
              <a:t>log-return</a:t>
            </a:r>
            <a:r>
              <a:rPr lang="en-US" sz="2894">
                <a:solidFill>
                  <a:srgbClr val="2F153B"/>
                </a:solidFill>
                <a:latin typeface="DM Sans"/>
                <a:ea typeface="DM Sans"/>
                <a:cs typeface="DM Sans"/>
                <a:sym typeface="DM Sans"/>
              </a:rPr>
              <a:t> har</a:t>
            </a:r>
            <a:r>
              <a:rPr lang="en-US" sz="2894">
                <a:solidFill>
                  <a:srgbClr val="2F153B"/>
                </a:solidFill>
                <a:latin typeface="DM Sans"/>
                <a:ea typeface="DM Sans"/>
                <a:cs typeface="DM Sans"/>
                <a:sym typeface="DM Sans"/>
              </a:rPr>
              <a:t>ian:</a:t>
            </a:r>
          </a:p>
          <a:p>
            <a:pPr algn="ctr">
              <a:lnSpc>
                <a:spcPts val="4052"/>
              </a:lnSpc>
            </a:pPr>
          </a:p>
          <a:p>
            <a:pPr algn="just">
              <a:lnSpc>
                <a:spcPts val="4052"/>
              </a:lnSpc>
            </a:pPr>
          </a:p>
          <a:p>
            <a:pPr algn="just">
              <a:lnSpc>
                <a:spcPts val="4052"/>
              </a:lnSpc>
            </a:pPr>
            <a:r>
              <a:rPr lang="en-US" sz="2894">
                <a:solidFill>
                  <a:srgbClr val="2F153B"/>
                </a:solidFill>
                <a:latin typeface="DM Sans"/>
                <a:ea typeface="DM Sans"/>
                <a:cs typeface="DM Sans"/>
                <a:sym typeface="DM Sans"/>
              </a:rPr>
              <a:t>Standar deviasi </a:t>
            </a:r>
            <a:r>
              <a:rPr lang="en-US" sz="2894" i="true">
                <a:solidFill>
                  <a:srgbClr val="2F153B"/>
                </a:solidFill>
                <a:latin typeface="DM Sans Italics"/>
                <a:ea typeface="DM Sans Italics"/>
                <a:cs typeface="DM Sans Italics"/>
                <a:sym typeface="DM Sans Italics"/>
              </a:rPr>
              <a:t>log-return</a:t>
            </a:r>
            <a:r>
              <a:rPr lang="en-US" sz="2894">
                <a:solidFill>
                  <a:srgbClr val="2F153B"/>
                </a:solidFill>
                <a:latin typeface="DM Sans"/>
                <a:ea typeface="DM Sans"/>
                <a:cs typeface="DM Sans"/>
                <a:sym typeface="DM Sans"/>
              </a:rPr>
              <a:t> digunakan sebagai σ (volatilitas).Semakin besar σ → semakin tinggi risiko perubahan harga.</a:t>
            </a:r>
          </a:p>
          <a:p>
            <a:pPr algn="just">
              <a:lnSpc>
                <a:spcPts val="3473"/>
              </a:lnSpc>
            </a:pPr>
          </a:p>
        </p:txBody>
      </p:sp>
      <p:sp>
        <p:nvSpPr>
          <p:cNvPr name="TextBox 14" id="14"/>
          <p:cNvSpPr txBox="true"/>
          <p:nvPr/>
        </p:nvSpPr>
        <p:spPr>
          <a:xfrm rot="0">
            <a:off x="3092266" y="2951585"/>
            <a:ext cx="3472696" cy="1370845"/>
          </a:xfrm>
          <a:prstGeom prst="rect">
            <a:avLst/>
          </a:prstGeom>
        </p:spPr>
        <p:txBody>
          <a:bodyPr anchor="t" rtlCol="false" tIns="0" lIns="0" bIns="0" rIns="0">
            <a:spAutoFit/>
          </a:bodyPr>
          <a:lstStyle/>
          <a:p>
            <a:pPr algn="ctr">
              <a:lnSpc>
                <a:spcPts val="4884"/>
              </a:lnSpc>
            </a:pPr>
            <a:r>
              <a:rPr lang="en-US" b="true" sz="4440">
                <a:solidFill>
                  <a:srgbClr val="FFFFFF"/>
                </a:solidFill>
                <a:latin typeface="Cooper Hewitt Bold"/>
                <a:ea typeface="Cooper Hewitt Bold"/>
                <a:cs typeface="Cooper Hewitt Bold"/>
                <a:sym typeface="Cooper Hewitt Bold"/>
              </a:rPr>
              <a:t>VOLATI-</a:t>
            </a:r>
          </a:p>
          <a:p>
            <a:pPr algn="ctr">
              <a:lnSpc>
                <a:spcPts val="4884"/>
              </a:lnSpc>
            </a:pPr>
            <a:r>
              <a:rPr lang="en-US" b="true" sz="4440">
                <a:solidFill>
                  <a:srgbClr val="FFFFFF"/>
                </a:solidFill>
                <a:latin typeface="Cooper Hewitt Bold"/>
                <a:ea typeface="Cooper Hewitt Bold"/>
                <a:cs typeface="Cooper Hewitt Bold"/>
                <a:sym typeface="Cooper Hewitt Bold"/>
              </a:rPr>
              <a:t>LITAS</a:t>
            </a:r>
          </a:p>
        </p:txBody>
      </p:sp>
      <p:grpSp>
        <p:nvGrpSpPr>
          <p:cNvPr name="Group 15" id="15"/>
          <p:cNvGrpSpPr/>
          <p:nvPr/>
        </p:nvGrpSpPr>
        <p:grpSpPr>
          <a:xfrm rot="0">
            <a:off x="9833846" y="3965804"/>
            <a:ext cx="7759622" cy="4821967"/>
            <a:chOff x="0" y="0"/>
            <a:chExt cx="1979287" cy="1229964"/>
          </a:xfrm>
        </p:grpSpPr>
        <p:sp>
          <p:nvSpPr>
            <p:cNvPr name="Freeform 16" id="16"/>
            <p:cNvSpPr/>
            <p:nvPr/>
          </p:nvSpPr>
          <p:spPr>
            <a:xfrm flipH="false" flipV="false" rot="0">
              <a:off x="0" y="0"/>
              <a:ext cx="1979287" cy="1229964"/>
            </a:xfrm>
            <a:custGeom>
              <a:avLst/>
              <a:gdLst/>
              <a:ahLst/>
              <a:cxnLst/>
              <a:rect r="r" b="b" t="t" l="l"/>
              <a:pathLst>
                <a:path h="1229964" w="1979287">
                  <a:moveTo>
                    <a:pt x="49886" y="0"/>
                  </a:moveTo>
                  <a:lnTo>
                    <a:pt x="1929401" y="0"/>
                  </a:lnTo>
                  <a:cubicBezTo>
                    <a:pt x="1956952" y="0"/>
                    <a:pt x="1979287" y="22335"/>
                    <a:pt x="1979287" y="49886"/>
                  </a:cubicBezTo>
                  <a:lnTo>
                    <a:pt x="1979287" y="1180078"/>
                  </a:lnTo>
                  <a:cubicBezTo>
                    <a:pt x="1979287" y="1193309"/>
                    <a:pt x="1974031" y="1205998"/>
                    <a:pt x="1964676" y="1215353"/>
                  </a:cubicBezTo>
                  <a:cubicBezTo>
                    <a:pt x="1955320" y="1224708"/>
                    <a:pt x="1942632" y="1229964"/>
                    <a:pt x="1929401" y="1229964"/>
                  </a:cubicBezTo>
                  <a:lnTo>
                    <a:pt x="49886" y="1229964"/>
                  </a:lnTo>
                  <a:cubicBezTo>
                    <a:pt x="22335" y="1229964"/>
                    <a:pt x="0" y="1207629"/>
                    <a:pt x="0" y="1180078"/>
                  </a:cubicBezTo>
                  <a:lnTo>
                    <a:pt x="0" y="49886"/>
                  </a:lnTo>
                  <a:cubicBezTo>
                    <a:pt x="0" y="36655"/>
                    <a:pt x="5256" y="23967"/>
                    <a:pt x="14611" y="14611"/>
                  </a:cubicBezTo>
                  <a:cubicBezTo>
                    <a:pt x="23967" y="5256"/>
                    <a:pt x="36655" y="0"/>
                    <a:pt x="49886" y="0"/>
                  </a:cubicBezTo>
                  <a:close/>
                </a:path>
              </a:pathLst>
            </a:custGeom>
            <a:solidFill>
              <a:srgbClr val="FE7FD0"/>
            </a:solidFill>
          </p:spPr>
        </p:sp>
        <p:sp>
          <p:nvSpPr>
            <p:cNvPr name="TextBox 17" id="17"/>
            <p:cNvSpPr txBox="true"/>
            <p:nvPr/>
          </p:nvSpPr>
          <p:spPr>
            <a:xfrm>
              <a:off x="0" y="-38100"/>
              <a:ext cx="1979287" cy="126806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186879" y="2842069"/>
            <a:ext cx="3281604" cy="1666076"/>
            <a:chOff x="0" y="0"/>
            <a:chExt cx="837056" cy="424975"/>
          </a:xfrm>
        </p:grpSpPr>
        <p:sp>
          <p:nvSpPr>
            <p:cNvPr name="Freeform 19" id="19"/>
            <p:cNvSpPr/>
            <p:nvPr/>
          </p:nvSpPr>
          <p:spPr>
            <a:xfrm flipH="false" flipV="false" rot="0">
              <a:off x="0" y="0"/>
              <a:ext cx="837056" cy="424975"/>
            </a:xfrm>
            <a:custGeom>
              <a:avLst/>
              <a:gdLst/>
              <a:ahLst/>
              <a:cxnLst/>
              <a:rect r="r" b="b" t="t" l="l"/>
              <a:pathLst>
                <a:path h="424975" w="837056">
                  <a:moveTo>
                    <a:pt x="117959" y="0"/>
                  </a:moveTo>
                  <a:lnTo>
                    <a:pt x="719097" y="0"/>
                  </a:lnTo>
                  <a:cubicBezTo>
                    <a:pt x="750381" y="0"/>
                    <a:pt x="780385" y="12428"/>
                    <a:pt x="802506" y="34550"/>
                  </a:cubicBezTo>
                  <a:cubicBezTo>
                    <a:pt x="824628" y="56671"/>
                    <a:pt x="837056" y="86675"/>
                    <a:pt x="837056" y="117959"/>
                  </a:cubicBezTo>
                  <a:lnTo>
                    <a:pt x="837056" y="307015"/>
                  </a:lnTo>
                  <a:cubicBezTo>
                    <a:pt x="837056" y="338300"/>
                    <a:pt x="824628" y="368304"/>
                    <a:pt x="802506" y="390425"/>
                  </a:cubicBezTo>
                  <a:cubicBezTo>
                    <a:pt x="780385" y="412547"/>
                    <a:pt x="750381" y="424975"/>
                    <a:pt x="719097" y="424975"/>
                  </a:cubicBezTo>
                  <a:lnTo>
                    <a:pt x="117959" y="424975"/>
                  </a:lnTo>
                  <a:cubicBezTo>
                    <a:pt x="86675" y="424975"/>
                    <a:pt x="56671" y="412547"/>
                    <a:pt x="34550" y="390425"/>
                  </a:cubicBezTo>
                  <a:cubicBezTo>
                    <a:pt x="12428" y="368304"/>
                    <a:pt x="0" y="338300"/>
                    <a:pt x="0" y="307015"/>
                  </a:cubicBezTo>
                  <a:lnTo>
                    <a:pt x="0" y="117959"/>
                  </a:lnTo>
                  <a:cubicBezTo>
                    <a:pt x="0" y="86675"/>
                    <a:pt x="12428" y="56671"/>
                    <a:pt x="34550" y="34550"/>
                  </a:cubicBezTo>
                  <a:cubicBezTo>
                    <a:pt x="56671" y="12428"/>
                    <a:pt x="86675" y="0"/>
                    <a:pt x="117959" y="0"/>
                  </a:cubicBezTo>
                  <a:close/>
                </a:path>
              </a:pathLst>
            </a:custGeom>
            <a:solidFill>
              <a:srgbClr val="FE7FD0"/>
            </a:solidFill>
          </p:spPr>
        </p:sp>
        <p:sp>
          <p:nvSpPr>
            <p:cNvPr name="TextBox 20" id="20"/>
            <p:cNvSpPr txBox="true"/>
            <p:nvPr/>
          </p:nvSpPr>
          <p:spPr>
            <a:xfrm>
              <a:off x="0" y="-38100"/>
              <a:ext cx="837056" cy="46307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0274987" y="4383383"/>
            <a:ext cx="6877339" cy="4172258"/>
          </a:xfrm>
          <a:prstGeom prst="rect">
            <a:avLst/>
          </a:prstGeom>
        </p:spPr>
        <p:txBody>
          <a:bodyPr anchor="t" rtlCol="false" tIns="0" lIns="0" bIns="0" rIns="0">
            <a:spAutoFit/>
          </a:bodyPr>
          <a:lstStyle/>
          <a:p>
            <a:pPr algn="just">
              <a:lnSpc>
                <a:spcPts val="4183"/>
              </a:lnSpc>
            </a:pPr>
            <a:r>
              <a:rPr lang="en-US" sz="2987">
                <a:solidFill>
                  <a:srgbClr val="2F153B"/>
                </a:solidFill>
                <a:latin typeface="DM Sans"/>
                <a:ea typeface="DM Sans"/>
                <a:cs typeface="DM Sans"/>
                <a:sym typeface="DM Sans"/>
              </a:rPr>
              <a:t>Nilai r diambil dari rata-rata suku bunga BI tahun 2024. Digunakan untuk menghitung peluang naik (p) dalam model binomial:</a:t>
            </a:r>
          </a:p>
          <a:p>
            <a:pPr algn="ctr">
              <a:lnSpc>
                <a:spcPts val="4183"/>
              </a:lnSpc>
            </a:pPr>
          </a:p>
          <a:p>
            <a:pPr algn="ctr">
              <a:lnSpc>
                <a:spcPts val="4183"/>
              </a:lnSpc>
            </a:pPr>
          </a:p>
          <a:p>
            <a:pPr algn="just">
              <a:lnSpc>
                <a:spcPts val="4183"/>
              </a:lnSpc>
            </a:pPr>
            <a:r>
              <a:rPr lang="en-US" sz="2987">
                <a:solidFill>
                  <a:srgbClr val="2F153B"/>
                </a:solidFill>
                <a:latin typeface="DM Sans"/>
                <a:ea typeface="DM Sans"/>
                <a:cs typeface="DM Sans"/>
                <a:sym typeface="DM Sans"/>
              </a:rPr>
              <a:t>P</a:t>
            </a:r>
            <a:r>
              <a:rPr lang="en-US" sz="2987">
                <a:solidFill>
                  <a:srgbClr val="2F153B"/>
                </a:solidFill>
                <a:latin typeface="DM Sans"/>
                <a:ea typeface="DM Sans"/>
                <a:cs typeface="DM Sans"/>
                <a:sym typeface="DM Sans"/>
              </a:rPr>
              <a:t>arameter ini menyesuaikan model dengan kondisi pasar bebas risiko.</a:t>
            </a:r>
          </a:p>
        </p:txBody>
      </p:sp>
      <p:sp>
        <p:nvSpPr>
          <p:cNvPr name="TextBox 22" id="22"/>
          <p:cNvSpPr txBox="true"/>
          <p:nvPr/>
        </p:nvSpPr>
        <p:spPr>
          <a:xfrm rot="0">
            <a:off x="12327041" y="2933880"/>
            <a:ext cx="3001279" cy="1340668"/>
          </a:xfrm>
          <a:prstGeom prst="rect">
            <a:avLst/>
          </a:prstGeom>
        </p:spPr>
        <p:txBody>
          <a:bodyPr anchor="t" rtlCol="false" tIns="0" lIns="0" bIns="0" rIns="0">
            <a:spAutoFit/>
          </a:bodyPr>
          <a:lstStyle/>
          <a:p>
            <a:pPr algn="ctr">
              <a:lnSpc>
                <a:spcPts val="4771"/>
              </a:lnSpc>
            </a:pPr>
            <a:r>
              <a:rPr lang="en-US" b="true" sz="4337">
                <a:solidFill>
                  <a:srgbClr val="FFFFFF"/>
                </a:solidFill>
                <a:latin typeface="Cooper Hewitt Bold"/>
                <a:ea typeface="Cooper Hewitt Bold"/>
                <a:cs typeface="Cooper Hewitt Bold"/>
                <a:sym typeface="Cooper Hewitt Bold"/>
              </a:rPr>
              <a:t>SUKU</a:t>
            </a:r>
          </a:p>
          <a:p>
            <a:pPr algn="ctr">
              <a:lnSpc>
                <a:spcPts val="4771"/>
              </a:lnSpc>
            </a:pPr>
            <a:r>
              <a:rPr lang="en-US" b="true" sz="4337">
                <a:solidFill>
                  <a:srgbClr val="FFFFFF"/>
                </a:solidFill>
                <a:latin typeface="Cooper Hewitt Bold"/>
                <a:ea typeface="Cooper Hewitt Bold"/>
                <a:cs typeface="Cooper Hewitt Bold"/>
                <a:sym typeface="Cooper Hewitt Bold"/>
              </a:rPr>
              <a:t>BUNGA</a:t>
            </a:r>
          </a:p>
        </p:txBody>
      </p:sp>
      <p:sp>
        <p:nvSpPr>
          <p:cNvPr name="Freeform 23" id="23"/>
          <p:cNvSpPr/>
          <p:nvPr/>
        </p:nvSpPr>
        <p:spPr>
          <a:xfrm flipH="false" flipV="true" rot="1937392">
            <a:off x="-672419" y="-2660432"/>
            <a:ext cx="9165801" cy="3932962"/>
          </a:xfrm>
          <a:custGeom>
            <a:avLst/>
            <a:gdLst/>
            <a:ahLst/>
            <a:cxnLst/>
            <a:rect r="r" b="b" t="t" l="l"/>
            <a:pathLst>
              <a:path h="3932962" w="9165801">
                <a:moveTo>
                  <a:pt x="0" y="3932962"/>
                </a:moveTo>
                <a:lnTo>
                  <a:pt x="9165801" y="3932962"/>
                </a:lnTo>
                <a:lnTo>
                  <a:pt x="9165801"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true" rot="1937392">
            <a:off x="7002292" y="-2834483"/>
            <a:ext cx="9165801" cy="3932962"/>
          </a:xfrm>
          <a:custGeom>
            <a:avLst/>
            <a:gdLst/>
            <a:ahLst/>
            <a:cxnLst/>
            <a:rect r="r" b="b" t="t" l="l"/>
            <a:pathLst>
              <a:path h="3932962" w="9165801">
                <a:moveTo>
                  <a:pt x="0" y="3932962"/>
                </a:moveTo>
                <a:lnTo>
                  <a:pt x="9165801" y="3932962"/>
                </a:lnTo>
                <a:lnTo>
                  <a:pt x="9165801"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true" rot="1937392">
            <a:off x="4561099" y="-3081876"/>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6" id="26"/>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4"/>
            <a:stretch>
              <a:fillRect l="0" t="0" r="0" b="0"/>
            </a:stretch>
          </a:blipFill>
        </p:spPr>
      </p:sp>
      <p:sp>
        <p:nvSpPr>
          <p:cNvPr name="Freeform 27" id="27"/>
          <p:cNvSpPr/>
          <p:nvPr/>
        </p:nvSpPr>
        <p:spPr>
          <a:xfrm flipH="false" flipV="false" rot="0">
            <a:off x="3705055" y="5976221"/>
            <a:ext cx="2019070" cy="801133"/>
          </a:xfrm>
          <a:custGeom>
            <a:avLst/>
            <a:gdLst/>
            <a:ahLst/>
            <a:cxnLst/>
            <a:rect r="r" b="b" t="t" l="l"/>
            <a:pathLst>
              <a:path h="801133" w="2019070">
                <a:moveTo>
                  <a:pt x="0" y="0"/>
                </a:moveTo>
                <a:lnTo>
                  <a:pt x="2019071" y="0"/>
                </a:lnTo>
                <a:lnTo>
                  <a:pt x="2019071" y="801132"/>
                </a:lnTo>
                <a:lnTo>
                  <a:pt x="0" y="801132"/>
                </a:lnTo>
                <a:lnTo>
                  <a:pt x="0" y="0"/>
                </a:lnTo>
                <a:close/>
              </a:path>
            </a:pathLst>
          </a:custGeom>
          <a:blipFill>
            <a:blip r:embed="rId5"/>
            <a:stretch>
              <a:fillRect l="0" t="0" r="0" b="-9857"/>
            </a:stretch>
          </a:blipFill>
        </p:spPr>
      </p:sp>
      <p:sp>
        <p:nvSpPr>
          <p:cNvPr name="Freeform 28" id="28"/>
          <p:cNvSpPr/>
          <p:nvPr/>
        </p:nvSpPr>
        <p:spPr>
          <a:xfrm flipH="false" flipV="false" rot="0">
            <a:off x="12826622" y="6542030"/>
            <a:ext cx="2002118" cy="944088"/>
          </a:xfrm>
          <a:custGeom>
            <a:avLst/>
            <a:gdLst/>
            <a:ahLst/>
            <a:cxnLst/>
            <a:rect r="r" b="b" t="t" l="l"/>
            <a:pathLst>
              <a:path h="944088" w="2002118">
                <a:moveTo>
                  <a:pt x="0" y="0"/>
                </a:moveTo>
                <a:lnTo>
                  <a:pt x="2002118" y="0"/>
                </a:lnTo>
                <a:lnTo>
                  <a:pt x="2002118" y="944088"/>
                </a:lnTo>
                <a:lnTo>
                  <a:pt x="0" y="944088"/>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0">
            <a:off x="15228529" y="-659832"/>
            <a:ext cx="9165801" cy="3932962"/>
          </a:xfrm>
          <a:custGeom>
            <a:avLst/>
            <a:gdLst/>
            <a:ahLst/>
            <a:cxnLst/>
            <a:rect r="r" b="b" t="t" l="l"/>
            <a:pathLst>
              <a:path h="3932962" w="9165801">
                <a:moveTo>
                  <a:pt x="9165801" y="3932962"/>
                </a:moveTo>
                <a:lnTo>
                  <a:pt x="0" y="3932962"/>
                </a:lnTo>
                <a:lnTo>
                  <a:pt x="0" y="0"/>
                </a:lnTo>
                <a:lnTo>
                  <a:pt x="9165801" y="0"/>
                </a:lnTo>
                <a:lnTo>
                  <a:pt x="9165801"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120703" y="3730433"/>
            <a:ext cx="2793531" cy="909168"/>
          </a:xfrm>
          <a:custGeom>
            <a:avLst/>
            <a:gdLst/>
            <a:ahLst/>
            <a:cxnLst/>
            <a:rect r="r" b="b" t="t" l="l"/>
            <a:pathLst>
              <a:path h="909168" w="2793531">
                <a:moveTo>
                  <a:pt x="0" y="0"/>
                </a:moveTo>
                <a:lnTo>
                  <a:pt x="2793531" y="0"/>
                </a:lnTo>
                <a:lnTo>
                  <a:pt x="2793531" y="909168"/>
                </a:lnTo>
                <a:lnTo>
                  <a:pt x="0" y="9091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162050" y="5143500"/>
            <a:ext cx="5964679" cy="4327103"/>
          </a:xfrm>
          <a:custGeom>
            <a:avLst/>
            <a:gdLst/>
            <a:ahLst/>
            <a:cxnLst/>
            <a:rect r="r" b="b" t="t" l="l"/>
            <a:pathLst>
              <a:path h="4327103" w="5964679">
                <a:moveTo>
                  <a:pt x="0" y="0"/>
                </a:moveTo>
                <a:lnTo>
                  <a:pt x="5964679" y="0"/>
                </a:lnTo>
                <a:lnTo>
                  <a:pt x="5964679" y="4327103"/>
                </a:lnTo>
                <a:lnTo>
                  <a:pt x="0" y="43271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nvGrpSpPr>
          <p:cNvPr name="Group 5" id="5"/>
          <p:cNvGrpSpPr/>
          <p:nvPr/>
        </p:nvGrpSpPr>
        <p:grpSpPr>
          <a:xfrm rot="0">
            <a:off x="7990596" y="3051103"/>
            <a:ext cx="5808780" cy="1808024"/>
            <a:chOff x="0" y="0"/>
            <a:chExt cx="1529884" cy="476187"/>
          </a:xfrm>
        </p:grpSpPr>
        <p:sp>
          <p:nvSpPr>
            <p:cNvPr name="Freeform 6" id="6"/>
            <p:cNvSpPr/>
            <p:nvPr/>
          </p:nvSpPr>
          <p:spPr>
            <a:xfrm flipH="false" flipV="false" rot="0">
              <a:off x="0" y="0"/>
              <a:ext cx="1529884" cy="476187"/>
            </a:xfrm>
            <a:custGeom>
              <a:avLst/>
              <a:gdLst/>
              <a:ahLst/>
              <a:cxnLst/>
              <a:rect r="r" b="b" t="t" l="l"/>
              <a:pathLst>
                <a:path h="476187" w="1529884">
                  <a:moveTo>
                    <a:pt x="33320" y="0"/>
                  </a:moveTo>
                  <a:lnTo>
                    <a:pt x="1496565" y="0"/>
                  </a:lnTo>
                  <a:cubicBezTo>
                    <a:pt x="1514967" y="0"/>
                    <a:pt x="1529884" y="14918"/>
                    <a:pt x="1529884" y="33320"/>
                  </a:cubicBezTo>
                  <a:lnTo>
                    <a:pt x="1529884" y="442867"/>
                  </a:lnTo>
                  <a:cubicBezTo>
                    <a:pt x="1529884" y="461269"/>
                    <a:pt x="1514967" y="476187"/>
                    <a:pt x="1496565" y="476187"/>
                  </a:cubicBezTo>
                  <a:lnTo>
                    <a:pt x="33320" y="476187"/>
                  </a:lnTo>
                  <a:cubicBezTo>
                    <a:pt x="14918" y="476187"/>
                    <a:pt x="0" y="461269"/>
                    <a:pt x="0" y="442867"/>
                  </a:cubicBezTo>
                  <a:lnTo>
                    <a:pt x="0" y="33320"/>
                  </a:lnTo>
                  <a:cubicBezTo>
                    <a:pt x="0" y="14918"/>
                    <a:pt x="14918" y="0"/>
                    <a:pt x="33320" y="0"/>
                  </a:cubicBezTo>
                  <a:close/>
                </a:path>
              </a:pathLst>
            </a:custGeom>
            <a:solidFill>
              <a:srgbClr val="E7BAFA"/>
            </a:solidFill>
          </p:spPr>
        </p:sp>
        <p:sp>
          <p:nvSpPr>
            <p:cNvPr name="TextBox 7" id="7"/>
            <p:cNvSpPr txBox="true"/>
            <p:nvPr/>
          </p:nvSpPr>
          <p:spPr>
            <a:xfrm>
              <a:off x="0" y="-38100"/>
              <a:ext cx="1529884" cy="51428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990596" y="1306649"/>
            <a:ext cx="5808780" cy="1573080"/>
            <a:chOff x="0" y="0"/>
            <a:chExt cx="1529884" cy="414309"/>
          </a:xfrm>
        </p:grpSpPr>
        <p:sp>
          <p:nvSpPr>
            <p:cNvPr name="Freeform 9" id="9"/>
            <p:cNvSpPr/>
            <p:nvPr/>
          </p:nvSpPr>
          <p:spPr>
            <a:xfrm flipH="false" flipV="false" rot="0">
              <a:off x="0" y="0"/>
              <a:ext cx="1529884" cy="414309"/>
            </a:xfrm>
            <a:custGeom>
              <a:avLst/>
              <a:gdLst/>
              <a:ahLst/>
              <a:cxnLst/>
              <a:rect r="r" b="b" t="t" l="l"/>
              <a:pathLst>
                <a:path h="414309" w="1529884">
                  <a:moveTo>
                    <a:pt x="33320" y="0"/>
                  </a:moveTo>
                  <a:lnTo>
                    <a:pt x="1496565" y="0"/>
                  </a:lnTo>
                  <a:cubicBezTo>
                    <a:pt x="1514967" y="0"/>
                    <a:pt x="1529884" y="14918"/>
                    <a:pt x="1529884" y="33320"/>
                  </a:cubicBezTo>
                  <a:lnTo>
                    <a:pt x="1529884" y="380989"/>
                  </a:lnTo>
                  <a:cubicBezTo>
                    <a:pt x="1529884" y="399391"/>
                    <a:pt x="1514967" y="414309"/>
                    <a:pt x="1496565" y="414309"/>
                  </a:cubicBezTo>
                  <a:lnTo>
                    <a:pt x="33320" y="414309"/>
                  </a:lnTo>
                  <a:cubicBezTo>
                    <a:pt x="14918" y="414309"/>
                    <a:pt x="0" y="399391"/>
                    <a:pt x="0" y="380989"/>
                  </a:cubicBezTo>
                  <a:lnTo>
                    <a:pt x="0" y="33320"/>
                  </a:lnTo>
                  <a:cubicBezTo>
                    <a:pt x="0" y="14918"/>
                    <a:pt x="14918" y="0"/>
                    <a:pt x="33320" y="0"/>
                  </a:cubicBezTo>
                  <a:close/>
                </a:path>
              </a:pathLst>
            </a:custGeom>
            <a:solidFill>
              <a:srgbClr val="E7BAFA"/>
            </a:solidFill>
          </p:spPr>
        </p:sp>
        <p:sp>
          <p:nvSpPr>
            <p:cNvPr name="TextBox 10" id="10"/>
            <p:cNvSpPr txBox="true"/>
            <p:nvPr/>
          </p:nvSpPr>
          <p:spPr>
            <a:xfrm>
              <a:off x="0" y="-47625"/>
              <a:ext cx="1529884" cy="461934"/>
            </a:xfrm>
            <a:prstGeom prst="rect">
              <a:avLst/>
            </a:prstGeom>
          </p:spPr>
          <p:txBody>
            <a:bodyPr anchor="ctr" rtlCol="false" tIns="50800" lIns="50800" bIns="50800" rIns="50800"/>
            <a:lstStyle/>
            <a:p>
              <a:pPr algn="ctr">
                <a:lnSpc>
                  <a:spcPts val="3359"/>
                </a:lnSpc>
              </a:pPr>
            </a:p>
            <a:p>
              <a:pPr algn="ctr">
                <a:lnSpc>
                  <a:spcPts val="2659"/>
                </a:lnSpc>
              </a:pPr>
            </a:p>
          </p:txBody>
        </p:sp>
      </p:grpSp>
      <p:grpSp>
        <p:nvGrpSpPr>
          <p:cNvPr name="Group 11" id="11"/>
          <p:cNvGrpSpPr/>
          <p:nvPr/>
        </p:nvGrpSpPr>
        <p:grpSpPr>
          <a:xfrm rot="0">
            <a:off x="14075601" y="1776993"/>
            <a:ext cx="632392" cy="63239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075601" y="3638919"/>
            <a:ext cx="632392" cy="63239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B89"/>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609254" y="9753600"/>
            <a:ext cx="21506508" cy="1542089"/>
            <a:chOff x="0" y="0"/>
            <a:chExt cx="5664265" cy="406147"/>
          </a:xfrm>
        </p:grpSpPr>
        <p:sp>
          <p:nvSpPr>
            <p:cNvPr name="Freeform 18" id="18"/>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19" id="19"/>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7624084" y="6466655"/>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1971704" y="1926988"/>
            <a:ext cx="1306489" cy="616068"/>
          </a:xfrm>
          <a:custGeom>
            <a:avLst/>
            <a:gdLst/>
            <a:ahLst/>
            <a:cxnLst/>
            <a:rect r="r" b="b" t="t" l="l"/>
            <a:pathLst>
              <a:path h="616068" w="1306489">
                <a:moveTo>
                  <a:pt x="0" y="0"/>
                </a:moveTo>
                <a:lnTo>
                  <a:pt x="1306489" y="0"/>
                </a:lnTo>
                <a:lnTo>
                  <a:pt x="1306489" y="616068"/>
                </a:lnTo>
                <a:lnTo>
                  <a:pt x="0" y="616068"/>
                </a:lnTo>
                <a:lnTo>
                  <a:pt x="0" y="0"/>
                </a:lnTo>
                <a:close/>
              </a:path>
            </a:pathLst>
          </a:custGeom>
          <a:blipFill>
            <a:blip r:embed="rId10"/>
            <a:stretch>
              <a:fillRect l="0" t="0" r="0" b="0"/>
            </a:stretch>
          </a:blipFill>
        </p:spPr>
      </p:sp>
      <p:sp>
        <p:nvSpPr>
          <p:cNvPr name="Freeform 22" id="22"/>
          <p:cNvSpPr/>
          <p:nvPr/>
        </p:nvSpPr>
        <p:spPr>
          <a:xfrm flipH="false" flipV="false" rot="0">
            <a:off x="8304921" y="1926988"/>
            <a:ext cx="3332058" cy="613364"/>
          </a:xfrm>
          <a:custGeom>
            <a:avLst/>
            <a:gdLst/>
            <a:ahLst/>
            <a:cxnLst/>
            <a:rect r="r" b="b" t="t" l="l"/>
            <a:pathLst>
              <a:path h="613364" w="3332058">
                <a:moveTo>
                  <a:pt x="0" y="0"/>
                </a:moveTo>
                <a:lnTo>
                  <a:pt x="3332058" y="0"/>
                </a:lnTo>
                <a:lnTo>
                  <a:pt x="3332058" y="613364"/>
                </a:lnTo>
                <a:lnTo>
                  <a:pt x="0" y="613364"/>
                </a:lnTo>
                <a:lnTo>
                  <a:pt x="0" y="0"/>
                </a:lnTo>
                <a:close/>
              </a:path>
            </a:pathLst>
          </a:custGeom>
          <a:blipFill>
            <a:blip r:embed="rId11"/>
            <a:stretch>
              <a:fillRect l="0" t="0" r="0" b="0"/>
            </a:stretch>
          </a:blipFill>
        </p:spPr>
      </p:sp>
      <p:sp>
        <p:nvSpPr>
          <p:cNvPr name="Freeform 23" id="23"/>
          <p:cNvSpPr/>
          <p:nvPr/>
        </p:nvSpPr>
        <p:spPr>
          <a:xfrm flipH="false" flipV="false" rot="0">
            <a:off x="9089163" y="4099742"/>
            <a:ext cx="3611646" cy="621785"/>
          </a:xfrm>
          <a:custGeom>
            <a:avLst/>
            <a:gdLst/>
            <a:ahLst/>
            <a:cxnLst/>
            <a:rect r="r" b="b" t="t" l="l"/>
            <a:pathLst>
              <a:path h="621785" w="3611646">
                <a:moveTo>
                  <a:pt x="0" y="0"/>
                </a:moveTo>
                <a:lnTo>
                  <a:pt x="3611646" y="0"/>
                </a:lnTo>
                <a:lnTo>
                  <a:pt x="3611646" y="621785"/>
                </a:lnTo>
                <a:lnTo>
                  <a:pt x="0" y="621785"/>
                </a:lnTo>
                <a:lnTo>
                  <a:pt x="0" y="0"/>
                </a:lnTo>
                <a:close/>
              </a:path>
            </a:pathLst>
          </a:custGeom>
          <a:blipFill>
            <a:blip r:embed="rId12"/>
            <a:stretch>
              <a:fillRect l="0" t="0" r="0" b="0"/>
            </a:stretch>
          </a:blipFill>
        </p:spPr>
      </p:sp>
      <p:sp>
        <p:nvSpPr>
          <p:cNvPr name="Freeform 24" id="24"/>
          <p:cNvSpPr/>
          <p:nvPr/>
        </p:nvSpPr>
        <p:spPr>
          <a:xfrm flipH="false" flipV="false" rot="0">
            <a:off x="8304921" y="3557853"/>
            <a:ext cx="2322381" cy="345161"/>
          </a:xfrm>
          <a:custGeom>
            <a:avLst/>
            <a:gdLst/>
            <a:ahLst/>
            <a:cxnLst/>
            <a:rect r="r" b="b" t="t" l="l"/>
            <a:pathLst>
              <a:path h="345161" w="2322381">
                <a:moveTo>
                  <a:pt x="0" y="0"/>
                </a:moveTo>
                <a:lnTo>
                  <a:pt x="2322381" y="0"/>
                </a:lnTo>
                <a:lnTo>
                  <a:pt x="2322381" y="345161"/>
                </a:lnTo>
                <a:lnTo>
                  <a:pt x="0" y="345161"/>
                </a:lnTo>
                <a:lnTo>
                  <a:pt x="0" y="0"/>
                </a:lnTo>
                <a:close/>
              </a:path>
            </a:pathLst>
          </a:custGeom>
          <a:blipFill>
            <a:blip r:embed="rId13"/>
            <a:stretch>
              <a:fillRect l="-3124" t="-30200" r="-4839" b="-26118"/>
            </a:stretch>
          </a:blipFill>
        </p:spPr>
      </p:sp>
      <p:sp>
        <p:nvSpPr>
          <p:cNvPr name="Freeform 25" id="25"/>
          <p:cNvSpPr/>
          <p:nvPr/>
        </p:nvSpPr>
        <p:spPr>
          <a:xfrm flipH="false" flipV="false" rot="0">
            <a:off x="10915744" y="3557853"/>
            <a:ext cx="2362448" cy="361501"/>
          </a:xfrm>
          <a:custGeom>
            <a:avLst/>
            <a:gdLst/>
            <a:ahLst/>
            <a:cxnLst/>
            <a:rect r="r" b="b" t="t" l="l"/>
            <a:pathLst>
              <a:path h="361501" w="2362448">
                <a:moveTo>
                  <a:pt x="0" y="0"/>
                </a:moveTo>
                <a:lnTo>
                  <a:pt x="2362449" y="0"/>
                </a:lnTo>
                <a:lnTo>
                  <a:pt x="2362449" y="361501"/>
                </a:lnTo>
                <a:lnTo>
                  <a:pt x="0" y="361501"/>
                </a:lnTo>
                <a:lnTo>
                  <a:pt x="0" y="0"/>
                </a:lnTo>
                <a:close/>
              </a:path>
            </a:pathLst>
          </a:custGeom>
          <a:blipFill>
            <a:blip r:embed="rId14"/>
            <a:stretch>
              <a:fillRect l="-2177" t="-25047" r="-3594" b="-9487"/>
            </a:stretch>
          </a:blipFill>
        </p:spPr>
      </p:sp>
      <p:sp>
        <p:nvSpPr>
          <p:cNvPr name="TextBox 26" id="26"/>
          <p:cNvSpPr txBox="true"/>
          <p:nvPr/>
        </p:nvSpPr>
        <p:spPr>
          <a:xfrm rot="0">
            <a:off x="1258746" y="1003943"/>
            <a:ext cx="6550875" cy="3475345"/>
          </a:xfrm>
          <a:prstGeom prst="rect">
            <a:avLst/>
          </a:prstGeom>
        </p:spPr>
        <p:txBody>
          <a:bodyPr anchor="t" rtlCol="false" tIns="0" lIns="0" bIns="0" rIns="0">
            <a:spAutoFit/>
          </a:bodyPr>
          <a:lstStyle/>
          <a:p>
            <a:pPr algn="l">
              <a:lnSpc>
                <a:spcPts val="8710"/>
              </a:lnSpc>
            </a:pPr>
            <a:r>
              <a:rPr lang="en-US" sz="6500" b="true">
                <a:solidFill>
                  <a:srgbClr val="FFFFFF"/>
                </a:solidFill>
                <a:latin typeface="Cooper Hewitt Bold"/>
                <a:ea typeface="Cooper Hewitt Bold"/>
                <a:cs typeface="Cooper Hewitt Bold"/>
                <a:sym typeface="Cooper Hewitt Bold"/>
              </a:rPr>
              <a:t>ESTIMASI </a:t>
            </a:r>
          </a:p>
          <a:p>
            <a:pPr algn="l">
              <a:lnSpc>
                <a:spcPts val="8710"/>
              </a:lnSpc>
            </a:pPr>
            <a:r>
              <a:rPr lang="en-US" sz="6500" b="true">
                <a:solidFill>
                  <a:srgbClr val="FFFFFF"/>
                </a:solidFill>
                <a:latin typeface="Cooper Hewitt Bold"/>
                <a:ea typeface="Cooper Hewitt Bold"/>
                <a:cs typeface="Cooper Hewitt Bold"/>
                <a:sym typeface="Cooper Hewitt Bold"/>
              </a:rPr>
              <a:t>PARAMETER</a:t>
            </a:r>
          </a:p>
          <a:p>
            <a:pPr algn="l">
              <a:lnSpc>
                <a:spcPts val="8710"/>
              </a:lnSpc>
            </a:pPr>
            <a:r>
              <a:rPr lang="en-US" b="true" sz="6500">
                <a:solidFill>
                  <a:srgbClr val="FFFFFF"/>
                </a:solidFill>
                <a:latin typeface="Cooper Hewitt Bold"/>
                <a:ea typeface="Cooper Hewitt Bold"/>
                <a:cs typeface="Cooper Hewitt Bold"/>
                <a:sym typeface="Cooper Hewitt Bold"/>
              </a:rPr>
              <a:t>MODEL</a:t>
            </a:r>
          </a:p>
        </p:txBody>
      </p:sp>
      <p:sp>
        <p:nvSpPr>
          <p:cNvPr name="TextBox 27" id="27"/>
          <p:cNvSpPr txBox="true"/>
          <p:nvPr/>
        </p:nvSpPr>
        <p:spPr>
          <a:xfrm rot="0">
            <a:off x="14149089" y="1826458"/>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1</a:t>
            </a:r>
          </a:p>
        </p:txBody>
      </p:sp>
      <p:sp>
        <p:nvSpPr>
          <p:cNvPr name="TextBox 28" id="28"/>
          <p:cNvSpPr txBox="true"/>
          <p:nvPr/>
        </p:nvSpPr>
        <p:spPr>
          <a:xfrm rot="0">
            <a:off x="14149089" y="3694601"/>
            <a:ext cx="485417" cy="523936"/>
          </a:xfrm>
          <a:prstGeom prst="rect">
            <a:avLst/>
          </a:prstGeom>
        </p:spPr>
        <p:txBody>
          <a:bodyPr anchor="t" rtlCol="false" tIns="0" lIns="0" bIns="0" rIns="0">
            <a:spAutoFit/>
          </a:bodyPr>
          <a:lstStyle/>
          <a:p>
            <a:pPr algn="ctr">
              <a:lnSpc>
                <a:spcPts val="3305"/>
              </a:lnSpc>
            </a:pPr>
            <a:r>
              <a:rPr lang="en-US" b="true" sz="3004">
                <a:solidFill>
                  <a:srgbClr val="2F153B"/>
                </a:solidFill>
                <a:latin typeface="Cooper Hewitt Bold"/>
                <a:ea typeface="Cooper Hewitt Bold"/>
                <a:cs typeface="Cooper Hewitt Bold"/>
                <a:sym typeface="Cooper Hewitt Bold"/>
              </a:rPr>
              <a:t>2</a:t>
            </a:r>
          </a:p>
        </p:txBody>
      </p:sp>
      <p:sp>
        <p:nvSpPr>
          <p:cNvPr name="TextBox 29" id="29"/>
          <p:cNvSpPr txBox="true"/>
          <p:nvPr/>
        </p:nvSpPr>
        <p:spPr>
          <a:xfrm rot="0">
            <a:off x="7962021" y="5249652"/>
            <a:ext cx="9268704" cy="4229100"/>
          </a:xfrm>
          <a:prstGeom prst="rect">
            <a:avLst/>
          </a:prstGeom>
        </p:spPr>
        <p:txBody>
          <a:bodyPr anchor="t" rtlCol="false" tIns="0" lIns="0" bIns="0" rIns="0">
            <a:spAutoFit/>
          </a:bodyPr>
          <a:lstStyle/>
          <a:p>
            <a:pPr algn="just">
              <a:lnSpc>
                <a:spcPts val="3000"/>
              </a:lnSpc>
            </a:pPr>
            <a:r>
              <a:rPr lang="en-US" sz="2500">
                <a:solidFill>
                  <a:srgbClr val="FFFFFF"/>
                </a:solidFill>
                <a:latin typeface="DM Sans"/>
                <a:ea typeface="DM Sans"/>
                <a:cs typeface="DM Sans"/>
                <a:sym typeface="DM Sans"/>
              </a:rPr>
              <a:t>Model binomial menggunakan tiga parameter utama: </a:t>
            </a:r>
            <a:r>
              <a:rPr lang="en-US" sz="2500" i="true">
                <a:solidFill>
                  <a:srgbClr val="FFFFFF"/>
                </a:solidFill>
                <a:latin typeface="DM Sans Italics"/>
                <a:ea typeface="DM Sans Italics"/>
                <a:cs typeface="DM Sans Italics"/>
                <a:sym typeface="DM Sans Italics"/>
              </a:rPr>
              <a:t>u</a:t>
            </a:r>
            <a:r>
              <a:rPr lang="en-US" sz="2500">
                <a:solidFill>
                  <a:srgbClr val="FFFFFF"/>
                </a:solidFill>
                <a:latin typeface="DM Sans"/>
                <a:ea typeface="DM Sans"/>
                <a:cs typeface="DM Sans"/>
                <a:sym typeface="DM Sans"/>
              </a:rPr>
              <a:t>, </a:t>
            </a:r>
            <a:r>
              <a:rPr lang="en-US" sz="2500" i="true">
                <a:solidFill>
                  <a:srgbClr val="FFFFFF"/>
                </a:solidFill>
                <a:latin typeface="DM Sans Italics"/>
                <a:ea typeface="DM Sans Italics"/>
                <a:cs typeface="DM Sans Italics"/>
                <a:sym typeface="DM Sans Italics"/>
              </a:rPr>
              <a:t>d</a:t>
            </a:r>
            <a:r>
              <a:rPr lang="en-US" sz="2500">
                <a:solidFill>
                  <a:srgbClr val="FFFFFF"/>
                </a:solidFill>
                <a:latin typeface="DM Sans"/>
                <a:ea typeface="DM Sans"/>
                <a:cs typeface="DM Sans"/>
                <a:sym typeface="DM Sans"/>
              </a:rPr>
              <a:t>, dan </a:t>
            </a:r>
            <a:r>
              <a:rPr lang="en-US" sz="2500" i="true">
                <a:solidFill>
                  <a:srgbClr val="FFFFFF"/>
                </a:solidFill>
                <a:latin typeface="DM Sans Italics"/>
                <a:ea typeface="DM Sans Italics"/>
                <a:cs typeface="DM Sans Italics"/>
                <a:sym typeface="DM Sans Italics"/>
              </a:rPr>
              <a:t>p</a:t>
            </a:r>
            <a:r>
              <a:rPr lang="en-US" sz="2500">
                <a:solidFill>
                  <a:srgbClr val="FFFFFF"/>
                </a:solidFill>
                <a:latin typeface="DM Sans"/>
                <a:ea typeface="DM Sans"/>
                <a:cs typeface="DM Sans"/>
                <a:sym typeface="DM Sans"/>
              </a:rPr>
              <a:t> Parameter ini ditentukan melalui dua pendekatan berbeda:</a:t>
            </a:r>
          </a:p>
          <a:p>
            <a:pPr algn="just" marL="539756" indent="-269878" lvl="1">
              <a:lnSpc>
                <a:spcPts val="3000"/>
              </a:lnSpc>
              <a:buFont typeface="Arial"/>
              <a:buChar char="•"/>
            </a:pPr>
            <a:r>
              <a:rPr lang="en-US" sz="2500">
                <a:solidFill>
                  <a:srgbClr val="FFFFFF"/>
                </a:solidFill>
                <a:latin typeface="DM Sans"/>
                <a:ea typeface="DM Sans"/>
                <a:cs typeface="DM Sans"/>
                <a:sym typeface="DM Sans"/>
              </a:rPr>
              <a:t>Metode CRR (Cox-Ross-Rubinstein) bersifat teoretis dan menghasilkan nilai stabil.</a:t>
            </a:r>
          </a:p>
          <a:p>
            <a:pPr algn="just" marL="539756" indent="-269878" lvl="1">
              <a:lnSpc>
                <a:spcPts val="3000"/>
              </a:lnSpc>
              <a:buFont typeface="Arial"/>
              <a:buChar char="•"/>
            </a:pPr>
            <a:r>
              <a:rPr lang="en-US" sz="2500">
                <a:solidFill>
                  <a:srgbClr val="FFFFFF"/>
                </a:solidFill>
                <a:latin typeface="DM Sans"/>
                <a:ea typeface="DM Sans"/>
                <a:cs typeface="DM Sans"/>
                <a:sym typeface="DM Sans"/>
              </a:rPr>
              <a:t>Pendekatan Empiris dihitung dari data historis sehingga lebih realistis terhadap kondisi pasar.</a:t>
            </a:r>
          </a:p>
          <a:p>
            <a:pPr algn="just">
              <a:lnSpc>
                <a:spcPts val="3000"/>
              </a:lnSpc>
            </a:pPr>
            <a:r>
              <a:rPr lang="en-US" sz="2500">
                <a:solidFill>
                  <a:srgbClr val="FFFFFF"/>
                </a:solidFill>
                <a:latin typeface="DM Sans"/>
                <a:ea typeface="DM Sans"/>
                <a:cs typeface="DM Sans"/>
                <a:sym typeface="DM Sans"/>
              </a:rPr>
              <a:t>Pendekatan empiris menyesuaikan dengan data aktual, sedangkan CRR lebih mengutamakan kestabilan secara matematis. Keduanya digunakan untuk melihat bagaimana perbedaan asumsi memengaruhi hasil simulasi harga saham.</a:t>
            </a:r>
          </a:p>
          <a:p>
            <a:pPr algn="just">
              <a:lnSpc>
                <a:spcPts val="3240"/>
              </a:lnSpc>
            </a:pPr>
          </a:p>
        </p:txBody>
      </p:sp>
      <p:sp>
        <p:nvSpPr>
          <p:cNvPr name="TextBox 30" id="30"/>
          <p:cNvSpPr txBox="true"/>
          <p:nvPr/>
        </p:nvSpPr>
        <p:spPr>
          <a:xfrm rot="0">
            <a:off x="8098396" y="1344062"/>
            <a:ext cx="5593180" cy="390525"/>
          </a:xfrm>
          <a:prstGeom prst="rect">
            <a:avLst/>
          </a:prstGeom>
        </p:spPr>
        <p:txBody>
          <a:bodyPr anchor="t" rtlCol="false" tIns="0" lIns="0" bIns="0" rIns="0">
            <a:spAutoFit/>
          </a:bodyPr>
          <a:lstStyle/>
          <a:p>
            <a:pPr algn="ctr">
              <a:lnSpc>
                <a:spcPts val="3000"/>
              </a:lnSpc>
            </a:pPr>
            <a:r>
              <a:rPr lang="en-US" b="true" sz="2500">
                <a:solidFill>
                  <a:srgbClr val="2F153B"/>
                </a:solidFill>
                <a:latin typeface="DM Sans Bold"/>
                <a:ea typeface="DM Sans Bold"/>
                <a:cs typeface="DM Sans Bold"/>
                <a:sym typeface="DM Sans Bold"/>
              </a:rPr>
              <a:t>Model Cox-Ross-Rubinstein(CRR)</a:t>
            </a:r>
          </a:p>
        </p:txBody>
      </p:sp>
      <p:sp>
        <p:nvSpPr>
          <p:cNvPr name="TextBox 31" id="31"/>
          <p:cNvSpPr txBox="true"/>
          <p:nvPr/>
        </p:nvSpPr>
        <p:spPr>
          <a:xfrm rot="0">
            <a:off x="8304921" y="3073105"/>
            <a:ext cx="5180130" cy="390525"/>
          </a:xfrm>
          <a:prstGeom prst="rect">
            <a:avLst/>
          </a:prstGeom>
        </p:spPr>
        <p:txBody>
          <a:bodyPr anchor="t" rtlCol="false" tIns="0" lIns="0" bIns="0" rIns="0">
            <a:spAutoFit/>
          </a:bodyPr>
          <a:lstStyle/>
          <a:p>
            <a:pPr algn="ctr">
              <a:lnSpc>
                <a:spcPts val="3000"/>
              </a:lnSpc>
            </a:pPr>
            <a:r>
              <a:rPr lang="en-US" b="true" sz="2500">
                <a:solidFill>
                  <a:srgbClr val="2F153B"/>
                </a:solidFill>
                <a:latin typeface="DM Sans Bold"/>
                <a:ea typeface="DM Sans Bold"/>
                <a:cs typeface="DM Sans Bold"/>
                <a:sym typeface="DM Sans Bold"/>
              </a:rPr>
              <a:t>Pendekatan Empiris</a:t>
            </a:r>
          </a:p>
        </p:txBody>
      </p:sp>
      <p:sp>
        <p:nvSpPr>
          <p:cNvPr name="Freeform 32" id="32"/>
          <p:cNvSpPr/>
          <p:nvPr/>
        </p:nvSpPr>
        <p:spPr>
          <a:xfrm flipH="false" flipV="false" rot="0">
            <a:off x="17289916"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1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734939" y="490106"/>
            <a:ext cx="16818123" cy="1181100"/>
          </a:xfrm>
          <a:prstGeom prst="rect">
            <a:avLst/>
          </a:prstGeom>
        </p:spPr>
        <p:txBody>
          <a:bodyPr anchor="t" rtlCol="false" tIns="0" lIns="0" bIns="0" rIns="0">
            <a:spAutoFit/>
          </a:bodyPr>
          <a:lstStyle/>
          <a:p>
            <a:pPr algn="ctr">
              <a:lnSpc>
                <a:spcPts val="7800"/>
              </a:lnSpc>
            </a:pPr>
            <a:r>
              <a:rPr lang="en-US" b="true" sz="6500">
                <a:solidFill>
                  <a:srgbClr val="FFFFFF"/>
                </a:solidFill>
                <a:latin typeface="Cooper Hewitt Bold"/>
                <a:ea typeface="Cooper Hewitt Bold"/>
                <a:cs typeface="Cooper Hewitt Bold"/>
                <a:sym typeface="Cooper Hewitt Bold"/>
              </a:rPr>
              <a:t>SIMULASI MONTE CARLO</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52788" y="7049247"/>
            <a:ext cx="3942058" cy="1117392"/>
            <a:chOff x="0" y="0"/>
            <a:chExt cx="1038238" cy="294293"/>
          </a:xfrm>
        </p:grpSpPr>
        <p:sp>
          <p:nvSpPr>
            <p:cNvPr name="Freeform 6" id="6"/>
            <p:cNvSpPr/>
            <p:nvPr/>
          </p:nvSpPr>
          <p:spPr>
            <a:xfrm flipH="false" flipV="false" rot="0">
              <a:off x="0" y="0"/>
              <a:ext cx="1038238" cy="294293"/>
            </a:xfrm>
            <a:custGeom>
              <a:avLst/>
              <a:gdLst/>
              <a:ahLst/>
              <a:cxnLst/>
              <a:rect r="r" b="b" t="t" l="l"/>
              <a:pathLst>
                <a:path h="294293" w="1038238">
                  <a:moveTo>
                    <a:pt x="47134" y="0"/>
                  </a:moveTo>
                  <a:lnTo>
                    <a:pt x="991103" y="0"/>
                  </a:lnTo>
                  <a:cubicBezTo>
                    <a:pt x="1003604" y="0"/>
                    <a:pt x="1015593" y="4966"/>
                    <a:pt x="1024432" y="13805"/>
                  </a:cubicBezTo>
                  <a:cubicBezTo>
                    <a:pt x="1033272" y="22645"/>
                    <a:pt x="1038238" y="34633"/>
                    <a:pt x="1038238" y="47134"/>
                  </a:cubicBezTo>
                  <a:lnTo>
                    <a:pt x="1038238" y="247158"/>
                  </a:lnTo>
                  <a:cubicBezTo>
                    <a:pt x="1038238" y="259659"/>
                    <a:pt x="1033272" y="271648"/>
                    <a:pt x="1024432" y="280487"/>
                  </a:cubicBezTo>
                  <a:cubicBezTo>
                    <a:pt x="1015593" y="289327"/>
                    <a:pt x="1003604" y="294293"/>
                    <a:pt x="991103" y="294293"/>
                  </a:cubicBezTo>
                  <a:lnTo>
                    <a:pt x="47134" y="294293"/>
                  </a:lnTo>
                  <a:cubicBezTo>
                    <a:pt x="34633" y="294293"/>
                    <a:pt x="22645" y="289327"/>
                    <a:pt x="13805" y="280487"/>
                  </a:cubicBezTo>
                  <a:cubicBezTo>
                    <a:pt x="4966" y="271648"/>
                    <a:pt x="0" y="259659"/>
                    <a:pt x="0" y="247158"/>
                  </a:cubicBezTo>
                  <a:lnTo>
                    <a:pt x="0" y="47134"/>
                  </a:lnTo>
                  <a:cubicBezTo>
                    <a:pt x="0" y="34633"/>
                    <a:pt x="4966" y="22645"/>
                    <a:pt x="13805" y="13805"/>
                  </a:cubicBezTo>
                  <a:cubicBezTo>
                    <a:pt x="22645" y="4966"/>
                    <a:pt x="34633" y="0"/>
                    <a:pt x="47134" y="0"/>
                  </a:cubicBezTo>
                  <a:close/>
                </a:path>
              </a:pathLst>
            </a:custGeom>
            <a:solidFill>
              <a:srgbClr val="E7BAFA"/>
            </a:solidFill>
          </p:spPr>
        </p:sp>
        <p:sp>
          <p:nvSpPr>
            <p:cNvPr name="TextBox 7" id="7"/>
            <p:cNvSpPr txBox="true"/>
            <p:nvPr/>
          </p:nvSpPr>
          <p:spPr>
            <a:xfrm>
              <a:off x="0" y="-38100"/>
              <a:ext cx="1038238" cy="33239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133736" y="7049247"/>
            <a:ext cx="3942058" cy="1117392"/>
            <a:chOff x="0" y="0"/>
            <a:chExt cx="1038238" cy="294293"/>
          </a:xfrm>
        </p:grpSpPr>
        <p:sp>
          <p:nvSpPr>
            <p:cNvPr name="Freeform 9" id="9"/>
            <p:cNvSpPr/>
            <p:nvPr/>
          </p:nvSpPr>
          <p:spPr>
            <a:xfrm flipH="false" flipV="false" rot="0">
              <a:off x="0" y="0"/>
              <a:ext cx="1038238" cy="294293"/>
            </a:xfrm>
            <a:custGeom>
              <a:avLst/>
              <a:gdLst/>
              <a:ahLst/>
              <a:cxnLst/>
              <a:rect r="r" b="b" t="t" l="l"/>
              <a:pathLst>
                <a:path h="294293" w="1038238">
                  <a:moveTo>
                    <a:pt x="47134" y="0"/>
                  </a:moveTo>
                  <a:lnTo>
                    <a:pt x="991103" y="0"/>
                  </a:lnTo>
                  <a:cubicBezTo>
                    <a:pt x="1003604" y="0"/>
                    <a:pt x="1015593" y="4966"/>
                    <a:pt x="1024432" y="13805"/>
                  </a:cubicBezTo>
                  <a:cubicBezTo>
                    <a:pt x="1033272" y="22645"/>
                    <a:pt x="1038238" y="34633"/>
                    <a:pt x="1038238" y="47134"/>
                  </a:cubicBezTo>
                  <a:lnTo>
                    <a:pt x="1038238" y="247158"/>
                  </a:lnTo>
                  <a:cubicBezTo>
                    <a:pt x="1038238" y="259659"/>
                    <a:pt x="1033272" y="271648"/>
                    <a:pt x="1024432" y="280487"/>
                  </a:cubicBezTo>
                  <a:cubicBezTo>
                    <a:pt x="1015593" y="289327"/>
                    <a:pt x="1003604" y="294293"/>
                    <a:pt x="991103" y="294293"/>
                  </a:cubicBezTo>
                  <a:lnTo>
                    <a:pt x="47134" y="294293"/>
                  </a:lnTo>
                  <a:cubicBezTo>
                    <a:pt x="34633" y="294293"/>
                    <a:pt x="22645" y="289327"/>
                    <a:pt x="13805" y="280487"/>
                  </a:cubicBezTo>
                  <a:cubicBezTo>
                    <a:pt x="4966" y="271648"/>
                    <a:pt x="0" y="259659"/>
                    <a:pt x="0" y="247158"/>
                  </a:cubicBezTo>
                  <a:lnTo>
                    <a:pt x="0" y="47134"/>
                  </a:lnTo>
                  <a:cubicBezTo>
                    <a:pt x="0" y="34633"/>
                    <a:pt x="4966" y="22645"/>
                    <a:pt x="13805" y="13805"/>
                  </a:cubicBezTo>
                  <a:cubicBezTo>
                    <a:pt x="22645" y="4966"/>
                    <a:pt x="34633" y="0"/>
                    <a:pt x="47134" y="0"/>
                  </a:cubicBezTo>
                  <a:close/>
                </a:path>
              </a:pathLst>
            </a:custGeom>
            <a:solidFill>
              <a:srgbClr val="E7BAFA"/>
            </a:solidFill>
          </p:spPr>
        </p:sp>
        <p:sp>
          <p:nvSpPr>
            <p:cNvPr name="TextBox 10" id="10"/>
            <p:cNvSpPr txBox="true"/>
            <p:nvPr/>
          </p:nvSpPr>
          <p:spPr>
            <a:xfrm>
              <a:off x="0" y="-38100"/>
              <a:ext cx="1038238" cy="33239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3418944" y="7049247"/>
            <a:ext cx="3942058" cy="1117392"/>
            <a:chOff x="0" y="0"/>
            <a:chExt cx="1038238" cy="294293"/>
          </a:xfrm>
        </p:grpSpPr>
        <p:sp>
          <p:nvSpPr>
            <p:cNvPr name="Freeform 12" id="12"/>
            <p:cNvSpPr/>
            <p:nvPr/>
          </p:nvSpPr>
          <p:spPr>
            <a:xfrm flipH="false" flipV="false" rot="0">
              <a:off x="0" y="0"/>
              <a:ext cx="1038238" cy="294293"/>
            </a:xfrm>
            <a:custGeom>
              <a:avLst/>
              <a:gdLst/>
              <a:ahLst/>
              <a:cxnLst/>
              <a:rect r="r" b="b" t="t" l="l"/>
              <a:pathLst>
                <a:path h="294293" w="1038238">
                  <a:moveTo>
                    <a:pt x="47134" y="0"/>
                  </a:moveTo>
                  <a:lnTo>
                    <a:pt x="991103" y="0"/>
                  </a:lnTo>
                  <a:cubicBezTo>
                    <a:pt x="1003604" y="0"/>
                    <a:pt x="1015593" y="4966"/>
                    <a:pt x="1024432" y="13805"/>
                  </a:cubicBezTo>
                  <a:cubicBezTo>
                    <a:pt x="1033272" y="22645"/>
                    <a:pt x="1038238" y="34633"/>
                    <a:pt x="1038238" y="47134"/>
                  </a:cubicBezTo>
                  <a:lnTo>
                    <a:pt x="1038238" y="247158"/>
                  </a:lnTo>
                  <a:cubicBezTo>
                    <a:pt x="1038238" y="259659"/>
                    <a:pt x="1033272" y="271648"/>
                    <a:pt x="1024432" y="280487"/>
                  </a:cubicBezTo>
                  <a:cubicBezTo>
                    <a:pt x="1015593" y="289327"/>
                    <a:pt x="1003604" y="294293"/>
                    <a:pt x="991103" y="294293"/>
                  </a:cubicBezTo>
                  <a:lnTo>
                    <a:pt x="47134" y="294293"/>
                  </a:lnTo>
                  <a:cubicBezTo>
                    <a:pt x="34633" y="294293"/>
                    <a:pt x="22645" y="289327"/>
                    <a:pt x="13805" y="280487"/>
                  </a:cubicBezTo>
                  <a:cubicBezTo>
                    <a:pt x="4966" y="271648"/>
                    <a:pt x="0" y="259659"/>
                    <a:pt x="0" y="247158"/>
                  </a:cubicBezTo>
                  <a:lnTo>
                    <a:pt x="0" y="47134"/>
                  </a:lnTo>
                  <a:cubicBezTo>
                    <a:pt x="0" y="34633"/>
                    <a:pt x="4966" y="22645"/>
                    <a:pt x="13805" y="13805"/>
                  </a:cubicBezTo>
                  <a:cubicBezTo>
                    <a:pt x="22645" y="4966"/>
                    <a:pt x="34633" y="0"/>
                    <a:pt x="47134" y="0"/>
                  </a:cubicBezTo>
                  <a:close/>
                </a:path>
              </a:pathLst>
            </a:custGeom>
            <a:solidFill>
              <a:srgbClr val="E7BAFA"/>
            </a:solidFill>
          </p:spPr>
        </p:sp>
        <p:sp>
          <p:nvSpPr>
            <p:cNvPr name="TextBox 13" id="13"/>
            <p:cNvSpPr txBox="true"/>
            <p:nvPr/>
          </p:nvSpPr>
          <p:spPr>
            <a:xfrm>
              <a:off x="0" y="-38100"/>
              <a:ext cx="1038238" cy="33239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470590" y="1737881"/>
            <a:ext cx="15786317" cy="2514600"/>
          </a:xfrm>
          <a:prstGeom prst="rect">
            <a:avLst/>
          </a:prstGeom>
        </p:spPr>
        <p:txBody>
          <a:bodyPr anchor="t" rtlCol="false" tIns="0" lIns="0" bIns="0" rIns="0">
            <a:spAutoFit/>
          </a:bodyPr>
          <a:lstStyle/>
          <a:p>
            <a:pPr algn="just">
              <a:lnSpc>
                <a:spcPts val="2879"/>
              </a:lnSpc>
            </a:pPr>
            <a:r>
              <a:rPr lang="en-US" sz="2400">
                <a:solidFill>
                  <a:srgbClr val="FFFFFF"/>
                </a:solidFill>
                <a:latin typeface="DM Sans"/>
                <a:ea typeface="DM Sans"/>
                <a:cs typeface="DM Sans"/>
                <a:sym typeface="DM Sans"/>
              </a:rPr>
              <a:t>Simulasi Monte Carlo digunakan untuk menghasilkan banyak lintasan harga saham berdasarkan model binomial.</a:t>
            </a:r>
          </a:p>
          <a:p>
            <a:pPr algn="just">
              <a:lnSpc>
                <a:spcPts val="2879"/>
              </a:lnSpc>
            </a:pPr>
            <a:r>
              <a:rPr lang="en-US" sz="2400">
                <a:solidFill>
                  <a:srgbClr val="FFFFFF"/>
                </a:solidFill>
                <a:latin typeface="DM Sans"/>
                <a:ea typeface="DM Sans"/>
                <a:cs typeface="DM Sans"/>
                <a:sym typeface="DM Sans"/>
              </a:rPr>
              <a:t>Langkah-langkah utama:</a:t>
            </a:r>
          </a:p>
          <a:p>
            <a:pPr algn="just" marL="518160" indent="-259080" lvl="1">
              <a:lnSpc>
                <a:spcPts val="2879"/>
              </a:lnSpc>
              <a:buAutoNum type="arabicPeriod" startAt="1"/>
            </a:pPr>
            <a:r>
              <a:rPr lang="en-US" sz="2400">
                <a:solidFill>
                  <a:srgbClr val="FFFFFF"/>
                </a:solidFill>
                <a:latin typeface="DM Sans"/>
                <a:ea typeface="DM Sans"/>
                <a:cs typeface="DM Sans"/>
                <a:sym typeface="DM Sans"/>
              </a:rPr>
              <a:t>Tentukan harga awal (S₀), periode (N), dan jumlah simulasi (M).</a:t>
            </a:r>
          </a:p>
          <a:p>
            <a:pPr algn="just" marL="518160" indent="-259080" lvl="1">
              <a:lnSpc>
                <a:spcPts val="2879"/>
              </a:lnSpc>
              <a:buAutoNum type="arabicPeriod" startAt="1"/>
            </a:pPr>
            <a:r>
              <a:rPr lang="en-US" sz="2400">
                <a:solidFill>
                  <a:srgbClr val="FFFFFF"/>
                </a:solidFill>
                <a:latin typeface="DM Sans"/>
                <a:ea typeface="DM Sans"/>
                <a:cs typeface="DM Sans"/>
                <a:sym typeface="DM Sans"/>
              </a:rPr>
              <a:t>Bangkitkan angka acak untuk menentukan arah naik atau turun.</a:t>
            </a:r>
          </a:p>
          <a:p>
            <a:pPr algn="just" marL="518160" indent="-259080" lvl="1">
              <a:lnSpc>
                <a:spcPts val="2879"/>
              </a:lnSpc>
              <a:buAutoNum type="arabicPeriod" startAt="1"/>
            </a:pPr>
            <a:r>
              <a:rPr lang="en-US" sz="2400">
                <a:solidFill>
                  <a:srgbClr val="FFFFFF"/>
                </a:solidFill>
                <a:latin typeface="DM Sans"/>
                <a:ea typeface="DM Sans"/>
                <a:cs typeface="DM Sans"/>
                <a:sym typeface="DM Sans"/>
              </a:rPr>
              <a:t>Ulangi hingga akhir periode untuk mendapatkan distribusi harga.</a:t>
            </a:r>
          </a:p>
          <a:p>
            <a:pPr algn="just" marL="518160" indent="-259080" lvl="1">
              <a:lnSpc>
                <a:spcPts val="2879"/>
              </a:lnSpc>
              <a:buAutoNum type="arabicPeriod" startAt="1"/>
            </a:pPr>
            <a:r>
              <a:rPr lang="en-US" sz="2400">
                <a:solidFill>
                  <a:srgbClr val="FFFFFF"/>
                </a:solidFill>
                <a:latin typeface="DM Sans"/>
                <a:ea typeface="DM Sans"/>
                <a:cs typeface="DM Sans"/>
                <a:sym typeface="DM Sans"/>
              </a:rPr>
              <a:t>Hitung rata-rata hasil simulasi dan selang kepercayaan 95%.</a:t>
            </a:r>
          </a:p>
          <a:p>
            <a:pPr algn="just">
              <a:lnSpc>
                <a:spcPts val="2760"/>
              </a:lnSpc>
            </a:pPr>
          </a:p>
        </p:txBody>
      </p:sp>
      <p:sp>
        <p:nvSpPr>
          <p:cNvPr name="TextBox 15" id="15"/>
          <p:cNvSpPr txBox="true"/>
          <p:nvPr/>
        </p:nvSpPr>
        <p:spPr>
          <a:xfrm rot="0">
            <a:off x="1040017" y="8417268"/>
            <a:ext cx="3754830" cy="1028700"/>
          </a:xfrm>
          <a:prstGeom prst="rect">
            <a:avLst/>
          </a:prstGeom>
        </p:spPr>
        <p:txBody>
          <a:bodyPr anchor="t" rtlCol="false" tIns="0" lIns="0" bIns="0" rIns="0">
            <a:spAutoFit/>
          </a:bodyPr>
          <a:lstStyle/>
          <a:p>
            <a:pPr algn="just">
              <a:lnSpc>
                <a:spcPts val="2760"/>
              </a:lnSpc>
            </a:pPr>
            <a:r>
              <a:rPr lang="en-US" sz="2300">
                <a:solidFill>
                  <a:srgbClr val="FFFFFF"/>
                </a:solidFill>
                <a:latin typeface="DM Sans"/>
                <a:ea typeface="DM Sans"/>
                <a:cs typeface="DM Sans"/>
                <a:sym typeface="DM Sans"/>
              </a:rPr>
              <a:t>rata-rata dari selisih absolut antara nilai aktual dan prediksi</a:t>
            </a:r>
          </a:p>
        </p:txBody>
      </p:sp>
      <p:sp>
        <p:nvSpPr>
          <p:cNvPr name="TextBox 16" id="16"/>
          <p:cNvSpPr txBox="true"/>
          <p:nvPr/>
        </p:nvSpPr>
        <p:spPr>
          <a:xfrm rot="0">
            <a:off x="6957510" y="8417268"/>
            <a:ext cx="4294510" cy="685800"/>
          </a:xfrm>
          <a:prstGeom prst="rect">
            <a:avLst/>
          </a:prstGeom>
        </p:spPr>
        <p:txBody>
          <a:bodyPr anchor="t" rtlCol="false" tIns="0" lIns="0" bIns="0" rIns="0">
            <a:spAutoFit/>
          </a:bodyPr>
          <a:lstStyle/>
          <a:p>
            <a:pPr algn="just">
              <a:lnSpc>
                <a:spcPts val="2760"/>
              </a:lnSpc>
            </a:pPr>
            <a:r>
              <a:rPr lang="en-US" sz="2300">
                <a:solidFill>
                  <a:srgbClr val="FFFFFF"/>
                </a:solidFill>
                <a:latin typeface="DM Sans"/>
                <a:ea typeface="DM Sans"/>
                <a:cs typeface="DM Sans"/>
                <a:sym typeface="DM Sans"/>
              </a:rPr>
              <a:t>rata-rata dari kuadrat selisih antara nilai aktual dan prediksi</a:t>
            </a:r>
          </a:p>
        </p:txBody>
      </p:sp>
      <p:sp>
        <p:nvSpPr>
          <p:cNvPr name="TextBox 17" id="17"/>
          <p:cNvSpPr txBox="true"/>
          <p:nvPr/>
        </p:nvSpPr>
        <p:spPr>
          <a:xfrm rot="0">
            <a:off x="13213578" y="8417268"/>
            <a:ext cx="4339484" cy="685800"/>
          </a:xfrm>
          <a:prstGeom prst="rect">
            <a:avLst/>
          </a:prstGeom>
        </p:spPr>
        <p:txBody>
          <a:bodyPr anchor="t" rtlCol="false" tIns="0" lIns="0" bIns="0" rIns="0">
            <a:spAutoFit/>
          </a:bodyPr>
          <a:lstStyle/>
          <a:p>
            <a:pPr algn="just">
              <a:lnSpc>
                <a:spcPts val="2760"/>
              </a:lnSpc>
            </a:pPr>
            <a:r>
              <a:rPr lang="en-US" sz="2300">
                <a:solidFill>
                  <a:srgbClr val="FFFFFF"/>
                </a:solidFill>
                <a:latin typeface="DM Sans"/>
                <a:ea typeface="DM Sans"/>
                <a:cs typeface="DM Sans"/>
                <a:sym typeface="DM Sans"/>
              </a:rPr>
              <a:t>rata-rata kesalahan absolut dalam bentuk persentase</a:t>
            </a:r>
          </a:p>
        </p:txBody>
      </p:sp>
      <p:sp>
        <p:nvSpPr>
          <p:cNvPr name="TextBox 18" id="18"/>
          <p:cNvSpPr txBox="true"/>
          <p:nvPr/>
        </p:nvSpPr>
        <p:spPr>
          <a:xfrm rot="0">
            <a:off x="989465" y="7236468"/>
            <a:ext cx="3668705" cy="742950"/>
          </a:xfrm>
          <a:prstGeom prst="rect">
            <a:avLst/>
          </a:prstGeom>
        </p:spPr>
        <p:txBody>
          <a:bodyPr anchor="t" rtlCol="false" tIns="0" lIns="0" bIns="0" rIns="0">
            <a:spAutoFit/>
          </a:bodyPr>
          <a:lstStyle/>
          <a:p>
            <a:pPr algn="ctr">
              <a:lnSpc>
                <a:spcPts val="2999"/>
              </a:lnSpc>
            </a:pPr>
            <a:r>
              <a:rPr lang="en-US" sz="2499" b="true">
                <a:solidFill>
                  <a:srgbClr val="2F153B"/>
                </a:solidFill>
                <a:latin typeface="DM Sans Bold"/>
                <a:ea typeface="DM Sans Bold"/>
                <a:cs typeface="DM Sans Bold"/>
                <a:sym typeface="DM Sans Bold"/>
              </a:rPr>
              <a:t>Mean Absolute Error</a:t>
            </a:r>
          </a:p>
          <a:p>
            <a:pPr algn="ctr">
              <a:lnSpc>
                <a:spcPts val="2999"/>
              </a:lnSpc>
            </a:pPr>
            <a:r>
              <a:rPr lang="en-US" b="true" sz="2499">
                <a:solidFill>
                  <a:srgbClr val="2F153B"/>
                </a:solidFill>
                <a:latin typeface="DM Sans Bold"/>
                <a:ea typeface="DM Sans Bold"/>
                <a:cs typeface="DM Sans Bold"/>
                <a:sym typeface="DM Sans Bold"/>
              </a:rPr>
              <a:t>(MAE)</a:t>
            </a:r>
          </a:p>
        </p:txBody>
      </p:sp>
      <p:sp>
        <p:nvSpPr>
          <p:cNvPr name="TextBox 19" id="19"/>
          <p:cNvSpPr txBox="true"/>
          <p:nvPr/>
        </p:nvSpPr>
        <p:spPr>
          <a:xfrm rot="0">
            <a:off x="7270412" y="7236468"/>
            <a:ext cx="3668705" cy="742950"/>
          </a:xfrm>
          <a:prstGeom prst="rect">
            <a:avLst/>
          </a:prstGeom>
        </p:spPr>
        <p:txBody>
          <a:bodyPr anchor="t" rtlCol="false" tIns="0" lIns="0" bIns="0" rIns="0">
            <a:spAutoFit/>
          </a:bodyPr>
          <a:lstStyle/>
          <a:p>
            <a:pPr algn="ctr">
              <a:lnSpc>
                <a:spcPts val="2999"/>
              </a:lnSpc>
            </a:pPr>
            <a:r>
              <a:rPr lang="en-US" sz="2499" b="true">
                <a:solidFill>
                  <a:srgbClr val="2F153B"/>
                </a:solidFill>
                <a:latin typeface="DM Sans Bold"/>
                <a:ea typeface="DM Sans Bold"/>
                <a:cs typeface="DM Sans Bold"/>
                <a:sym typeface="DM Sans Bold"/>
              </a:rPr>
              <a:t>Mean Squared Error</a:t>
            </a:r>
          </a:p>
          <a:p>
            <a:pPr algn="ctr">
              <a:lnSpc>
                <a:spcPts val="2999"/>
              </a:lnSpc>
            </a:pPr>
            <a:r>
              <a:rPr lang="en-US" b="true" sz="2499">
                <a:solidFill>
                  <a:srgbClr val="2F153B"/>
                </a:solidFill>
                <a:latin typeface="DM Sans Bold"/>
                <a:ea typeface="DM Sans Bold"/>
                <a:cs typeface="DM Sans Bold"/>
                <a:sym typeface="DM Sans Bold"/>
              </a:rPr>
              <a:t>(MSE)</a:t>
            </a:r>
          </a:p>
        </p:txBody>
      </p:sp>
      <p:sp>
        <p:nvSpPr>
          <p:cNvPr name="TextBox 20" id="20"/>
          <p:cNvSpPr txBox="true"/>
          <p:nvPr/>
        </p:nvSpPr>
        <p:spPr>
          <a:xfrm rot="0">
            <a:off x="13548967" y="7052214"/>
            <a:ext cx="3668705" cy="1114425"/>
          </a:xfrm>
          <a:prstGeom prst="rect">
            <a:avLst/>
          </a:prstGeom>
        </p:spPr>
        <p:txBody>
          <a:bodyPr anchor="t" rtlCol="false" tIns="0" lIns="0" bIns="0" rIns="0">
            <a:spAutoFit/>
          </a:bodyPr>
          <a:lstStyle/>
          <a:p>
            <a:pPr algn="ctr">
              <a:lnSpc>
                <a:spcPts val="2999"/>
              </a:lnSpc>
            </a:pPr>
            <a:r>
              <a:rPr lang="en-US" b="true" sz="2499">
                <a:solidFill>
                  <a:srgbClr val="2F153B"/>
                </a:solidFill>
                <a:latin typeface="DM Sans Bold"/>
                <a:ea typeface="DM Sans Bold"/>
                <a:cs typeface="DM Sans Bold"/>
                <a:sym typeface="DM Sans Bold"/>
              </a:rPr>
              <a:t>Mean Absolute Percentage Error (MAPE)</a:t>
            </a:r>
          </a:p>
        </p:txBody>
      </p:sp>
      <p:sp>
        <p:nvSpPr>
          <p:cNvPr name="Freeform 21" id="21"/>
          <p:cNvSpPr/>
          <p:nvPr/>
        </p:nvSpPr>
        <p:spPr>
          <a:xfrm flipH="false" flipV="false" rot="0">
            <a:off x="16817410" y="4719541"/>
            <a:ext cx="2793531" cy="909168"/>
          </a:xfrm>
          <a:custGeom>
            <a:avLst/>
            <a:gdLst/>
            <a:ahLst/>
            <a:cxnLst/>
            <a:rect r="r" b="b" t="t" l="l"/>
            <a:pathLst>
              <a:path h="909168" w="2793531">
                <a:moveTo>
                  <a:pt x="0" y="0"/>
                </a:moveTo>
                <a:lnTo>
                  <a:pt x="2793531" y="0"/>
                </a:lnTo>
                <a:lnTo>
                  <a:pt x="2793531" y="909167"/>
                </a:lnTo>
                <a:lnTo>
                  <a:pt x="0" y="9091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322941" y="4594134"/>
            <a:ext cx="2793531" cy="909168"/>
          </a:xfrm>
          <a:custGeom>
            <a:avLst/>
            <a:gdLst/>
            <a:ahLst/>
            <a:cxnLst/>
            <a:rect r="r" b="b" t="t" l="l"/>
            <a:pathLst>
              <a:path h="909168" w="2793531">
                <a:moveTo>
                  <a:pt x="0" y="0"/>
                </a:moveTo>
                <a:lnTo>
                  <a:pt x="2793531" y="0"/>
                </a:lnTo>
                <a:lnTo>
                  <a:pt x="2793531" y="909168"/>
                </a:lnTo>
                <a:lnTo>
                  <a:pt x="0" y="9091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1609254" y="9890980"/>
            <a:ext cx="21506508" cy="1542089"/>
            <a:chOff x="0" y="0"/>
            <a:chExt cx="5664265" cy="406147"/>
          </a:xfrm>
        </p:grpSpPr>
        <p:sp>
          <p:nvSpPr>
            <p:cNvPr name="Freeform 24" id="24"/>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25" id="25"/>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34939" y="4403634"/>
            <a:ext cx="16818123" cy="1181100"/>
          </a:xfrm>
          <a:prstGeom prst="rect">
            <a:avLst/>
          </a:prstGeom>
        </p:spPr>
        <p:txBody>
          <a:bodyPr anchor="t" rtlCol="false" tIns="0" lIns="0" bIns="0" rIns="0">
            <a:spAutoFit/>
          </a:bodyPr>
          <a:lstStyle/>
          <a:p>
            <a:pPr algn="ctr">
              <a:lnSpc>
                <a:spcPts val="7800"/>
              </a:lnSpc>
            </a:pPr>
            <a:r>
              <a:rPr lang="en-US" b="true" sz="6500">
                <a:solidFill>
                  <a:srgbClr val="FFFFFF"/>
                </a:solidFill>
                <a:latin typeface="Cooper Hewitt Bold"/>
                <a:ea typeface="Cooper Hewitt Bold"/>
                <a:cs typeface="Cooper Hewitt Bold"/>
                <a:sym typeface="Cooper Hewitt Bold"/>
              </a:rPr>
              <a:t>EVALUASI MODEL</a:t>
            </a:r>
          </a:p>
        </p:txBody>
      </p:sp>
      <p:sp>
        <p:nvSpPr>
          <p:cNvPr name="TextBox 27" id="27"/>
          <p:cNvSpPr txBox="true"/>
          <p:nvPr/>
        </p:nvSpPr>
        <p:spPr>
          <a:xfrm rot="0">
            <a:off x="2917431" y="5651409"/>
            <a:ext cx="12273555" cy="860425"/>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Canva Sans"/>
                <a:ea typeface="Canva Sans"/>
                <a:cs typeface="Canva Sans"/>
                <a:sym typeface="Canva Sans"/>
              </a:rPr>
              <a:t>Simulasi menghasilkan perbandingan antara harga aktual dengan hasil model CRR dan Empiris. Akurasi model diuji menggunakan ukuran kesalahan berikut:</a:t>
            </a:r>
          </a:p>
        </p:txBody>
      </p:sp>
      <p:sp>
        <p:nvSpPr>
          <p:cNvPr name="Freeform 28" id="28"/>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956667" y="1135546"/>
            <a:ext cx="12374667" cy="1111257"/>
          </a:xfrm>
          <a:prstGeom prst="rect">
            <a:avLst/>
          </a:prstGeom>
        </p:spPr>
        <p:txBody>
          <a:bodyPr anchor="t" rtlCol="false" tIns="0" lIns="0" bIns="0" rIns="0">
            <a:spAutoFit/>
          </a:bodyPr>
          <a:lstStyle/>
          <a:p>
            <a:pPr algn="ctr">
              <a:lnSpc>
                <a:spcPts val="7150"/>
              </a:lnSpc>
            </a:pPr>
            <a:r>
              <a:rPr lang="en-US" b="true" sz="6500">
                <a:solidFill>
                  <a:srgbClr val="FFFFFF"/>
                </a:solidFill>
                <a:latin typeface="Cooper Hewitt Bold"/>
                <a:ea typeface="Cooper Hewitt Bold"/>
                <a:cs typeface="Cooper Hewitt Bold"/>
                <a:sym typeface="Cooper Hewitt Bold"/>
              </a:rPr>
              <a:t>HASIL SIMULASI &amp; VISUALISASI</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028700" y="2888507"/>
            <a:ext cx="16230600" cy="5697740"/>
            <a:chOff x="0" y="0"/>
            <a:chExt cx="3795519" cy="1332414"/>
          </a:xfrm>
        </p:grpSpPr>
        <p:sp>
          <p:nvSpPr>
            <p:cNvPr name="Freeform 6" id="6"/>
            <p:cNvSpPr/>
            <p:nvPr/>
          </p:nvSpPr>
          <p:spPr>
            <a:xfrm flipH="false" flipV="false" rot="0">
              <a:off x="0" y="0"/>
              <a:ext cx="3795519" cy="1332414"/>
            </a:xfrm>
            <a:custGeom>
              <a:avLst/>
              <a:gdLst/>
              <a:ahLst/>
              <a:cxnLst/>
              <a:rect r="r" b="b" t="t" l="l"/>
              <a:pathLst>
                <a:path h="1332414" w="3795519">
                  <a:moveTo>
                    <a:pt x="24327" y="0"/>
                  </a:moveTo>
                  <a:lnTo>
                    <a:pt x="3771192" y="0"/>
                  </a:lnTo>
                  <a:cubicBezTo>
                    <a:pt x="3784628" y="0"/>
                    <a:pt x="3795519" y="10891"/>
                    <a:pt x="3795519" y="24327"/>
                  </a:cubicBezTo>
                  <a:lnTo>
                    <a:pt x="3795519" y="1308087"/>
                  </a:lnTo>
                  <a:cubicBezTo>
                    <a:pt x="3795519" y="1314539"/>
                    <a:pt x="3792956" y="1320727"/>
                    <a:pt x="3788394" y="1325289"/>
                  </a:cubicBezTo>
                  <a:cubicBezTo>
                    <a:pt x="3783832" y="1329851"/>
                    <a:pt x="3777644" y="1332414"/>
                    <a:pt x="3771192" y="1332414"/>
                  </a:cubicBezTo>
                  <a:lnTo>
                    <a:pt x="24327" y="1332414"/>
                  </a:lnTo>
                  <a:cubicBezTo>
                    <a:pt x="10891" y="1332414"/>
                    <a:pt x="0" y="1321523"/>
                    <a:pt x="0" y="1308087"/>
                  </a:cubicBezTo>
                  <a:lnTo>
                    <a:pt x="0" y="24327"/>
                  </a:lnTo>
                  <a:cubicBezTo>
                    <a:pt x="0" y="10891"/>
                    <a:pt x="10891" y="0"/>
                    <a:pt x="24327" y="0"/>
                  </a:cubicBezTo>
                  <a:close/>
                </a:path>
              </a:pathLst>
            </a:custGeom>
            <a:solidFill>
              <a:srgbClr val="ECB92A"/>
            </a:solidFill>
            <a:ln w="28575" cap="rnd">
              <a:solidFill>
                <a:srgbClr val="000000"/>
              </a:solidFill>
              <a:prstDash val="solid"/>
              <a:round/>
            </a:ln>
          </p:spPr>
        </p:sp>
        <p:sp>
          <p:nvSpPr>
            <p:cNvPr name="TextBox 7" id="7"/>
            <p:cNvSpPr txBox="true"/>
            <p:nvPr/>
          </p:nvSpPr>
          <p:spPr>
            <a:xfrm>
              <a:off x="0" y="-104775"/>
              <a:ext cx="3795519" cy="1437189"/>
            </a:xfrm>
            <a:prstGeom prst="rect">
              <a:avLst/>
            </a:prstGeom>
          </p:spPr>
          <p:txBody>
            <a:bodyPr anchor="ctr" rtlCol="false" tIns="50800" lIns="50800" bIns="50800" rIns="50800"/>
            <a:lstStyle/>
            <a:p>
              <a:pPr algn="ctr">
                <a:lnSpc>
                  <a:spcPts val="2906"/>
                </a:lnSpc>
              </a:pPr>
            </a:p>
          </p:txBody>
        </p:sp>
      </p:grpSp>
      <p:sp>
        <p:nvSpPr>
          <p:cNvPr name="Freeform 8" id="8"/>
          <p:cNvSpPr/>
          <p:nvPr/>
        </p:nvSpPr>
        <p:spPr>
          <a:xfrm flipH="false" flipV="false" rot="0">
            <a:off x="1492675" y="3807366"/>
            <a:ext cx="7770389" cy="3860021"/>
          </a:xfrm>
          <a:custGeom>
            <a:avLst/>
            <a:gdLst/>
            <a:ahLst/>
            <a:cxnLst/>
            <a:rect r="r" b="b" t="t" l="l"/>
            <a:pathLst>
              <a:path h="3860021" w="7770389">
                <a:moveTo>
                  <a:pt x="0" y="0"/>
                </a:moveTo>
                <a:lnTo>
                  <a:pt x="7770389" y="0"/>
                </a:lnTo>
                <a:lnTo>
                  <a:pt x="7770389" y="3860021"/>
                </a:lnTo>
                <a:lnTo>
                  <a:pt x="0" y="3860021"/>
                </a:lnTo>
                <a:lnTo>
                  <a:pt x="0" y="0"/>
                </a:lnTo>
                <a:close/>
              </a:path>
            </a:pathLst>
          </a:custGeom>
          <a:blipFill>
            <a:blip r:embed="rId4"/>
            <a:stretch>
              <a:fillRect l="0" t="0" r="0" b="0"/>
            </a:stretch>
          </a:blipFill>
        </p:spPr>
      </p:sp>
      <p:sp>
        <p:nvSpPr>
          <p:cNvPr name="Freeform 9" id="9"/>
          <p:cNvSpPr/>
          <p:nvPr/>
        </p:nvSpPr>
        <p:spPr>
          <a:xfrm flipH="false" flipV="false" rot="0">
            <a:off x="10599451" y="5299631"/>
            <a:ext cx="437746" cy="437746"/>
          </a:xfrm>
          <a:custGeom>
            <a:avLst/>
            <a:gdLst/>
            <a:ahLst/>
            <a:cxnLst/>
            <a:rect r="r" b="b" t="t" l="l"/>
            <a:pathLst>
              <a:path h="437746" w="437746">
                <a:moveTo>
                  <a:pt x="0" y="0"/>
                </a:moveTo>
                <a:lnTo>
                  <a:pt x="437746" y="0"/>
                </a:lnTo>
                <a:lnTo>
                  <a:pt x="437746" y="437746"/>
                </a:lnTo>
                <a:lnTo>
                  <a:pt x="0" y="4377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9828148" y="2888507"/>
            <a:ext cx="7431152" cy="5697740"/>
            <a:chOff x="0" y="0"/>
            <a:chExt cx="1737772" cy="1332414"/>
          </a:xfrm>
        </p:grpSpPr>
        <p:sp>
          <p:nvSpPr>
            <p:cNvPr name="Freeform 11" id="11"/>
            <p:cNvSpPr/>
            <p:nvPr/>
          </p:nvSpPr>
          <p:spPr>
            <a:xfrm flipH="false" flipV="false" rot="0">
              <a:off x="0" y="0"/>
              <a:ext cx="1737772" cy="1332414"/>
            </a:xfrm>
            <a:custGeom>
              <a:avLst/>
              <a:gdLst/>
              <a:ahLst/>
              <a:cxnLst/>
              <a:rect r="r" b="b" t="t" l="l"/>
              <a:pathLst>
                <a:path h="1332414" w="1737772">
                  <a:moveTo>
                    <a:pt x="53133" y="0"/>
                  </a:moveTo>
                  <a:lnTo>
                    <a:pt x="1684639" y="0"/>
                  </a:lnTo>
                  <a:cubicBezTo>
                    <a:pt x="1713984" y="0"/>
                    <a:pt x="1737772" y="23788"/>
                    <a:pt x="1737772" y="53133"/>
                  </a:cubicBezTo>
                  <a:lnTo>
                    <a:pt x="1737772" y="1279281"/>
                  </a:lnTo>
                  <a:cubicBezTo>
                    <a:pt x="1737772" y="1293373"/>
                    <a:pt x="1732174" y="1306888"/>
                    <a:pt x="1722210" y="1316852"/>
                  </a:cubicBezTo>
                  <a:cubicBezTo>
                    <a:pt x="1712245" y="1326816"/>
                    <a:pt x="1698731" y="1332414"/>
                    <a:pt x="1684639" y="1332414"/>
                  </a:cubicBezTo>
                  <a:lnTo>
                    <a:pt x="53133" y="1332414"/>
                  </a:lnTo>
                  <a:cubicBezTo>
                    <a:pt x="23788" y="1332414"/>
                    <a:pt x="0" y="1308626"/>
                    <a:pt x="0" y="1279281"/>
                  </a:cubicBezTo>
                  <a:lnTo>
                    <a:pt x="0" y="53133"/>
                  </a:lnTo>
                  <a:cubicBezTo>
                    <a:pt x="0" y="23788"/>
                    <a:pt x="23788" y="0"/>
                    <a:pt x="53133" y="0"/>
                  </a:cubicBezTo>
                  <a:close/>
                </a:path>
              </a:pathLst>
            </a:custGeom>
            <a:solidFill>
              <a:srgbClr val="EFE8FE"/>
            </a:solidFill>
            <a:ln w="28575" cap="rnd">
              <a:solidFill>
                <a:srgbClr val="000000"/>
              </a:solidFill>
              <a:prstDash val="solid"/>
              <a:round/>
            </a:ln>
          </p:spPr>
        </p:sp>
        <p:sp>
          <p:nvSpPr>
            <p:cNvPr name="TextBox 12" id="12"/>
            <p:cNvSpPr txBox="true"/>
            <p:nvPr/>
          </p:nvSpPr>
          <p:spPr>
            <a:xfrm>
              <a:off x="0" y="-104775"/>
              <a:ext cx="1737772" cy="1437189"/>
            </a:xfrm>
            <a:prstGeom prst="rect">
              <a:avLst/>
            </a:prstGeom>
          </p:spPr>
          <p:txBody>
            <a:bodyPr anchor="ctr" rtlCol="false" tIns="50800" lIns="50800" bIns="50800" rIns="50800"/>
            <a:lstStyle/>
            <a:p>
              <a:pPr algn="ctr">
                <a:lnSpc>
                  <a:spcPts val="2906"/>
                </a:lnSpc>
              </a:pPr>
            </a:p>
          </p:txBody>
        </p:sp>
      </p:grpSp>
      <p:sp>
        <p:nvSpPr>
          <p:cNvPr name="TextBox 13" id="13"/>
          <p:cNvSpPr txBox="true"/>
          <p:nvPr/>
        </p:nvSpPr>
        <p:spPr>
          <a:xfrm rot="0">
            <a:off x="10247306" y="3618206"/>
            <a:ext cx="6592835" cy="4124042"/>
          </a:xfrm>
          <a:prstGeom prst="rect">
            <a:avLst/>
          </a:prstGeom>
        </p:spPr>
        <p:txBody>
          <a:bodyPr anchor="t" rtlCol="false" tIns="0" lIns="0" bIns="0" rIns="0">
            <a:spAutoFit/>
          </a:bodyPr>
          <a:lstStyle/>
          <a:p>
            <a:pPr algn="just">
              <a:lnSpc>
                <a:spcPts val="3262"/>
              </a:lnSpc>
              <a:spcBef>
                <a:spcPct val="0"/>
              </a:spcBef>
            </a:pPr>
            <a:r>
              <a:rPr lang="en-US" sz="2330">
                <a:solidFill>
                  <a:srgbClr val="000000"/>
                </a:solidFill>
                <a:latin typeface="Agrandir"/>
                <a:ea typeface="Agrandir"/>
                <a:cs typeface="Agrandir"/>
                <a:sym typeface="Agrandir"/>
              </a:rPr>
              <a:t>Pada grafik perbandingan simulasi dan harga aktual, terlihat bahwa lintasan simulasi metode CRR cenderung lebih stabil dan berada di sekitar harga awal, sementara metode empiris memiliki rentang interval kepercayaan yang lebih lebar. Harga saham aktual sering berada di luar lintasan simulasi, yang menunjukkan bahwa pergerakan pasar nyata dipengaruhi oleh faktor eksternal yang tidak sepenuhnya tertangkap oleh model binomial.</a:t>
            </a:r>
          </a:p>
        </p:txBody>
      </p:sp>
      <p:sp>
        <p:nvSpPr>
          <p:cNvPr name="Freeform 14" id="14"/>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7"/>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956667" y="1135546"/>
            <a:ext cx="12374667" cy="1111257"/>
          </a:xfrm>
          <a:prstGeom prst="rect">
            <a:avLst/>
          </a:prstGeom>
        </p:spPr>
        <p:txBody>
          <a:bodyPr anchor="t" rtlCol="false" tIns="0" lIns="0" bIns="0" rIns="0">
            <a:spAutoFit/>
          </a:bodyPr>
          <a:lstStyle/>
          <a:p>
            <a:pPr algn="ctr">
              <a:lnSpc>
                <a:spcPts val="7150"/>
              </a:lnSpc>
            </a:pPr>
            <a:r>
              <a:rPr lang="en-US" b="true" sz="6500">
                <a:solidFill>
                  <a:srgbClr val="FFFFFF"/>
                </a:solidFill>
                <a:latin typeface="Cooper Hewitt Bold"/>
                <a:ea typeface="Cooper Hewitt Bold"/>
                <a:cs typeface="Cooper Hewitt Bold"/>
                <a:sym typeface="Cooper Hewitt Bold"/>
              </a:rPr>
              <a:t>HASIL SIMULASI &amp; VISUALISASI</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609254" y="9753600"/>
            <a:ext cx="21506508" cy="1542089"/>
            <a:chOff x="0" y="0"/>
            <a:chExt cx="5664265" cy="406147"/>
          </a:xfrm>
        </p:grpSpPr>
        <p:sp>
          <p:nvSpPr>
            <p:cNvPr name="Freeform 6" id="6"/>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7FD0"/>
            </a:solidFill>
          </p:spPr>
        </p:sp>
        <p:sp>
          <p:nvSpPr>
            <p:cNvPr name="TextBox 7" id="7"/>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38778" y="2684953"/>
            <a:ext cx="16810443" cy="5901293"/>
            <a:chOff x="0" y="0"/>
            <a:chExt cx="3795519" cy="1332414"/>
          </a:xfrm>
        </p:grpSpPr>
        <p:sp>
          <p:nvSpPr>
            <p:cNvPr name="Freeform 9" id="9"/>
            <p:cNvSpPr/>
            <p:nvPr/>
          </p:nvSpPr>
          <p:spPr>
            <a:xfrm flipH="false" flipV="false" rot="0">
              <a:off x="0" y="0"/>
              <a:ext cx="3795519" cy="1332414"/>
            </a:xfrm>
            <a:custGeom>
              <a:avLst/>
              <a:gdLst/>
              <a:ahLst/>
              <a:cxnLst/>
              <a:rect r="r" b="b" t="t" l="l"/>
              <a:pathLst>
                <a:path h="1332414" w="3795519">
                  <a:moveTo>
                    <a:pt x="23488" y="0"/>
                  </a:moveTo>
                  <a:lnTo>
                    <a:pt x="3772031" y="0"/>
                  </a:lnTo>
                  <a:cubicBezTo>
                    <a:pt x="3785003" y="0"/>
                    <a:pt x="3795519" y="10516"/>
                    <a:pt x="3795519" y="23488"/>
                  </a:cubicBezTo>
                  <a:lnTo>
                    <a:pt x="3795519" y="1308926"/>
                  </a:lnTo>
                  <a:cubicBezTo>
                    <a:pt x="3795519" y="1315156"/>
                    <a:pt x="3793044" y="1321130"/>
                    <a:pt x="3788640" y="1325535"/>
                  </a:cubicBezTo>
                  <a:cubicBezTo>
                    <a:pt x="3784235" y="1329940"/>
                    <a:pt x="3778261" y="1332414"/>
                    <a:pt x="3772031" y="1332414"/>
                  </a:cubicBezTo>
                  <a:lnTo>
                    <a:pt x="23488" y="1332414"/>
                  </a:lnTo>
                  <a:cubicBezTo>
                    <a:pt x="10516" y="1332414"/>
                    <a:pt x="0" y="1321898"/>
                    <a:pt x="0" y="1308926"/>
                  </a:cubicBezTo>
                  <a:lnTo>
                    <a:pt x="0" y="23488"/>
                  </a:lnTo>
                  <a:cubicBezTo>
                    <a:pt x="0" y="10516"/>
                    <a:pt x="10516" y="0"/>
                    <a:pt x="23488" y="0"/>
                  </a:cubicBezTo>
                  <a:close/>
                </a:path>
              </a:pathLst>
            </a:custGeom>
            <a:solidFill>
              <a:srgbClr val="ECB92A"/>
            </a:solidFill>
            <a:ln w="28575" cap="rnd">
              <a:solidFill>
                <a:srgbClr val="000000"/>
              </a:solidFill>
              <a:prstDash val="solid"/>
              <a:round/>
            </a:ln>
          </p:spPr>
        </p:sp>
        <p:sp>
          <p:nvSpPr>
            <p:cNvPr name="TextBox 10" id="10"/>
            <p:cNvSpPr txBox="true"/>
            <p:nvPr/>
          </p:nvSpPr>
          <p:spPr>
            <a:xfrm>
              <a:off x="0" y="-104775"/>
              <a:ext cx="3795519" cy="1437189"/>
            </a:xfrm>
            <a:prstGeom prst="rect">
              <a:avLst/>
            </a:prstGeom>
          </p:spPr>
          <p:txBody>
            <a:bodyPr anchor="ctr" rtlCol="false" tIns="50800" lIns="50800" bIns="50800" rIns="50800"/>
            <a:lstStyle/>
            <a:p>
              <a:pPr algn="ctr">
                <a:lnSpc>
                  <a:spcPts val="2906"/>
                </a:lnSpc>
              </a:pPr>
            </a:p>
          </p:txBody>
        </p:sp>
      </p:grpSp>
      <p:sp>
        <p:nvSpPr>
          <p:cNvPr name="Freeform 11" id="11"/>
          <p:cNvSpPr/>
          <p:nvPr/>
        </p:nvSpPr>
        <p:spPr>
          <a:xfrm flipH="false" flipV="false" rot="0">
            <a:off x="10651447" y="5182215"/>
            <a:ext cx="453384" cy="453384"/>
          </a:xfrm>
          <a:custGeom>
            <a:avLst/>
            <a:gdLst/>
            <a:ahLst/>
            <a:cxnLst/>
            <a:rect r="r" b="b" t="t" l="l"/>
            <a:pathLst>
              <a:path h="453384" w="453384">
                <a:moveTo>
                  <a:pt x="0" y="0"/>
                </a:moveTo>
                <a:lnTo>
                  <a:pt x="453385" y="0"/>
                </a:lnTo>
                <a:lnTo>
                  <a:pt x="453385" y="453385"/>
                </a:lnTo>
                <a:lnTo>
                  <a:pt x="0" y="453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9366974" y="2684953"/>
            <a:ext cx="8182248" cy="5901293"/>
            <a:chOff x="0" y="0"/>
            <a:chExt cx="1847416" cy="1332414"/>
          </a:xfrm>
        </p:grpSpPr>
        <p:sp>
          <p:nvSpPr>
            <p:cNvPr name="Freeform 13" id="13"/>
            <p:cNvSpPr/>
            <p:nvPr/>
          </p:nvSpPr>
          <p:spPr>
            <a:xfrm flipH="false" flipV="false" rot="0">
              <a:off x="0" y="0"/>
              <a:ext cx="1847416" cy="1332414"/>
            </a:xfrm>
            <a:custGeom>
              <a:avLst/>
              <a:gdLst/>
              <a:ahLst/>
              <a:cxnLst/>
              <a:rect r="r" b="b" t="t" l="l"/>
              <a:pathLst>
                <a:path h="1332414" w="1847416">
                  <a:moveTo>
                    <a:pt x="48255" y="0"/>
                  </a:moveTo>
                  <a:lnTo>
                    <a:pt x="1799161" y="0"/>
                  </a:lnTo>
                  <a:cubicBezTo>
                    <a:pt x="1825811" y="0"/>
                    <a:pt x="1847416" y="21605"/>
                    <a:pt x="1847416" y="48255"/>
                  </a:cubicBezTo>
                  <a:lnTo>
                    <a:pt x="1847416" y="1284159"/>
                  </a:lnTo>
                  <a:cubicBezTo>
                    <a:pt x="1847416" y="1296957"/>
                    <a:pt x="1842332" y="1309231"/>
                    <a:pt x="1833282" y="1318280"/>
                  </a:cubicBezTo>
                  <a:cubicBezTo>
                    <a:pt x="1824233" y="1327330"/>
                    <a:pt x="1811959" y="1332414"/>
                    <a:pt x="1799161" y="1332414"/>
                  </a:cubicBezTo>
                  <a:lnTo>
                    <a:pt x="48255" y="1332414"/>
                  </a:lnTo>
                  <a:cubicBezTo>
                    <a:pt x="35457" y="1332414"/>
                    <a:pt x="23183" y="1327330"/>
                    <a:pt x="14134" y="1318280"/>
                  </a:cubicBezTo>
                  <a:cubicBezTo>
                    <a:pt x="5084" y="1309231"/>
                    <a:pt x="0" y="1296957"/>
                    <a:pt x="0" y="1284159"/>
                  </a:cubicBezTo>
                  <a:lnTo>
                    <a:pt x="0" y="48255"/>
                  </a:lnTo>
                  <a:cubicBezTo>
                    <a:pt x="0" y="35457"/>
                    <a:pt x="5084" y="23183"/>
                    <a:pt x="14134" y="14134"/>
                  </a:cubicBezTo>
                  <a:cubicBezTo>
                    <a:pt x="23183" y="5084"/>
                    <a:pt x="35457" y="0"/>
                    <a:pt x="48255" y="0"/>
                  </a:cubicBezTo>
                  <a:close/>
                </a:path>
              </a:pathLst>
            </a:custGeom>
            <a:solidFill>
              <a:srgbClr val="FE7FD0"/>
            </a:solidFill>
            <a:ln w="28575" cap="rnd">
              <a:solidFill>
                <a:srgbClr val="000000"/>
              </a:solidFill>
              <a:prstDash val="solid"/>
              <a:round/>
            </a:ln>
          </p:spPr>
        </p:sp>
        <p:sp>
          <p:nvSpPr>
            <p:cNvPr name="TextBox 14" id="14"/>
            <p:cNvSpPr txBox="true"/>
            <p:nvPr/>
          </p:nvSpPr>
          <p:spPr>
            <a:xfrm>
              <a:off x="0" y="-104775"/>
              <a:ext cx="1847416" cy="1437189"/>
            </a:xfrm>
            <a:prstGeom prst="rect">
              <a:avLst/>
            </a:prstGeom>
          </p:spPr>
          <p:txBody>
            <a:bodyPr anchor="ctr" rtlCol="false" tIns="50800" lIns="50800" bIns="50800" rIns="50800"/>
            <a:lstStyle/>
            <a:p>
              <a:pPr algn="ctr">
                <a:lnSpc>
                  <a:spcPts val="2906"/>
                </a:lnSpc>
              </a:pPr>
            </a:p>
          </p:txBody>
        </p:sp>
      </p:grpSp>
      <p:sp>
        <p:nvSpPr>
          <p:cNvPr name="TextBox 15" id="15"/>
          <p:cNvSpPr txBox="true"/>
          <p:nvPr/>
        </p:nvSpPr>
        <p:spPr>
          <a:xfrm rot="0">
            <a:off x="1212181" y="3318502"/>
            <a:ext cx="7805598" cy="4510371"/>
          </a:xfrm>
          <a:prstGeom prst="rect">
            <a:avLst/>
          </a:prstGeom>
        </p:spPr>
        <p:txBody>
          <a:bodyPr anchor="t" rtlCol="false" tIns="0" lIns="0" bIns="0" rIns="0">
            <a:spAutoFit/>
          </a:bodyPr>
          <a:lstStyle/>
          <a:p>
            <a:pPr algn="just">
              <a:lnSpc>
                <a:spcPts val="3921"/>
              </a:lnSpc>
              <a:spcBef>
                <a:spcPct val="0"/>
              </a:spcBef>
            </a:pPr>
            <a:r>
              <a:rPr lang="en-US" sz="2801">
                <a:solidFill>
                  <a:srgbClr val="000000"/>
                </a:solidFill>
                <a:latin typeface="Agrandir"/>
                <a:ea typeface="Agrandir"/>
                <a:cs typeface="Agrandir"/>
                <a:sym typeface="Agrandir"/>
              </a:rPr>
              <a:t>Grafik binomial tree menggambarkan kemungkinan lintasan harga saham JSMR pada setiap periode waktu, berdasarkan model binomial. Seiring bertambahnya periode, rentang harga semakin melebar, yang menunjukkan meningkatnya ketidakpastian harga saham di masa depan. Pola ini mencerminkan karakteristik risiko yang bersifat kumulatif dalam pemodelan stokastik.</a:t>
            </a:r>
          </a:p>
        </p:txBody>
      </p:sp>
      <p:sp>
        <p:nvSpPr>
          <p:cNvPr name="Freeform 16" id="16"/>
          <p:cNvSpPr/>
          <p:nvPr/>
        </p:nvSpPr>
        <p:spPr>
          <a:xfrm flipH="false" flipV="false" rot="0">
            <a:off x="10329507" y="2931281"/>
            <a:ext cx="6501017" cy="5412958"/>
          </a:xfrm>
          <a:custGeom>
            <a:avLst/>
            <a:gdLst/>
            <a:ahLst/>
            <a:cxnLst/>
            <a:rect r="r" b="b" t="t" l="l"/>
            <a:pathLst>
              <a:path h="5412958" w="6501017">
                <a:moveTo>
                  <a:pt x="0" y="0"/>
                </a:moveTo>
                <a:lnTo>
                  <a:pt x="6501018" y="0"/>
                </a:lnTo>
                <a:lnTo>
                  <a:pt x="6501018" y="5412958"/>
                </a:lnTo>
                <a:lnTo>
                  <a:pt x="0" y="5412958"/>
                </a:lnTo>
                <a:lnTo>
                  <a:pt x="0" y="0"/>
                </a:lnTo>
                <a:close/>
              </a:path>
            </a:pathLst>
          </a:custGeom>
          <a:blipFill>
            <a:blip r:embed="rId6"/>
            <a:stretch>
              <a:fillRect l="0" t="0" r="0" b="0"/>
            </a:stretch>
          </a:blipFill>
        </p:spPr>
      </p:sp>
      <p:sp>
        <p:nvSpPr>
          <p:cNvPr name="Freeform 17" id="17"/>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7"/>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956667" y="1135546"/>
            <a:ext cx="12374667" cy="1111257"/>
          </a:xfrm>
          <a:prstGeom prst="rect">
            <a:avLst/>
          </a:prstGeom>
        </p:spPr>
        <p:txBody>
          <a:bodyPr anchor="t" rtlCol="false" tIns="0" lIns="0" bIns="0" rIns="0">
            <a:spAutoFit/>
          </a:bodyPr>
          <a:lstStyle/>
          <a:p>
            <a:pPr algn="ctr">
              <a:lnSpc>
                <a:spcPts val="7150"/>
              </a:lnSpc>
            </a:pPr>
            <a:r>
              <a:rPr lang="en-US" b="true" sz="6500">
                <a:solidFill>
                  <a:srgbClr val="FFFFFF"/>
                </a:solidFill>
                <a:latin typeface="Cooper Hewitt Bold"/>
                <a:ea typeface="Cooper Hewitt Bold"/>
                <a:cs typeface="Cooper Hewitt Bold"/>
                <a:sym typeface="Cooper Hewitt Bold"/>
              </a:rPr>
              <a:t>HASIL SIMULASI &amp; VISUALISASI</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651447" y="5182215"/>
            <a:ext cx="453384" cy="453384"/>
          </a:xfrm>
          <a:custGeom>
            <a:avLst/>
            <a:gdLst/>
            <a:ahLst/>
            <a:cxnLst/>
            <a:rect r="r" b="b" t="t" l="l"/>
            <a:pathLst>
              <a:path h="453384" w="453384">
                <a:moveTo>
                  <a:pt x="0" y="0"/>
                </a:moveTo>
                <a:lnTo>
                  <a:pt x="453385" y="0"/>
                </a:lnTo>
                <a:lnTo>
                  <a:pt x="453385" y="453385"/>
                </a:lnTo>
                <a:lnTo>
                  <a:pt x="0" y="453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6"/>
            <a:stretch>
              <a:fillRect l="0" t="0" r="0" b="0"/>
            </a:stretch>
          </a:blipFill>
        </p:spPr>
      </p:sp>
      <p:grpSp>
        <p:nvGrpSpPr>
          <p:cNvPr name="Group 7" id="7"/>
          <p:cNvGrpSpPr/>
          <p:nvPr/>
        </p:nvGrpSpPr>
        <p:grpSpPr>
          <a:xfrm rot="0">
            <a:off x="529083" y="2450808"/>
            <a:ext cx="17477430" cy="4052794"/>
            <a:chOff x="0" y="0"/>
            <a:chExt cx="3795519" cy="880133"/>
          </a:xfrm>
        </p:grpSpPr>
        <p:sp>
          <p:nvSpPr>
            <p:cNvPr name="Freeform 8" id="8"/>
            <p:cNvSpPr/>
            <p:nvPr/>
          </p:nvSpPr>
          <p:spPr>
            <a:xfrm flipH="false" flipV="false" rot="0">
              <a:off x="0" y="0"/>
              <a:ext cx="3795519" cy="880133"/>
            </a:xfrm>
            <a:custGeom>
              <a:avLst/>
              <a:gdLst/>
              <a:ahLst/>
              <a:cxnLst/>
              <a:rect r="r" b="b" t="t" l="l"/>
              <a:pathLst>
                <a:path h="880133" w="3795519">
                  <a:moveTo>
                    <a:pt x="22591" y="0"/>
                  </a:moveTo>
                  <a:lnTo>
                    <a:pt x="3772928" y="0"/>
                  </a:lnTo>
                  <a:cubicBezTo>
                    <a:pt x="3778919" y="0"/>
                    <a:pt x="3784665" y="2380"/>
                    <a:pt x="3788902" y="6617"/>
                  </a:cubicBezTo>
                  <a:cubicBezTo>
                    <a:pt x="3793139" y="10854"/>
                    <a:pt x="3795519" y="16600"/>
                    <a:pt x="3795519" y="22591"/>
                  </a:cubicBezTo>
                  <a:lnTo>
                    <a:pt x="3795519" y="857541"/>
                  </a:lnTo>
                  <a:cubicBezTo>
                    <a:pt x="3795519" y="870018"/>
                    <a:pt x="3785405" y="880133"/>
                    <a:pt x="3772928" y="880133"/>
                  </a:cubicBezTo>
                  <a:lnTo>
                    <a:pt x="22591" y="880133"/>
                  </a:lnTo>
                  <a:cubicBezTo>
                    <a:pt x="16600" y="880133"/>
                    <a:pt x="10854" y="877753"/>
                    <a:pt x="6617" y="873516"/>
                  </a:cubicBezTo>
                  <a:cubicBezTo>
                    <a:pt x="2380" y="869279"/>
                    <a:pt x="0" y="863533"/>
                    <a:pt x="0" y="857541"/>
                  </a:cubicBezTo>
                  <a:lnTo>
                    <a:pt x="0" y="22591"/>
                  </a:lnTo>
                  <a:cubicBezTo>
                    <a:pt x="0" y="16600"/>
                    <a:pt x="2380" y="10854"/>
                    <a:pt x="6617" y="6617"/>
                  </a:cubicBezTo>
                  <a:cubicBezTo>
                    <a:pt x="10854" y="2380"/>
                    <a:pt x="16600" y="0"/>
                    <a:pt x="22591" y="0"/>
                  </a:cubicBezTo>
                  <a:close/>
                </a:path>
              </a:pathLst>
            </a:custGeom>
            <a:solidFill>
              <a:srgbClr val="ECB92A"/>
            </a:solidFill>
            <a:ln w="28575" cap="rnd">
              <a:solidFill>
                <a:srgbClr val="000000"/>
              </a:solidFill>
              <a:prstDash val="solid"/>
              <a:round/>
            </a:ln>
          </p:spPr>
        </p:sp>
        <p:sp>
          <p:nvSpPr>
            <p:cNvPr name="TextBox 9" id="9"/>
            <p:cNvSpPr txBox="true"/>
            <p:nvPr/>
          </p:nvSpPr>
          <p:spPr>
            <a:xfrm>
              <a:off x="0" y="-104775"/>
              <a:ext cx="3795519" cy="984908"/>
            </a:xfrm>
            <a:prstGeom prst="rect">
              <a:avLst/>
            </a:prstGeom>
          </p:spPr>
          <p:txBody>
            <a:bodyPr anchor="ctr" rtlCol="false" tIns="50800" lIns="50800" bIns="50800" rIns="50800"/>
            <a:lstStyle/>
            <a:p>
              <a:pPr algn="ctr">
                <a:lnSpc>
                  <a:spcPts val="2906"/>
                </a:lnSpc>
              </a:pPr>
            </a:p>
          </p:txBody>
        </p:sp>
      </p:grpSp>
      <p:sp>
        <p:nvSpPr>
          <p:cNvPr name="Freeform 10" id="10"/>
          <p:cNvSpPr/>
          <p:nvPr/>
        </p:nvSpPr>
        <p:spPr>
          <a:xfrm flipH="false" flipV="false" rot="0">
            <a:off x="10835056" y="5047154"/>
            <a:ext cx="471373" cy="471373"/>
          </a:xfrm>
          <a:custGeom>
            <a:avLst/>
            <a:gdLst/>
            <a:ahLst/>
            <a:cxnLst/>
            <a:rect r="r" b="b" t="t" l="l"/>
            <a:pathLst>
              <a:path h="471373" w="471373">
                <a:moveTo>
                  <a:pt x="0" y="0"/>
                </a:moveTo>
                <a:lnTo>
                  <a:pt x="471373" y="0"/>
                </a:lnTo>
                <a:lnTo>
                  <a:pt x="471373" y="471373"/>
                </a:lnTo>
                <a:lnTo>
                  <a:pt x="0" y="471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144000" y="2450808"/>
            <a:ext cx="8862513" cy="4052794"/>
            <a:chOff x="0" y="0"/>
            <a:chExt cx="1924644" cy="880133"/>
          </a:xfrm>
        </p:grpSpPr>
        <p:sp>
          <p:nvSpPr>
            <p:cNvPr name="Freeform 12" id="12"/>
            <p:cNvSpPr/>
            <p:nvPr/>
          </p:nvSpPr>
          <p:spPr>
            <a:xfrm flipH="false" flipV="false" rot="0">
              <a:off x="0" y="0"/>
              <a:ext cx="1924644" cy="880133"/>
            </a:xfrm>
            <a:custGeom>
              <a:avLst/>
              <a:gdLst/>
              <a:ahLst/>
              <a:cxnLst/>
              <a:rect r="r" b="b" t="t" l="l"/>
              <a:pathLst>
                <a:path h="880133" w="1924644">
                  <a:moveTo>
                    <a:pt x="44551" y="0"/>
                  </a:moveTo>
                  <a:lnTo>
                    <a:pt x="1880093" y="0"/>
                  </a:lnTo>
                  <a:cubicBezTo>
                    <a:pt x="1904698" y="0"/>
                    <a:pt x="1924644" y="19946"/>
                    <a:pt x="1924644" y="44551"/>
                  </a:cubicBezTo>
                  <a:lnTo>
                    <a:pt x="1924644" y="835581"/>
                  </a:lnTo>
                  <a:cubicBezTo>
                    <a:pt x="1924644" y="860186"/>
                    <a:pt x="1904698" y="880133"/>
                    <a:pt x="1880093" y="880133"/>
                  </a:cubicBezTo>
                  <a:lnTo>
                    <a:pt x="44551" y="880133"/>
                  </a:lnTo>
                  <a:cubicBezTo>
                    <a:pt x="19946" y="880133"/>
                    <a:pt x="0" y="860186"/>
                    <a:pt x="0" y="835581"/>
                  </a:cubicBezTo>
                  <a:lnTo>
                    <a:pt x="0" y="44551"/>
                  </a:lnTo>
                  <a:cubicBezTo>
                    <a:pt x="0" y="19946"/>
                    <a:pt x="19946" y="0"/>
                    <a:pt x="44551" y="0"/>
                  </a:cubicBezTo>
                  <a:close/>
                </a:path>
              </a:pathLst>
            </a:custGeom>
            <a:solidFill>
              <a:srgbClr val="EFE8FE"/>
            </a:solidFill>
            <a:ln w="28575" cap="rnd">
              <a:solidFill>
                <a:srgbClr val="000000"/>
              </a:solidFill>
              <a:prstDash val="solid"/>
              <a:round/>
            </a:ln>
          </p:spPr>
        </p:sp>
        <p:sp>
          <p:nvSpPr>
            <p:cNvPr name="TextBox 13" id="13"/>
            <p:cNvSpPr txBox="true"/>
            <p:nvPr/>
          </p:nvSpPr>
          <p:spPr>
            <a:xfrm>
              <a:off x="0" y="-104775"/>
              <a:ext cx="1924644" cy="984908"/>
            </a:xfrm>
            <a:prstGeom prst="rect">
              <a:avLst/>
            </a:prstGeom>
          </p:spPr>
          <p:txBody>
            <a:bodyPr anchor="ctr" rtlCol="false" tIns="50800" lIns="50800" bIns="50800" rIns="50800"/>
            <a:lstStyle/>
            <a:p>
              <a:pPr algn="ctr">
                <a:lnSpc>
                  <a:spcPts val="2906"/>
                </a:lnSpc>
              </a:pPr>
            </a:p>
          </p:txBody>
        </p:sp>
      </p:grpSp>
      <p:sp>
        <p:nvSpPr>
          <p:cNvPr name="Freeform 14" id="14"/>
          <p:cNvSpPr/>
          <p:nvPr/>
        </p:nvSpPr>
        <p:spPr>
          <a:xfrm flipH="false" flipV="false" rot="0">
            <a:off x="860413" y="2816017"/>
            <a:ext cx="8061847" cy="3322376"/>
          </a:xfrm>
          <a:custGeom>
            <a:avLst/>
            <a:gdLst/>
            <a:ahLst/>
            <a:cxnLst/>
            <a:rect r="r" b="b" t="t" l="l"/>
            <a:pathLst>
              <a:path h="3322376" w="8061847">
                <a:moveTo>
                  <a:pt x="0" y="0"/>
                </a:moveTo>
                <a:lnTo>
                  <a:pt x="8061846" y="0"/>
                </a:lnTo>
                <a:lnTo>
                  <a:pt x="8061846" y="3322376"/>
                </a:lnTo>
                <a:lnTo>
                  <a:pt x="0" y="3322376"/>
                </a:lnTo>
                <a:lnTo>
                  <a:pt x="0" y="0"/>
                </a:lnTo>
                <a:close/>
              </a:path>
            </a:pathLst>
          </a:custGeom>
          <a:blipFill>
            <a:blip r:embed="rId7"/>
            <a:stretch>
              <a:fillRect l="0" t="0" r="0" b="0"/>
            </a:stretch>
          </a:blipFill>
        </p:spPr>
      </p:sp>
      <p:sp>
        <p:nvSpPr>
          <p:cNvPr name="Freeform 15" id="15"/>
          <p:cNvSpPr/>
          <p:nvPr/>
        </p:nvSpPr>
        <p:spPr>
          <a:xfrm flipH="false" flipV="false" rot="0">
            <a:off x="9544333" y="2816017"/>
            <a:ext cx="8061847" cy="3304661"/>
          </a:xfrm>
          <a:custGeom>
            <a:avLst/>
            <a:gdLst/>
            <a:ahLst/>
            <a:cxnLst/>
            <a:rect r="r" b="b" t="t" l="l"/>
            <a:pathLst>
              <a:path h="3304661" w="8061847">
                <a:moveTo>
                  <a:pt x="0" y="0"/>
                </a:moveTo>
                <a:lnTo>
                  <a:pt x="8061847" y="0"/>
                </a:lnTo>
                <a:lnTo>
                  <a:pt x="8061847" y="3304661"/>
                </a:lnTo>
                <a:lnTo>
                  <a:pt x="0" y="3304661"/>
                </a:lnTo>
                <a:lnTo>
                  <a:pt x="0" y="0"/>
                </a:lnTo>
                <a:close/>
              </a:path>
            </a:pathLst>
          </a:custGeom>
          <a:blipFill>
            <a:blip r:embed="rId8"/>
            <a:stretch>
              <a:fillRect l="0" t="-268" r="0" b="-268"/>
            </a:stretch>
          </a:blipFill>
        </p:spPr>
      </p:sp>
      <p:grpSp>
        <p:nvGrpSpPr>
          <p:cNvPr name="Group 16" id="16"/>
          <p:cNvGrpSpPr/>
          <p:nvPr/>
        </p:nvGrpSpPr>
        <p:grpSpPr>
          <a:xfrm rot="0">
            <a:off x="4720697" y="6843080"/>
            <a:ext cx="8846606" cy="2765550"/>
            <a:chOff x="0" y="0"/>
            <a:chExt cx="2329970" cy="728375"/>
          </a:xfrm>
        </p:grpSpPr>
        <p:sp>
          <p:nvSpPr>
            <p:cNvPr name="Freeform 17" id="17"/>
            <p:cNvSpPr/>
            <p:nvPr/>
          </p:nvSpPr>
          <p:spPr>
            <a:xfrm flipH="false" flipV="false" rot="0">
              <a:off x="0" y="0"/>
              <a:ext cx="2329970" cy="728375"/>
            </a:xfrm>
            <a:custGeom>
              <a:avLst/>
              <a:gdLst/>
              <a:ahLst/>
              <a:cxnLst/>
              <a:rect r="r" b="b" t="t" l="l"/>
              <a:pathLst>
                <a:path h="728375" w="2329970">
                  <a:moveTo>
                    <a:pt x="44632" y="0"/>
                  </a:moveTo>
                  <a:lnTo>
                    <a:pt x="2285339" y="0"/>
                  </a:lnTo>
                  <a:cubicBezTo>
                    <a:pt x="2297176" y="0"/>
                    <a:pt x="2308528" y="4702"/>
                    <a:pt x="2316898" y="13072"/>
                  </a:cubicBezTo>
                  <a:cubicBezTo>
                    <a:pt x="2325268" y="21442"/>
                    <a:pt x="2329970" y="32795"/>
                    <a:pt x="2329970" y="44632"/>
                  </a:cubicBezTo>
                  <a:lnTo>
                    <a:pt x="2329970" y="683744"/>
                  </a:lnTo>
                  <a:cubicBezTo>
                    <a:pt x="2329970" y="708393"/>
                    <a:pt x="2309988" y="728375"/>
                    <a:pt x="2285339" y="728375"/>
                  </a:cubicBezTo>
                  <a:lnTo>
                    <a:pt x="44632" y="728375"/>
                  </a:lnTo>
                  <a:cubicBezTo>
                    <a:pt x="32795" y="728375"/>
                    <a:pt x="21442" y="723673"/>
                    <a:pt x="13072" y="715303"/>
                  </a:cubicBezTo>
                  <a:cubicBezTo>
                    <a:pt x="4702" y="706933"/>
                    <a:pt x="0" y="695581"/>
                    <a:pt x="0" y="683744"/>
                  </a:cubicBezTo>
                  <a:lnTo>
                    <a:pt x="0" y="44632"/>
                  </a:lnTo>
                  <a:cubicBezTo>
                    <a:pt x="0" y="32795"/>
                    <a:pt x="4702" y="21442"/>
                    <a:pt x="13072" y="13072"/>
                  </a:cubicBezTo>
                  <a:cubicBezTo>
                    <a:pt x="21442" y="4702"/>
                    <a:pt x="32795" y="0"/>
                    <a:pt x="44632" y="0"/>
                  </a:cubicBezTo>
                  <a:close/>
                </a:path>
              </a:pathLst>
            </a:custGeom>
            <a:solidFill>
              <a:srgbClr val="FFFFFF"/>
            </a:solidFill>
            <a:ln w="28575" cap="rnd">
              <a:solidFill>
                <a:srgbClr val="000000"/>
              </a:solidFill>
              <a:prstDash val="solid"/>
              <a:round/>
            </a:ln>
          </p:spPr>
        </p:sp>
        <p:sp>
          <p:nvSpPr>
            <p:cNvPr name="TextBox 18" id="18"/>
            <p:cNvSpPr txBox="true"/>
            <p:nvPr/>
          </p:nvSpPr>
          <p:spPr>
            <a:xfrm>
              <a:off x="0" y="-104775"/>
              <a:ext cx="2329970" cy="833150"/>
            </a:xfrm>
            <a:prstGeom prst="rect">
              <a:avLst/>
            </a:prstGeom>
          </p:spPr>
          <p:txBody>
            <a:bodyPr anchor="ctr" rtlCol="false" tIns="50800" lIns="50800" bIns="50800" rIns="50800"/>
            <a:lstStyle/>
            <a:p>
              <a:pPr algn="ctr">
                <a:lnSpc>
                  <a:spcPts val="2906"/>
                </a:lnSpc>
              </a:pPr>
            </a:p>
          </p:txBody>
        </p:sp>
      </p:grpSp>
      <p:sp>
        <p:nvSpPr>
          <p:cNvPr name="TextBox 19" id="19"/>
          <p:cNvSpPr txBox="true"/>
          <p:nvPr/>
        </p:nvSpPr>
        <p:spPr>
          <a:xfrm rot="0">
            <a:off x="5201370" y="7163954"/>
            <a:ext cx="7885260" cy="2038076"/>
          </a:xfrm>
          <a:prstGeom prst="rect">
            <a:avLst/>
          </a:prstGeom>
        </p:spPr>
        <p:txBody>
          <a:bodyPr anchor="t" rtlCol="false" tIns="0" lIns="0" bIns="0" rIns="0">
            <a:spAutoFit/>
          </a:bodyPr>
          <a:lstStyle/>
          <a:p>
            <a:pPr algn="just">
              <a:lnSpc>
                <a:spcPts val="2640"/>
              </a:lnSpc>
              <a:spcBef>
                <a:spcPct val="0"/>
              </a:spcBef>
            </a:pPr>
            <a:r>
              <a:rPr lang="en-US" sz="1885">
                <a:solidFill>
                  <a:srgbClr val="000000"/>
                </a:solidFill>
                <a:latin typeface="Agrandir"/>
                <a:ea typeface="Agrandir"/>
                <a:cs typeface="Agrandir"/>
                <a:sym typeface="Agrandir"/>
              </a:rPr>
              <a:t>Histogram dan boxplot error digunakan untuk mengevaluasi akurasi kedua metode. Metode CRR menunjukkan distribusi error yang lebih lebar dengan kecenderungan error positif, sedangkan metode empiris menghasilkan error yang lebih terkonsentrasi di sekitar nilai nol. Hal ini mengindikasikan bahwa metode empiris memiliki tingkat kesalahan yang relatif lebih kecil dan konsisten dibandingkan metode CRR.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331333" y="1355618"/>
            <a:ext cx="2793531" cy="909168"/>
          </a:xfrm>
          <a:custGeom>
            <a:avLst/>
            <a:gdLst/>
            <a:ahLst/>
            <a:cxnLst/>
            <a:rect r="r" b="b" t="t" l="l"/>
            <a:pathLst>
              <a:path h="909168" w="2793531">
                <a:moveTo>
                  <a:pt x="0" y="0"/>
                </a:moveTo>
                <a:lnTo>
                  <a:pt x="2793532" y="0"/>
                </a:lnTo>
                <a:lnTo>
                  <a:pt x="2793532" y="909167"/>
                </a:lnTo>
                <a:lnTo>
                  <a:pt x="0" y="9091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8404475" y="2635496"/>
            <a:ext cx="1008352" cy="935489"/>
            <a:chOff x="0" y="0"/>
            <a:chExt cx="876107" cy="812800"/>
          </a:xfrm>
        </p:grpSpPr>
        <p:sp>
          <p:nvSpPr>
            <p:cNvPr name="Freeform 5" id="5"/>
            <p:cNvSpPr/>
            <p:nvPr/>
          </p:nvSpPr>
          <p:spPr>
            <a:xfrm flipH="false" flipV="false" rot="0">
              <a:off x="0" y="0"/>
              <a:ext cx="876107" cy="812800"/>
            </a:xfrm>
            <a:custGeom>
              <a:avLst/>
              <a:gdLst/>
              <a:ahLst/>
              <a:cxnLst/>
              <a:rect r="r" b="b" t="t" l="l"/>
              <a:pathLst>
                <a:path h="812800" w="876107">
                  <a:moveTo>
                    <a:pt x="438053" y="0"/>
                  </a:moveTo>
                  <a:cubicBezTo>
                    <a:pt x="196123" y="0"/>
                    <a:pt x="0" y="181951"/>
                    <a:pt x="0" y="406400"/>
                  </a:cubicBezTo>
                  <a:cubicBezTo>
                    <a:pt x="0" y="630849"/>
                    <a:pt x="196123" y="812800"/>
                    <a:pt x="438053" y="812800"/>
                  </a:cubicBezTo>
                  <a:cubicBezTo>
                    <a:pt x="679984" y="812800"/>
                    <a:pt x="876107" y="630849"/>
                    <a:pt x="876107" y="406400"/>
                  </a:cubicBezTo>
                  <a:cubicBezTo>
                    <a:pt x="876107" y="181951"/>
                    <a:pt x="679984" y="0"/>
                    <a:pt x="438053" y="0"/>
                  </a:cubicBezTo>
                  <a:close/>
                </a:path>
              </a:pathLst>
            </a:custGeom>
            <a:solidFill>
              <a:srgbClr val="FEC9E4"/>
            </a:solidFill>
          </p:spPr>
        </p:sp>
        <p:sp>
          <p:nvSpPr>
            <p:cNvPr name="TextBox 6" id="6"/>
            <p:cNvSpPr txBox="true"/>
            <p:nvPr/>
          </p:nvSpPr>
          <p:spPr>
            <a:xfrm>
              <a:off x="82135" y="38100"/>
              <a:ext cx="711837"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4260136" y="2635496"/>
            <a:ext cx="1008352" cy="935489"/>
            <a:chOff x="0" y="0"/>
            <a:chExt cx="876107" cy="812800"/>
          </a:xfrm>
        </p:grpSpPr>
        <p:sp>
          <p:nvSpPr>
            <p:cNvPr name="Freeform 8" id="8"/>
            <p:cNvSpPr/>
            <p:nvPr/>
          </p:nvSpPr>
          <p:spPr>
            <a:xfrm flipH="false" flipV="false" rot="0">
              <a:off x="0" y="0"/>
              <a:ext cx="876107" cy="812800"/>
            </a:xfrm>
            <a:custGeom>
              <a:avLst/>
              <a:gdLst/>
              <a:ahLst/>
              <a:cxnLst/>
              <a:rect r="r" b="b" t="t" l="l"/>
              <a:pathLst>
                <a:path h="812800" w="876107">
                  <a:moveTo>
                    <a:pt x="438053" y="0"/>
                  </a:moveTo>
                  <a:cubicBezTo>
                    <a:pt x="196123" y="0"/>
                    <a:pt x="0" y="181951"/>
                    <a:pt x="0" y="406400"/>
                  </a:cubicBezTo>
                  <a:cubicBezTo>
                    <a:pt x="0" y="630849"/>
                    <a:pt x="196123" y="812800"/>
                    <a:pt x="438053" y="812800"/>
                  </a:cubicBezTo>
                  <a:cubicBezTo>
                    <a:pt x="679984" y="812800"/>
                    <a:pt x="876107" y="630849"/>
                    <a:pt x="876107" y="406400"/>
                  </a:cubicBezTo>
                  <a:cubicBezTo>
                    <a:pt x="876107" y="181951"/>
                    <a:pt x="679984" y="0"/>
                    <a:pt x="438053" y="0"/>
                  </a:cubicBezTo>
                  <a:close/>
                </a:path>
              </a:pathLst>
            </a:custGeom>
            <a:solidFill>
              <a:srgbClr val="FEC9E4"/>
            </a:solidFill>
          </p:spPr>
        </p:sp>
        <p:sp>
          <p:nvSpPr>
            <p:cNvPr name="TextBox 9" id="9"/>
            <p:cNvSpPr txBox="true"/>
            <p:nvPr/>
          </p:nvSpPr>
          <p:spPr>
            <a:xfrm>
              <a:off x="82135" y="38100"/>
              <a:ext cx="711837" cy="69850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28700" y="1044821"/>
            <a:ext cx="14208615" cy="1181100"/>
          </a:xfrm>
          <a:prstGeom prst="rect">
            <a:avLst/>
          </a:prstGeom>
        </p:spPr>
        <p:txBody>
          <a:bodyPr anchor="t" rtlCol="false" tIns="0" lIns="0" bIns="0" rIns="0">
            <a:spAutoFit/>
          </a:bodyPr>
          <a:lstStyle/>
          <a:p>
            <a:pPr algn="l">
              <a:lnSpc>
                <a:spcPts val="7800"/>
              </a:lnSpc>
            </a:pPr>
            <a:r>
              <a:rPr lang="en-US" b="true" sz="6500">
                <a:solidFill>
                  <a:srgbClr val="FFFFFF"/>
                </a:solidFill>
                <a:latin typeface="Cooper Hewitt Bold"/>
                <a:ea typeface="Cooper Hewitt Bold"/>
                <a:cs typeface="Cooper Hewitt Bold"/>
                <a:sym typeface="Cooper Hewitt Bold"/>
              </a:rPr>
              <a:t>ANALISIS HASIL SIMULASI</a:t>
            </a:r>
          </a:p>
        </p:txBody>
      </p:sp>
      <p:sp>
        <p:nvSpPr>
          <p:cNvPr name="TextBox 11" id="11"/>
          <p:cNvSpPr txBox="true"/>
          <p:nvPr/>
        </p:nvSpPr>
        <p:spPr>
          <a:xfrm rot="0">
            <a:off x="8196404" y="2713735"/>
            <a:ext cx="1424562" cy="733425"/>
          </a:xfrm>
          <a:prstGeom prst="rect">
            <a:avLst/>
          </a:prstGeom>
        </p:spPr>
        <p:txBody>
          <a:bodyPr anchor="t" rtlCol="false" tIns="0" lIns="0" bIns="0" rIns="0">
            <a:spAutoFit/>
          </a:bodyPr>
          <a:lstStyle/>
          <a:p>
            <a:pPr algn="ctr">
              <a:lnSpc>
                <a:spcPts val="4800"/>
              </a:lnSpc>
            </a:pPr>
            <a:r>
              <a:rPr lang="en-US" b="true" sz="4000">
                <a:solidFill>
                  <a:srgbClr val="2F153B"/>
                </a:solidFill>
                <a:latin typeface="Cooper Hewitt Bold"/>
                <a:ea typeface="Cooper Hewitt Bold"/>
                <a:cs typeface="Cooper Hewitt Bold"/>
                <a:sym typeface="Cooper Hewitt Bold"/>
              </a:rPr>
              <a:t>1</a:t>
            </a:r>
          </a:p>
        </p:txBody>
      </p:sp>
      <p:sp>
        <p:nvSpPr>
          <p:cNvPr name="TextBox 12" id="12"/>
          <p:cNvSpPr txBox="true"/>
          <p:nvPr/>
        </p:nvSpPr>
        <p:spPr>
          <a:xfrm rot="0">
            <a:off x="14052032" y="2713735"/>
            <a:ext cx="1424562" cy="733425"/>
          </a:xfrm>
          <a:prstGeom prst="rect">
            <a:avLst/>
          </a:prstGeom>
        </p:spPr>
        <p:txBody>
          <a:bodyPr anchor="t" rtlCol="false" tIns="0" lIns="0" bIns="0" rIns="0">
            <a:spAutoFit/>
          </a:bodyPr>
          <a:lstStyle/>
          <a:p>
            <a:pPr algn="ctr">
              <a:lnSpc>
                <a:spcPts val="4800"/>
              </a:lnSpc>
            </a:pPr>
            <a:r>
              <a:rPr lang="en-US" b="true" sz="4000">
                <a:solidFill>
                  <a:srgbClr val="2F153B"/>
                </a:solidFill>
                <a:latin typeface="Cooper Hewitt Bold"/>
                <a:ea typeface="Cooper Hewitt Bold"/>
                <a:cs typeface="Cooper Hewitt Bold"/>
                <a:sym typeface="Cooper Hewitt Bold"/>
              </a:rPr>
              <a:t>2</a:t>
            </a:r>
          </a:p>
        </p:txBody>
      </p:sp>
      <p:sp>
        <p:nvSpPr>
          <p:cNvPr name="TextBox 13" id="13"/>
          <p:cNvSpPr txBox="true"/>
          <p:nvPr/>
        </p:nvSpPr>
        <p:spPr>
          <a:xfrm rot="0">
            <a:off x="6398885" y="3857090"/>
            <a:ext cx="5019532" cy="4914900"/>
          </a:xfrm>
          <a:prstGeom prst="rect">
            <a:avLst/>
          </a:prstGeom>
        </p:spPr>
        <p:txBody>
          <a:bodyPr anchor="t" rtlCol="false" tIns="0" lIns="0" bIns="0" rIns="0">
            <a:spAutoFit/>
          </a:bodyPr>
          <a:lstStyle/>
          <a:p>
            <a:pPr algn="just">
              <a:lnSpc>
                <a:spcPts val="3240"/>
              </a:lnSpc>
            </a:pPr>
            <a:r>
              <a:rPr lang="en-US" sz="2700">
                <a:solidFill>
                  <a:srgbClr val="FFFFFF"/>
                </a:solidFill>
                <a:latin typeface="DM Sans"/>
                <a:ea typeface="DM Sans"/>
                <a:cs typeface="DM Sans"/>
                <a:sym typeface="DM Sans"/>
              </a:rPr>
              <a:t>Berdasarkan hasil simulasi, model binomial mampu merepresentasikan arah umum pergerakan harga saham JSMR secara diskrit. Hasil simulasi dengan metode Cox–Ross–Rubinstein (CRR) menghasilkan lintasan harga yang relatif lebih stabil dan cenderung datar, sehingga respons model terhadap perubahan harga yang tajam menjadi terbatas.</a:t>
            </a:r>
          </a:p>
        </p:txBody>
      </p:sp>
      <p:sp>
        <p:nvSpPr>
          <p:cNvPr name="TextBox 14" id="14"/>
          <p:cNvSpPr txBox="true"/>
          <p:nvPr/>
        </p:nvSpPr>
        <p:spPr>
          <a:xfrm rot="0">
            <a:off x="12239768" y="3857090"/>
            <a:ext cx="5019532" cy="4095750"/>
          </a:xfrm>
          <a:prstGeom prst="rect">
            <a:avLst/>
          </a:prstGeom>
        </p:spPr>
        <p:txBody>
          <a:bodyPr anchor="t" rtlCol="false" tIns="0" lIns="0" bIns="0" rIns="0">
            <a:spAutoFit/>
          </a:bodyPr>
          <a:lstStyle/>
          <a:p>
            <a:pPr algn="just">
              <a:lnSpc>
                <a:spcPts val="3240"/>
              </a:lnSpc>
            </a:pPr>
            <a:r>
              <a:rPr lang="en-US" sz="2700">
                <a:solidFill>
                  <a:srgbClr val="FFFFFF"/>
                </a:solidFill>
                <a:latin typeface="DM Sans"/>
                <a:ea typeface="DM Sans"/>
                <a:cs typeface="DM Sans"/>
                <a:sym typeface="DM Sans"/>
              </a:rPr>
              <a:t>Sebaliknya, pendekatan empiris menghasilkan variasi harga yang lebih besar dan mampu mengikuti fluktuasi harga saham aktual dengan lebih baik. Perbedaan karakteristik ini dipengaruhi oleh metode estimasi parameter yang digunakan pada masing-masing pendekatan.</a:t>
            </a:r>
          </a:p>
        </p:txBody>
      </p:sp>
      <p:grpSp>
        <p:nvGrpSpPr>
          <p:cNvPr name="Group 15" id="15"/>
          <p:cNvGrpSpPr/>
          <p:nvPr/>
        </p:nvGrpSpPr>
        <p:grpSpPr>
          <a:xfrm rot="0">
            <a:off x="-1609254" y="9753600"/>
            <a:ext cx="21506508" cy="1542089"/>
            <a:chOff x="0" y="0"/>
            <a:chExt cx="5664265" cy="406147"/>
          </a:xfrm>
        </p:grpSpPr>
        <p:sp>
          <p:nvSpPr>
            <p:cNvPr name="Freeform 16" id="16"/>
            <p:cNvSpPr/>
            <p:nvPr/>
          </p:nvSpPr>
          <p:spPr>
            <a:xfrm flipH="false" flipV="false" rot="0">
              <a:off x="0" y="0"/>
              <a:ext cx="5664265" cy="406147"/>
            </a:xfrm>
            <a:custGeom>
              <a:avLst/>
              <a:gdLst/>
              <a:ahLst/>
              <a:cxnLst/>
              <a:rect r="r" b="b" t="t" l="l"/>
              <a:pathLst>
                <a:path h="406147" w="5664265">
                  <a:moveTo>
                    <a:pt x="0" y="0"/>
                  </a:moveTo>
                  <a:lnTo>
                    <a:pt x="5664265" y="0"/>
                  </a:lnTo>
                  <a:lnTo>
                    <a:pt x="5664265" y="406147"/>
                  </a:lnTo>
                  <a:lnTo>
                    <a:pt x="0" y="406147"/>
                  </a:lnTo>
                  <a:close/>
                </a:path>
              </a:pathLst>
            </a:custGeom>
            <a:solidFill>
              <a:srgbClr val="FEC9E4"/>
            </a:solidFill>
          </p:spPr>
        </p:sp>
        <p:sp>
          <p:nvSpPr>
            <p:cNvPr name="TextBox 17" id="17"/>
            <p:cNvSpPr txBox="true"/>
            <p:nvPr/>
          </p:nvSpPr>
          <p:spPr>
            <a:xfrm>
              <a:off x="0" y="-38100"/>
              <a:ext cx="5664265" cy="444247"/>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1541370">
            <a:off x="2029458" y="2400515"/>
            <a:ext cx="3810256" cy="5485971"/>
          </a:xfrm>
          <a:custGeom>
            <a:avLst/>
            <a:gdLst/>
            <a:ahLst/>
            <a:cxnLst/>
            <a:rect r="r" b="b" t="t" l="l"/>
            <a:pathLst>
              <a:path h="5485971" w="3810256">
                <a:moveTo>
                  <a:pt x="0" y="0"/>
                </a:moveTo>
                <a:lnTo>
                  <a:pt x="3810256" y="0"/>
                </a:lnTo>
                <a:lnTo>
                  <a:pt x="3810256" y="5485970"/>
                </a:lnTo>
                <a:lnTo>
                  <a:pt x="0" y="54859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0">
            <a:off x="1028700" y="4806336"/>
            <a:ext cx="3314592" cy="3446173"/>
          </a:xfrm>
          <a:custGeom>
            <a:avLst/>
            <a:gdLst/>
            <a:ahLst/>
            <a:cxnLst/>
            <a:rect r="r" b="b" t="t" l="l"/>
            <a:pathLst>
              <a:path h="3446173" w="3314592">
                <a:moveTo>
                  <a:pt x="0" y="0"/>
                </a:moveTo>
                <a:lnTo>
                  <a:pt x="3314592" y="0"/>
                </a:lnTo>
                <a:lnTo>
                  <a:pt x="3314592" y="3446173"/>
                </a:lnTo>
                <a:lnTo>
                  <a:pt x="0" y="34461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7456529"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10"/>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956667" y="904875"/>
            <a:ext cx="12374667" cy="2016132"/>
          </a:xfrm>
          <a:prstGeom prst="rect">
            <a:avLst/>
          </a:prstGeom>
        </p:spPr>
        <p:txBody>
          <a:bodyPr anchor="t" rtlCol="false" tIns="0" lIns="0" bIns="0" rIns="0">
            <a:spAutoFit/>
          </a:bodyPr>
          <a:lstStyle/>
          <a:p>
            <a:pPr algn="ctr">
              <a:lnSpc>
                <a:spcPts val="7150"/>
              </a:lnSpc>
            </a:pPr>
            <a:r>
              <a:rPr lang="en-US" b="true" sz="6500">
                <a:solidFill>
                  <a:srgbClr val="FFFFFF"/>
                </a:solidFill>
                <a:latin typeface="Cooper Hewitt Bold"/>
                <a:ea typeface="Cooper Hewitt Bold"/>
                <a:cs typeface="Cooper Hewitt Bold"/>
                <a:sym typeface="Cooper Hewitt Bold"/>
              </a:rPr>
              <a:t>EVALUASI DAN PERBANDINGAN METODE</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4"/>
            <a:stretch>
              <a:fillRect l="0" t="0" r="0" b="0"/>
            </a:stretch>
          </a:blipFill>
        </p:spPr>
      </p:sp>
      <p:grpSp>
        <p:nvGrpSpPr>
          <p:cNvPr name="Group 6" id="6"/>
          <p:cNvGrpSpPr/>
          <p:nvPr/>
        </p:nvGrpSpPr>
        <p:grpSpPr>
          <a:xfrm rot="0">
            <a:off x="1556131" y="3482869"/>
            <a:ext cx="15175737" cy="5327431"/>
            <a:chOff x="0" y="0"/>
            <a:chExt cx="3795519" cy="1332414"/>
          </a:xfrm>
        </p:grpSpPr>
        <p:sp>
          <p:nvSpPr>
            <p:cNvPr name="Freeform 7" id="7"/>
            <p:cNvSpPr/>
            <p:nvPr/>
          </p:nvSpPr>
          <p:spPr>
            <a:xfrm flipH="false" flipV="false" rot="0">
              <a:off x="0" y="0"/>
              <a:ext cx="3795519" cy="1332414"/>
            </a:xfrm>
            <a:custGeom>
              <a:avLst/>
              <a:gdLst/>
              <a:ahLst/>
              <a:cxnLst/>
              <a:rect r="r" b="b" t="t" l="l"/>
              <a:pathLst>
                <a:path h="1332414" w="3795519">
                  <a:moveTo>
                    <a:pt x="26018" y="0"/>
                  </a:moveTo>
                  <a:lnTo>
                    <a:pt x="3769501" y="0"/>
                  </a:lnTo>
                  <a:cubicBezTo>
                    <a:pt x="3776402" y="0"/>
                    <a:pt x="3783019" y="2741"/>
                    <a:pt x="3787899" y="7620"/>
                  </a:cubicBezTo>
                  <a:cubicBezTo>
                    <a:pt x="3792778" y="12500"/>
                    <a:pt x="3795519" y="19117"/>
                    <a:pt x="3795519" y="26018"/>
                  </a:cubicBezTo>
                  <a:lnTo>
                    <a:pt x="3795519" y="1306396"/>
                  </a:lnTo>
                  <a:cubicBezTo>
                    <a:pt x="3795519" y="1313297"/>
                    <a:pt x="3792778" y="1319914"/>
                    <a:pt x="3787899" y="1324794"/>
                  </a:cubicBezTo>
                  <a:cubicBezTo>
                    <a:pt x="3783019" y="1329673"/>
                    <a:pt x="3776402" y="1332414"/>
                    <a:pt x="3769501" y="1332414"/>
                  </a:cubicBezTo>
                  <a:lnTo>
                    <a:pt x="26018" y="1332414"/>
                  </a:lnTo>
                  <a:cubicBezTo>
                    <a:pt x="11649" y="1332414"/>
                    <a:pt x="0" y="1320766"/>
                    <a:pt x="0" y="1306396"/>
                  </a:cubicBezTo>
                  <a:lnTo>
                    <a:pt x="0" y="26018"/>
                  </a:lnTo>
                  <a:cubicBezTo>
                    <a:pt x="0" y="11649"/>
                    <a:pt x="11649" y="0"/>
                    <a:pt x="26018" y="0"/>
                  </a:cubicBezTo>
                  <a:close/>
                </a:path>
              </a:pathLst>
            </a:custGeom>
            <a:solidFill>
              <a:srgbClr val="ECB92A"/>
            </a:solidFill>
            <a:ln w="28575" cap="rnd">
              <a:solidFill>
                <a:srgbClr val="000000"/>
              </a:solidFill>
              <a:prstDash val="solid"/>
              <a:round/>
            </a:ln>
          </p:spPr>
        </p:sp>
        <p:sp>
          <p:nvSpPr>
            <p:cNvPr name="TextBox 8" id="8"/>
            <p:cNvSpPr txBox="true"/>
            <p:nvPr/>
          </p:nvSpPr>
          <p:spPr>
            <a:xfrm>
              <a:off x="0" y="-104775"/>
              <a:ext cx="3795519" cy="1437189"/>
            </a:xfrm>
            <a:prstGeom prst="rect">
              <a:avLst/>
            </a:prstGeom>
          </p:spPr>
          <p:txBody>
            <a:bodyPr anchor="ctr" rtlCol="false" tIns="50800" lIns="50800" bIns="50800" rIns="50800"/>
            <a:lstStyle/>
            <a:p>
              <a:pPr algn="ctr">
                <a:lnSpc>
                  <a:spcPts val="2906"/>
                </a:lnSpc>
              </a:pPr>
            </a:p>
          </p:txBody>
        </p:sp>
      </p:grpSp>
      <p:grpSp>
        <p:nvGrpSpPr>
          <p:cNvPr name="Group 9" id="9"/>
          <p:cNvGrpSpPr/>
          <p:nvPr/>
        </p:nvGrpSpPr>
        <p:grpSpPr>
          <a:xfrm rot="0">
            <a:off x="10082939" y="3482869"/>
            <a:ext cx="5208314" cy="5327431"/>
            <a:chOff x="0" y="0"/>
            <a:chExt cx="1302622" cy="1332414"/>
          </a:xfrm>
        </p:grpSpPr>
        <p:sp>
          <p:nvSpPr>
            <p:cNvPr name="Freeform 10" id="10"/>
            <p:cNvSpPr/>
            <p:nvPr/>
          </p:nvSpPr>
          <p:spPr>
            <a:xfrm flipH="false" flipV="false" rot="0">
              <a:off x="0" y="0"/>
              <a:ext cx="1302622" cy="1332414"/>
            </a:xfrm>
            <a:custGeom>
              <a:avLst/>
              <a:gdLst/>
              <a:ahLst/>
              <a:cxnLst/>
              <a:rect r="r" b="b" t="t" l="l"/>
              <a:pathLst>
                <a:path h="1332414" w="1302622">
                  <a:moveTo>
                    <a:pt x="75809" y="0"/>
                  </a:moveTo>
                  <a:lnTo>
                    <a:pt x="1226813" y="0"/>
                  </a:lnTo>
                  <a:cubicBezTo>
                    <a:pt x="1246919" y="0"/>
                    <a:pt x="1266201" y="7987"/>
                    <a:pt x="1280418" y="22204"/>
                  </a:cubicBezTo>
                  <a:cubicBezTo>
                    <a:pt x="1294635" y="36421"/>
                    <a:pt x="1302622" y="55703"/>
                    <a:pt x="1302622" y="75809"/>
                  </a:cubicBezTo>
                  <a:lnTo>
                    <a:pt x="1302622" y="1256605"/>
                  </a:lnTo>
                  <a:cubicBezTo>
                    <a:pt x="1302622" y="1276711"/>
                    <a:pt x="1294635" y="1295993"/>
                    <a:pt x="1280418" y="1310210"/>
                  </a:cubicBezTo>
                  <a:cubicBezTo>
                    <a:pt x="1266201" y="1324427"/>
                    <a:pt x="1246919" y="1332414"/>
                    <a:pt x="1226813" y="1332414"/>
                  </a:cubicBezTo>
                  <a:lnTo>
                    <a:pt x="75809" y="1332414"/>
                  </a:lnTo>
                  <a:cubicBezTo>
                    <a:pt x="55703" y="1332414"/>
                    <a:pt x="36421" y="1324427"/>
                    <a:pt x="22204" y="1310210"/>
                  </a:cubicBezTo>
                  <a:cubicBezTo>
                    <a:pt x="7987" y="1295993"/>
                    <a:pt x="0" y="1276711"/>
                    <a:pt x="0" y="1256605"/>
                  </a:cubicBezTo>
                  <a:lnTo>
                    <a:pt x="0" y="75809"/>
                  </a:lnTo>
                  <a:cubicBezTo>
                    <a:pt x="0" y="55703"/>
                    <a:pt x="7987" y="36421"/>
                    <a:pt x="22204" y="22204"/>
                  </a:cubicBezTo>
                  <a:cubicBezTo>
                    <a:pt x="36421" y="7987"/>
                    <a:pt x="55703" y="0"/>
                    <a:pt x="75809" y="0"/>
                  </a:cubicBezTo>
                  <a:close/>
                </a:path>
              </a:pathLst>
            </a:custGeom>
            <a:solidFill>
              <a:srgbClr val="B08DF8"/>
            </a:solidFill>
            <a:ln w="28575" cap="rnd">
              <a:solidFill>
                <a:srgbClr val="000000"/>
              </a:solidFill>
              <a:prstDash val="solid"/>
              <a:round/>
            </a:ln>
          </p:spPr>
        </p:sp>
        <p:sp>
          <p:nvSpPr>
            <p:cNvPr name="TextBox 11" id="11"/>
            <p:cNvSpPr txBox="true"/>
            <p:nvPr/>
          </p:nvSpPr>
          <p:spPr>
            <a:xfrm>
              <a:off x="0" y="-104775"/>
              <a:ext cx="1302622" cy="1437189"/>
            </a:xfrm>
            <a:prstGeom prst="rect">
              <a:avLst/>
            </a:prstGeom>
          </p:spPr>
          <p:txBody>
            <a:bodyPr anchor="ctr" rtlCol="false" tIns="50800" lIns="50800" bIns="50800" rIns="50800"/>
            <a:lstStyle/>
            <a:p>
              <a:pPr algn="ctr">
                <a:lnSpc>
                  <a:spcPts val="2906"/>
                </a:lnSpc>
              </a:pPr>
            </a:p>
          </p:txBody>
        </p:sp>
      </p:grpSp>
      <p:grpSp>
        <p:nvGrpSpPr>
          <p:cNvPr name="Group 12" id="12"/>
          <p:cNvGrpSpPr/>
          <p:nvPr/>
        </p:nvGrpSpPr>
        <p:grpSpPr>
          <a:xfrm rot="0">
            <a:off x="11523555" y="3482869"/>
            <a:ext cx="5208314" cy="5327431"/>
            <a:chOff x="0" y="0"/>
            <a:chExt cx="1302622" cy="1332414"/>
          </a:xfrm>
        </p:grpSpPr>
        <p:sp>
          <p:nvSpPr>
            <p:cNvPr name="Freeform 13" id="13"/>
            <p:cNvSpPr/>
            <p:nvPr/>
          </p:nvSpPr>
          <p:spPr>
            <a:xfrm flipH="false" flipV="false" rot="0">
              <a:off x="0" y="0"/>
              <a:ext cx="1302622" cy="1332414"/>
            </a:xfrm>
            <a:custGeom>
              <a:avLst/>
              <a:gdLst/>
              <a:ahLst/>
              <a:cxnLst/>
              <a:rect r="r" b="b" t="t" l="l"/>
              <a:pathLst>
                <a:path h="1332414" w="1302622">
                  <a:moveTo>
                    <a:pt x="75809" y="0"/>
                  </a:moveTo>
                  <a:lnTo>
                    <a:pt x="1226813" y="0"/>
                  </a:lnTo>
                  <a:cubicBezTo>
                    <a:pt x="1246919" y="0"/>
                    <a:pt x="1266201" y="7987"/>
                    <a:pt x="1280418" y="22204"/>
                  </a:cubicBezTo>
                  <a:cubicBezTo>
                    <a:pt x="1294635" y="36421"/>
                    <a:pt x="1302622" y="55703"/>
                    <a:pt x="1302622" y="75809"/>
                  </a:cubicBezTo>
                  <a:lnTo>
                    <a:pt x="1302622" y="1256605"/>
                  </a:lnTo>
                  <a:cubicBezTo>
                    <a:pt x="1302622" y="1276711"/>
                    <a:pt x="1294635" y="1295993"/>
                    <a:pt x="1280418" y="1310210"/>
                  </a:cubicBezTo>
                  <a:cubicBezTo>
                    <a:pt x="1266201" y="1324427"/>
                    <a:pt x="1246919" y="1332414"/>
                    <a:pt x="1226813" y="1332414"/>
                  </a:cubicBezTo>
                  <a:lnTo>
                    <a:pt x="75809" y="1332414"/>
                  </a:lnTo>
                  <a:cubicBezTo>
                    <a:pt x="55703" y="1332414"/>
                    <a:pt x="36421" y="1324427"/>
                    <a:pt x="22204" y="1310210"/>
                  </a:cubicBezTo>
                  <a:cubicBezTo>
                    <a:pt x="7987" y="1295993"/>
                    <a:pt x="0" y="1276711"/>
                    <a:pt x="0" y="1256605"/>
                  </a:cubicBezTo>
                  <a:lnTo>
                    <a:pt x="0" y="75809"/>
                  </a:lnTo>
                  <a:cubicBezTo>
                    <a:pt x="0" y="55703"/>
                    <a:pt x="7987" y="36421"/>
                    <a:pt x="22204" y="22204"/>
                  </a:cubicBezTo>
                  <a:cubicBezTo>
                    <a:pt x="36421" y="7987"/>
                    <a:pt x="55703" y="0"/>
                    <a:pt x="75809" y="0"/>
                  </a:cubicBezTo>
                  <a:close/>
                </a:path>
              </a:pathLst>
            </a:custGeom>
            <a:solidFill>
              <a:srgbClr val="EFE8FE"/>
            </a:solidFill>
            <a:ln w="28575" cap="rnd">
              <a:solidFill>
                <a:srgbClr val="000000"/>
              </a:solidFill>
              <a:prstDash val="solid"/>
              <a:round/>
            </a:ln>
          </p:spPr>
        </p:sp>
        <p:sp>
          <p:nvSpPr>
            <p:cNvPr name="TextBox 14" id="14"/>
            <p:cNvSpPr txBox="true"/>
            <p:nvPr/>
          </p:nvSpPr>
          <p:spPr>
            <a:xfrm>
              <a:off x="0" y="-104775"/>
              <a:ext cx="1302622" cy="1437189"/>
            </a:xfrm>
            <a:prstGeom prst="rect">
              <a:avLst/>
            </a:prstGeom>
          </p:spPr>
          <p:txBody>
            <a:bodyPr anchor="ctr" rtlCol="false" tIns="50800" lIns="50800" bIns="50800" rIns="50800"/>
            <a:lstStyle/>
            <a:p>
              <a:pPr algn="ctr">
                <a:lnSpc>
                  <a:spcPts val="2906"/>
                </a:lnSpc>
              </a:pPr>
            </a:p>
          </p:txBody>
        </p:sp>
      </p:grpSp>
      <p:sp>
        <p:nvSpPr>
          <p:cNvPr name="Freeform 15" id="15"/>
          <p:cNvSpPr/>
          <p:nvPr/>
        </p:nvSpPr>
        <p:spPr>
          <a:xfrm flipH="false" flipV="false" rot="0">
            <a:off x="12028544" y="3572243"/>
            <a:ext cx="3722573" cy="4739388"/>
          </a:xfrm>
          <a:custGeom>
            <a:avLst/>
            <a:gdLst/>
            <a:ahLst/>
            <a:cxnLst/>
            <a:rect r="r" b="b" t="t" l="l"/>
            <a:pathLst>
              <a:path h="4739388" w="3722573">
                <a:moveTo>
                  <a:pt x="0" y="0"/>
                </a:moveTo>
                <a:lnTo>
                  <a:pt x="3722574" y="0"/>
                </a:lnTo>
                <a:lnTo>
                  <a:pt x="3722574" y="4739388"/>
                </a:lnTo>
                <a:lnTo>
                  <a:pt x="0" y="47393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941646" y="3725982"/>
            <a:ext cx="7888731" cy="4822586"/>
          </a:xfrm>
          <a:prstGeom prst="rect">
            <a:avLst/>
          </a:prstGeom>
        </p:spPr>
        <p:txBody>
          <a:bodyPr anchor="t" rtlCol="false" tIns="0" lIns="0" bIns="0" rIns="0">
            <a:spAutoFit/>
          </a:bodyPr>
          <a:lstStyle/>
          <a:p>
            <a:pPr algn="just">
              <a:lnSpc>
                <a:spcPts val="2916"/>
              </a:lnSpc>
              <a:spcBef>
                <a:spcPct val="0"/>
              </a:spcBef>
            </a:pPr>
            <a:r>
              <a:rPr lang="en-US" sz="2083">
                <a:solidFill>
                  <a:srgbClr val="010101"/>
                </a:solidFill>
                <a:latin typeface="Agrandir"/>
                <a:ea typeface="Agrandir"/>
                <a:cs typeface="Agrandir"/>
                <a:sym typeface="Agrandir"/>
              </a:rPr>
              <a:t>Berdasarkan hasil evaluasi, pendekatan empiris menunjukkan kinerja simulasi yang lebih baik dibandingkan metode Cox–Ross–Rubinstein (CRR). Secara kuantitatif, metode CRR menghasilkan nilai MAE sebesar 408,95, MSE sebesar 192.258,76, dan MAPE sebesar 11,50%, yang menunjukkan tingkat kesalahan simulasi yang relatif lebih besar. Sebaliknya, pendekatan empiris menghasilkan nilai MAE sebesar 253,37, MSE sebesar 78.867,90, dan MAPE sebesar 7,11%, sehingga lebih mendekati harga saham aktual. Dengan demikian, pendekatan empiris terbukti lebih adaptif dalam merepresentasikan dinamika harga saham JSMR sementara metode CRR cenderung menghasilkan estimasi yang lebih stabil dan konservatif.</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2715855" y="895350"/>
            <a:ext cx="12856290" cy="1193807"/>
          </a:xfrm>
          <a:prstGeom prst="rect">
            <a:avLst/>
          </a:prstGeom>
        </p:spPr>
        <p:txBody>
          <a:bodyPr anchor="t" rtlCol="false" tIns="0" lIns="0" bIns="0" rIns="0">
            <a:spAutoFit/>
          </a:bodyPr>
          <a:lstStyle/>
          <a:p>
            <a:pPr algn="ctr">
              <a:lnSpc>
                <a:spcPts val="7700"/>
              </a:lnSpc>
            </a:pPr>
            <a:r>
              <a:rPr lang="en-US" b="true" sz="7000">
                <a:solidFill>
                  <a:srgbClr val="FFFFFF"/>
                </a:solidFill>
                <a:latin typeface="Cooper Hewitt Bold"/>
                <a:ea typeface="Cooper Hewitt Bold"/>
                <a:cs typeface="Cooper Hewitt Bold"/>
                <a:sym typeface="Cooper Hewitt Bold"/>
              </a:rPr>
              <a:t>KESIMPULAN</a:t>
            </a:r>
          </a:p>
        </p:txBody>
      </p:sp>
      <p:sp>
        <p:nvSpPr>
          <p:cNvPr name="Freeform 3" id="3"/>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4"/>
            <a:stretch>
              <a:fillRect l="0" t="0" r="0" b="0"/>
            </a:stretch>
          </a:blipFill>
        </p:spPr>
      </p:sp>
      <p:sp>
        <p:nvSpPr>
          <p:cNvPr name="Freeform 6" id="6"/>
          <p:cNvSpPr/>
          <p:nvPr/>
        </p:nvSpPr>
        <p:spPr>
          <a:xfrm flipH="false" flipV="false" rot="0">
            <a:off x="10527650" y="5345709"/>
            <a:ext cx="453384" cy="453384"/>
          </a:xfrm>
          <a:custGeom>
            <a:avLst/>
            <a:gdLst/>
            <a:ahLst/>
            <a:cxnLst/>
            <a:rect r="r" b="b" t="t" l="l"/>
            <a:pathLst>
              <a:path h="453384" w="453384">
                <a:moveTo>
                  <a:pt x="0" y="0"/>
                </a:moveTo>
                <a:lnTo>
                  <a:pt x="453384" y="0"/>
                </a:lnTo>
                <a:lnTo>
                  <a:pt x="453384" y="453384"/>
                </a:lnTo>
                <a:lnTo>
                  <a:pt x="0" y="453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405285" y="2614302"/>
            <a:ext cx="17477430" cy="4052794"/>
            <a:chOff x="0" y="0"/>
            <a:chExt cx="3795519" cy="880133"/>
          </a:xfrm>
        </p:grpSpPr>
        <p:sp>
          <p:nvSpPr>
            <p:cNvPr name="Freeform 8" id="8"/>
            <p:cNvSpPr/>
            <p:nvPr/>
          </p:nvSpPr>
          <p:spPr>
            <a:xfrm flipH="false" flipV="false" rot="0">
              <a:off x="0" y="0"/>
              <a:ext cx="3795519" cy="880133"/>
            </a:xfrm>
            <a:custGeom>
              <a:avLst/>
              <a:gdLst/>
              <a:ahLst/>
              <a:cxnLst/>
              <a:rect r="r" b="b" t="t" l="l"/>
              <a:pathLst>
                <a:path h="880133" w="3795519">
                  <a:moveTo>
                    <a:pt x="22591" y="0"/>
                  </a:moveTo>
                  <a:lnTo>
                    <a:pt x="3772928" y="0"/>
                  </a:lnTo>
                  <a:cubicBezTo>
                    <a:pt x="3778919" y="0"/>
                    <a:pt x="3784665" y="2380"/>
                    <a:pt x="3788902" y="6617"/>
                  </a:cubicBezTo>
                  <a:cubicBezTo>
                    <a:pt x="3793139" y="10854"/>
                    <a:pt x="3795519" y="16600"/>
                    <a:pt x="3795519" y="22591"/>
                  </a:cubicBezTo>
                  <a:lnTo>
                    <a:pt x="3795519" y="857541"/>
                  </a:lnTo>
                  <a:cubicBezTo>
                    <a:pt x="3795519" y="870018"/>
                    <a:pt x="3785405" y="880133"/>
                    <a:pt x="3772928" y="880133"/>
                  </a:cubicBezTo>
                  <a:lnTo>
                    <a:pt x="22591" y="880133"/>
                  </a:lnTo>
                  <a:cubicBezTo>
                    <a:pt x="16600" y="880133"/>
                    <a:pt x="10854" y="877753"/>
                    <a:pt x="6617" y="873516"/>
                  </a:cubicBezTo>
                  <a:cubicBezTo>
                    <a:pt x="2380" y="869279"/>
                    <a:pt x="0" y="863533"/>
                    <a:pt x="0" y="857541"/>
                  </a:cubicBezTo>
                  <a:lnTo>
                    <a:pt x="0" y="22591"/>
                  </a:lnTo>
                  <a:cubicBezTo>
                    <a:pt x="0" y="16600"/>
                    <a:pt x="2380" y="10854"/>
                    <a:pt x="6617" y="6617"/>
                  </a:cubicBezTo>
                  <a:cubicBezTo>
                    <a:pt x="10854" y="2380"/>
                    <a:pt x="16600" y="0"/>
                    <a:pt x="22591" y="0"/>
                  </a:cubicBezTo>
                  <a:close/>
                </a:path>
              </a:pathLst>
            </a:custGeom>
            <a:solidFill>
              <a:srgbClr val="ECB92A"/>
            </a:solidFill>
            <a:ln w="28575" cap="rnd">
              <a:solidFill>
                <a:srgbClr val="000000"/>
              </a:solidFill>
              <a:prstDash val="solid"/>
              <a:round/>
            </a:ln>
          </p:spPr>
        </p:sp>
        <p:sp>
          <p:nvSpPr>
            <p:cNvPr name="TextBox 9" id="9"/>
            <p:cNvSpPr txBox="true"/>
            <p:nvPr/>
          </p:nvSpPr>
          <p:spPr>
            <a:xfrm>
              <a:off x="0" y="-104775"/>
              <a:ext cx="3795519" cy="984908"/>
            </a:xfrm>
            <a:prstGeom prst="rect">
              <a:avLst/>
            </a:prstGeom>
          </p:spPr>
          <p:txBody>
            <a:bodyPr anchor="ctr" rtlCol="false" tIns="50800" lIns="50800" bIns="50800" rIns="50800"/>
            <a:lstStyle/>
            <a:p>
              <a:pPr algn="ctr">
                <a:lnSpc>
                  <a:spcPts val="2906"/>
                </a:lnSpc>
              </a:pPr>
            </a:p>
          </p:txBody>
        </p:sp>
      </p:grpSp>
      <p:grpSp>
        <p:nvGrpSpPr>
          <p:cNvPr name="Group 10" id="10"/>
          <p:cNvGrpSpPr/>
          <p:nvPr/>
        </p:nvGrpSpPr>
        <p:grpSpPr>
          <a:xfrm rot="0">
            <a:off x="4588608" y="5799093"/>
            <a:ext cx="8862850" cy="4052794"/>
            <a:chOff x="0" y="0"/>
            <a:chExt cx="1924718" cy="880133"/>
          </a:xfrm>
        </p:grpSpPr>
        <p:sp>
          <p:nvSpPr>
            <p:cNvPr name="Freeform 11" id="11"/>
            <p:cNvSpPr/>
            <p:nvPr/>
          </p:nvSpPr>
          <p:spPr>
            <a:xfrm flipH="false" flipV="false" rot="0">
              <a:off x="0" y="0"/>
              <a:ext cx="1924718" cy="880133"/>
            </a:xfrm>
            <a:custGeom>
              <a:avLst/>
              <a:gdLst/>
              <a:ahLst/>
              <a:cxnLst/>
              <a:rect r="r" b="b" t="t" l="l"/>
              <a:pathLst>
                <a:path h="880133" w="1924718">
                  <a:moveTo>
                    <a:pt x="44550" y="0"/>
                  </a:moveTo>
                  <a:lnTo>
                    <a:pt x="1880168" y="0"/>
                  </a:lnTo>
                  <a:cubicBezTo>
                    <a:pt x="1891983" y="0"/>
                    <a:pt x="1903315" y="4694"/>
                    <a:pt x="1911670" y="13048"/>
                  </a:cubicBezTo>
                  <a:cubicBezTo>
                    <a:pt x="1920024" y="21403"/>
                    <a:pt x="1924718" y="32734"/>
                    <a:pt x="1924718" y="44550"/>
                  </a:cubicBezTo>
                  <a:lnTo>
                    <a:pt x="1924718" y="835583"/>
                  </a:lnTo>
                  <a:cubicBezTo>
                    <a:pt x="1924718" y="860187"/>
                    <a:pt x="1904772" y="880133"/>
                    <a:pt x="1880168" y="880133"/>
                  </a:cubicBezTo>
                  <a:lnTo>
                    <a:pt x="44550" y="880133"/>
                  </a:lnTo>
                  <a:cubicBezTo>
                    <a:pt x="32734" y="880133"/>
                    <a:pt x="21403" y="875439"/>
                    <a:pt x="13048" y="867084"/>
                  </a:cubicBezTo>
                  <a:cubicBezTo>
                    <a:pt x="4694" y="858730"/>
                    <a:pt x="0" y="847398"/>
                    <a:pt x="0" y="835583"/>
                  </a:cubicBezTo>
                  <a:lnTo>
                    <a:pt x="0" y="44550"/>
                  </a:lnTo>
                  <a:cubicBezTo>
                    <a:pt x="0" y="32734"/>
                    <a:pt x="4694" y="21403"/>
                    <a:pt x="13048" y="13048"/>
                  </a:cubicBezTo>
                  <a:cubicBezTo>
                    <a:pt x="21403" y="4694"/>
                    <a:pt x="32734" y="0"/>
                    <a:pt x="44550" y="0"/>
                  </a:cubicBezTo>
                  <a:close/>
                </a:path>
              </a:pathLst>
            </a:custGeom>
            <a:solidFill>
              <a:srgbClr val="FE7FD0"/>
            </a:solidFill>
            <a:ln w="28575" cap="rnd">
              <a:solidFill>
                <a:srgbClr val="000000"/>
              </a:solidFill>
              <a:prstDash val="solid"/>
              <a:round/>
            </a:ln>
          </p:spPr>
        </p:sp>
        <p:sp>
          <p:nvSpPr>
            <p:cNvPr name="TextBox 12" id="12"/>
            <p:cNvSpPr txBox="true"/>
            <p:nvPr/>
          </p:nvSpPr>
          <p:spPr>
            <a:xfrm>
              <a:off x="0" y="-104775"/>
              <a:ext cx="1924718" cy="984908"/>
            </a:xfrm>
            <a:prstGeom prst="rect">
              <a:avLst/>
            </a:prstGeom>
          </p:spPr>
          <p:txBody>
            <a:bodyPr anchor="ctr" rtlCol="false" tIns="50800" lIns="50800" bIns="50800" rIns="50800"/>
            <a:lstStyle/>
            <a:p>
              <a:pPr algn="ctr">
                <a:lnSpc>
                  <a:spcPts val="2906"/>
                </a:lnSpc>
              </a:pPr>
            </a:p>
          </p:txBody>
        </p:sp>
      </p:grpSp>
      <p:sp>
        <p:nvSpPr>
          <p:cNvPr name="Freeform 13" id="13"/>
          <p:cNvSpPr/>
          <p:nvPr/>
        </p:nvSpPr>
        <p:spPr>
          <a:xfrm flipH="false" flipV="false" rot="0">
            <a:off x="10711258" y="5210647"/>
            <a:ext cx="471373" cy="471373"/>
          </a:xfrm>
          <a:custGeom>
            <a:avLst/>
            <a:gdLst/>
            <a:ahLst/>
            <a:cxnLst/>
            <a:rect r="r" b="b" t="t" l="l"/>
            <a:pathLst>
              <a:path h="471373" w="471373">
                <a:moveTo>
                  <a:pt x="0" y="0"/>
                </a:moveTo>
                <a:lnTo>
                  <a:pt x="471374" y="0"/>
                </a:lnTo>
                <a:lnTo>
                  <a:pt x="471374" y="471374"/>
                </a:lnTo>
                <a:lnTo>
                  <a:pt x="0" y="4713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9020202" y="2614302"/>
            <a:ext cx="8862513" cy="4052794"/>
            <a:chOff x="0" y="0"/>
            <a:chExt cx="1924644" cy="880133"/>
          </a:xfrm>
        </p:grpSpPr>
        <p:sp>
          <p:nvSpPr>
            <p:cNvPr name="Freeform 15" id="15"/>
            <p:cNvSpPr/>
            <p:nvPr/>
          </p:nvSpPr>
          <p:spPr>
            <a:xfrm flipH="false" flipV="false" rot="0">
              <a:off x="0" y="0"/>
              <a:ext cx="1924644" cy="880133"/>
            </a:xfrm>
            <a:custGeom>
              <a:avLst/>
              <a:gdLst/>
              <a:ahLst/>
              <a:cxnLst/>
              <a:rect r="r" b="b" t="t" l="l"/>
              <a:pathLst>
                <a:path h="880133" w="1924644">
                  <a:moveTo>
                    <a:pt x="44551" y="0"/>
                  </a:moveTo>
                  <a:lnTo>
                    <a:pt x="1880093" y="0"/>
                  </a:lnTo>
                  <a:cubicBezTo>
                    <a:pt x="1904698" y="0"/>
                    <a:pt x="1924644" y="19946"/>
                    <a:pt x="1924644" y="44551"/>
                  </a:cubicBezTo>
                  <a:lnTo>
                    <a:pt x="1924644" y="835581"/>
                  </a:lnTo>
                  <a:cubicBezTo>
                    <a:pt x="1924644" y="860186"/>
                    <a:pt x="1904698" y="880133"/>
                    <a:pt x="1880093" y="880133"/>
                  </a:cubicBezTo>
                  <a:lnTo>
                    <a:pt x="44551" y="880133"/>
                  </a:lnTo>
                  <a:cubicBezTo>
                    <a:pt x="19946" y="880133"/>
                    <a:pt x="0" y="860186"/>
                    <a:pt x="0" y="835581"/>
                  </a:cubicBezTo>
                  <a:lnTo>
                    <a:pt x="0" y="44551"/>
                  </a:lnTo>
                  <a:cubicBezTo>
                    <a:pt x="0" y="19946"/>
                    <a:pt x="19946" y="0"/>
                    <a:pt x="44551" y="0"/>
                  </a:cubicBezTo>
                  <a:close/>
                </a:path>
              </a:pathLst>
            </a:custGeom>
            <a:solidFill>
              <a:srgbClr val="E7BAFA"/>
            </a:solidFill>
            <a:ln w="28575" cap="rnd">
              <a:solidFill>
                <a:srgbClr val="000000"/>
              </a:solidFill>
              <a:prstDash val="solid"/>
              <a:round/>
            </a:ln>
          </p:spPr>
        </p:sp>
        <p:sp>
          <p:nvSpPr>
            <p:cNvPr name="TextBox 16" id="16"/>
            <p:cNvSpPr txBox="true"/>
            <p:nvPr/>
          </p:nvSpPr>
          <p:spPr>
            <a:xfrm>
              <a:off x="0" y="-104775"/>
              <a:ext cx="1924644" cy="984908"/>
            </a:xfrm>
            <a:prstGeom prst="rect">
              <a:avLst/>
            </a:prstGeom>
          </p:spPr>
          <p:txBody>
            <a:bodyPr anchor="ctr" rtlCol="false" tIns="50800" lIns="50800" bIns="50800" rIns="50800"/>
            <a:lstStyle/>
            <a:p>
              <a:pPr algn="ctr">
                <a:lnSpc>
                  <a:spcPts val="2906"/>
                </a:lnSpc>
              </a:pPr>
            </a:p>
          </p:txBody>
        </p:sp>
      </p:grpSp>
      <p:sp>
        <p:nvSpPr>
          <p:cNvPr name="TextBox 17" id="17"/>
          <p:cNvSpPr txBox="true"/>
          <p:nvPr/>
        </p:nvSpPr>
        <p:spPr>
          <a:xfrm rot="0">
            <a:off x="1028700" y="3462773"/>
            <a:ext cx="7726180" cy="2679700"/>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Agrandir"/>
                <a:ea typeface="Agrandir"/>
                <a:cs typeface="Agrandir"/>
                <a:sym typeface="Agrandir"/>
              </a:rPr>
              <a:t>Penelitian ini memodelkan pergerakan harga saham JSMR menggunakan model binomial berbasis data historis. Hasil simulasi menunjukkan bahwa model mampu merepresentasikan kecenderungan umum pergerakan harga saham aktual dalam kerangka waktu diskrit.</a:t>
            </a:r>
          </a:p>
        </p:txBody>
      </p:sp>
      <p:sp>
        <p:nvSpPr>
          <p:cNvPr name="TextBox 18" id="18"/>
          <p:cNvSpPr txBox="true"/>
          <p:nvPr/>
        </p:nvSpPr>
        <p:spPr>
          <a:xfrm rot="0">
            <a:off x="9533120" y="3348473"/>
            <a:ext cx="7955071" cy="3117850"/>
          </a:xfrm>
          <a:prstGeom prst="rect">
            <a:avLst/>
          </a:prstGeom>
        </p:spPr>
        <p:txBody>
          <a:bodyPr anchor="t" rtlCol="false" tIns="0" lIns="0" bIns="0" rIns="0">
            <a:spAutoFit/>
          </a:bodyPr>
          <a:lstStyle/>
          <a:p>
            <a:pPr algn="just">
              <a:lnSpc>
                <a:spcPts val="3499"/>
              </a:lnSpc>
              <a:spcBef>
                <a:spcPct val="0"/>
              </a:spcBef>
            </a:pPr>
            <a:r>
              <a:rPr lang="en-US" sz="2499">
                <a:solidFill>
                  <a:srgbClr val="121212"/>
                </a:solidFill>
                <a:latin typeface="Agrandir"/>
                <a:ea typeface="Agrandir"/>
                <a:cs typeface="Agrandir"/>
                <a:sym typeface="Agrandir"/>
              </a:rPr>
              <a:t>Pendekatan empiris menunjukkan kinerja yang lebih baik dibandingkan metode CRR dengan nilai error yang lebih rendah. Hal ini menunjukkan bahwa pendekatan empiris lebih konsisten dalam mendekati harga saham aktual, meskipun model binomial masih memiliki keterbatasan untuk prediksi jangka pendek yang presisi.</a:t>
            </a:r>
          </a:p>
        </p:txBody>
      </p:sp>
      <p:sp>
        <p:nvSpPr>
          <p:cNvPr name="TextBox 19" id="19"/>
          <p:cNvSpPr txBox="true"/>
          <p:nvPr/>
        </p:nvSpPr>
        <p:spPr>
          <a:xfrm rot="0">
            <a:off x="5042498" y="6731000"/>
            <a:ext cx="7955071" cy="3556000"/>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Agrandir"/>
                <a:ea typeface="Agrandir"/>
                <a:cs typeface="Agrandir"/>
                <a:sym typeface="Agrandir"/>
              </a:rPr>
              <a:t>Pengembangan selanjutnya dapat dilakukan dengan penggunaan parameter yang bersifat dinamis dan penambahan faktor pasar lain agar model lebih adaptif. Penerapan pada saham atau sektor lain juga disarankan untuk menguji konsistensi dan memperluas penggunaan model.</a:t>
            </a:r>
          </a:p>
          <a:p>
            <a:pPr algn="just">
              <a:lnSpc>
                <a:spcPts val="3499"/>
              </a:lnSpc>
              <a:spcBef>
                <a:spcPct val="0"/>
              </a:spcBef>
            </a:pPr>
          </a:p>
          <a:p>
            <a:pPr algn="just">
              <a:lnSpc>
                <a:spcPts val="3499"/>
              </a:lnSpc>
              <a:spcBef>
                <a:spcPct val="0"/>
              </a:spcBef>
            </a:pPr>
          </a:p>
        </p:txBody>
      </p:sp>
      <p:sp>
        <p:nvSpPr>
          <p:cNvPr name="TextBox 20" id="20"/>
          <p:cNvSpPr txBox="true"/>
          <p:nvPr/>
        </p:nvSpPr>
        <p:spPr>
          <a:xfrm rot="0">
            <a:off x="-1088282" y="2783324"/>
            <a:ext cx="12856290" cy="679450"/>
          </a:xfrm>
          <a:prstGeom prst="rect">
            <a:avLst/>
          </a:prstGeom>
        </p:spPr>
        <p:txBody>
          <a:bodyPr anchor="t" rtlCol="false" tIns="0" lIns="0" bIns="0" rIns="0">
            <a:spAutoFit/>
          </a:bodyPr>
          <a:lstStyle/>
          <a:p>
            <a:pPr algn="ctr">
              <a:lnSpc>
                <a:spcPts val="4399"/>
              </a:lnSpc>
            </a:pPr>
            <a:r>
              <a:rPr lang="en-US" b="true" sz="3999">
                <a:solidFill>
                  <a:srgbClr val="FFFFFF"/>
                </a:solidFill>
                <a:latin typeface="Cooper Hewitt Bold"/>
                <a:ea typeface="Cooper Hewitt Bold"/>
                <a:cs typeface="Cooper Hewitt Bold"/>
                <a:sym typeface="Cooper Hewitt Bold"/>
              </a:rPr>
              <a:t>RINGKASAN HASIL</a:t>
            </a:r>
          </a:p>
        </p:txBody>
      </p:sp>
      <p:sp>
        <p:nvSpPr>
          <p:cNvPr name="TextBox 21" id="21"/>
          <p:cNvSpPr txBox="true"/>
          <p:nvPr/>
        </p:nvSpPr>
        <p:spPr>
          <a:xfrm rot="0">
            <a:off x="7057944" y="2783324"/>
            <a:ext cx="12856290" cy="679450"/>
          </a:xfrm>
          <a:prstGeom prst="rect">
            <a:avLst/>
          </a:prstGeom>
        </p:spPr>
        <p:txBody>
          <a:bodyPr anchor="t" rtlCol="false" tIns="0" lIns="0" bIns="0" rIns="0">
            <a:spAutoFit/>
          </a:bodyPr>
          <a:lstStyle/>
          <a:p>
            <a:pPr algn="ctr">
              <a:lnSpc>
                <a:spcPts val="4399"/>
              </a:lnSpc>
            </a:pPr>
            <a:r>
              <a:rPr lang="en-US" b="true" sz="3999">
                <a:solidFill>
                  <a:srgbClr val="FFFFFF"/>
                </a:solidFill>
                <a:latin typeface="Cooper Hewitt Bold"/>
                <a:ea typeface="Cooper Hewitt Bold"/>
                <a:cs typeface="Cooper Hewitt Bold"/>
                <a:sym typeface="Cooper Hewitt Bold"/>
              </a:rPr>
              <a:t>EFEKTIVITAS MODEL</a:t>
            </a:r>
          </a:p>
        </p:txBody>
      </p:sp>
      <p:sp>
        <p:nvSpPr>
          <p:cNvPr name="TextBox 22" id="22"/>
          <p:cNvSpPr txBox="true"/>
          <p:nvPr/>
        </p:nvSpPr>
        <p:spPr>
          <a:xfrm rot="0">
            <a:off x="500612" y="5987646"/>
            <a:ext cx="12856290" cy="679450"/>
          </a:xfrm>
          <a:prstGeom prst="rect">
            <a:avLst/>
          </a:prstGeom>
        </p:spPr>
        <p:txBody>
          <a:bodyPr anchor="t" rtlCol="false" tIns="0" lIns="0" bIns="0" rIns="0">
            <a:spAutoFit/>
          </a:bodyPr>
          <a:lstStyle/>
          <a:p>
            <a:pPr algn="ctr">
              <a:lnSpc>
                <a:spcPts val="4399"/>
              </a:lnSpc>
            </a:pPr>
            <a:r>
              <a:rPr lang="en-US" b="true" sz="3999">
                <a:solidFill>
                  <a:srgbClr val="FFFFFF"/>
                </a:solidFill>
                <a:latin typeface="Cooper Hewitt Bold"/>
                <a:ea typeface="Cooper Hewitt Bold"/>
                <a:cs typeface="Cooper Hewitt Bold"/>
                <a:sym typeface="Cooper Hewitt Bold"/>
              </a:rPr>
              <a:t>REKOMENDASI</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0861743" y="6449573"/>
            <a:ext cx="18393141" cy="7892330"/>
          </a:xfrm>
          <a:custGeom>
            <a:avLst/>
            <a:gdLst/>
            <a:ahLst/>
            <a:cxnLst/>
            <a:rect r="r" b="b" t="t" l="l"/>
            <a:pathLst>
              <a:path h="7892330" w="18393141">
                <a:moveTo>
                  <a:pt x="18393141" y="0"/>
                </a:moveTo>
                <a:lnTo>
                  <a:pt x="0" y="0"/>
                </a:lnTo>
                <a:lnTo>
                  <a:pt x="0" y="7892330"/>
                </a:lnTo>
                <a:lnTo>
                  <a:pt x="18393141" y="7892330"/>
                </a:lnTo>
                <a:lnTo>
                  <a:pt x="183931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03098" y="6449573"/>
            <a:ext cx="18393141" cy="7892330"/>
          </a:xfrm>
          <a:custGeom>
            <a:avLst/>
            <a:gdLst/>
            <a:ahLst/>
            <a:cxnLst/>
            <a:rect r="r" b="b" t="t" l="l"/>
            <a:pathLst>
              <a:path h="7892330" w="18393141">
                <a:moveTo>
                  <a:pt x="0" y="0"/>
                </a:moveTo>
                <a:lnTo>
                  <a:pt x="18393141" y="0"/>
                </a:lnTo>
                <a:lnTo>
                  <a:pt x="18393141" y="7892330"/>
                </a:lnTo>
                <a:lnTo>
                  <a:pt x="0" y="7892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47354" y="7984546"/>
            <a:ext cx="16095614" cy="6906482"/>
          </a:xfrm>
          <a:custGeom>
            <a:avLst/>
            <a:gdLst/>
            <a:ahLst/>
            <a:cxnLst/>
            <a:rect r="r" b="b" t="t" l="l"/>
            <a:pathLst>
              <a:path h="6906482" w="16095614">
                <a:moveTo>
                  <a:pt x="0" y="0"/>
                </a:moveTo>
                <a:lnTo>
                  <a:pt x="16095614" y="0"/>
                </a:lnTo>
                <a:lnTo>
                  <a:pt x="16095614" y="6906482"/>
                </a:lnTo>
                <a:lnTo>
                  <a:pt x="0" y="6906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48499" y="8791200"/>
            <a:ext cx="2793531" cy="909168"/>
          </a:xfrm>
          <a:custGeom>
            <a:avLst/>
            <a:gdLst/>
            <a:ahLst/>
            <a:cxnLst/>
            <a:rect r="r" b="b" t="t" l="l"/>
            <a:pathLst>
              <a:path h="909168" w="2793531">
                <a:moveTo>
                  <a:pt x="0" y="0"/>
                </a:moveTo>
                <a:lnTo>
                  <a:pt x="2793531" y="0"/>
                </a:lnTo>
                <a:lnTo>
                  <a:pt x="2793531" y="909167"/>
                </a:lnTo>
                <a:lnTo>
                  <a:pt x="0" y="9091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742968" y="8791200"/>
            <a:ext cx="2793531" cy="909168"/>
          </a:xfrm>
          <a:custGeom>
            <a:avLst/>
            <a:gdLst/>
            <a:ahLst/>
            <a:cxnLst/>
            <a:rect r="r" b="b" t="t" l="l"/>
            <a:pathLst>
              <a:path h="909168" w="2793531">
                <a:moveTo>
                  <a:pt x="0" y="0"/>
                </a:moveTo>
                <a:lnTo>
                  <a:pt x="2793531" y="0"/>
                </a:lnTo>
                <a:lnTo>
                  <a:pt x="2793531" y="909167"/>
                </a:lnTo>
                <a:lnTo>
                  <a:pt x="0" y="9091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418256" y="2071558"/>
            <a:ext cx="15494469" cy="5134580"/>
          </a:xfrm>
          <a:prstGeom prst="rect">
            <a:avLst/>
          </a:prstGeom>
        </p:spPr>
        <p:txBody>
          <a:bodyPr anchor="t" rtlCol="false" tIns="0" lIns="0" bIns="0" rIns="0">
            <a:spAutoFit/>
          </a:bodyPr>
          <a:lstStyle/>
          <a:p>
            <a:pPr algn="ctr">
              <a:lnSpc>
                <a:spcPts val="18202"/>
              </a:lnSpc>
            </a:pPr>
            <a:r>
              <a:rPr lang="en-US" b="true" sz="16547">
                <a:solidFill>
                  <a:srgbClr val="FFFFFF"/>
                </a:solidFill>
                <a:latin typeface="Cooper Hewitt Bold"/>
                <a:ea typeface="Cooper Hewitt Bold"/>
                <a:cs typeface="Cooper Hewitt Bold"/>
                <a:sym typeface="Cooper Hewitt Bold"/>
              </a:rPr>
              <a:t>SESI </a:t>
            </a:r>
          </a:p>
          <a:p>
            <a:pPr algn="ctr">
              <a:lnSpc>
                <a:spcPts val="18202"/>
              </a:lnSpc>
            </a:pPr>
            <a:r>
              <a:rPr lang="en-US" b="true" sz="16547">
                <a:solidFill>
                  <a:srgbClr val="FFFFFF"/>
                </a:solidFill>
                <a:latin typeface="Cooper Hewitt Bold"/>
                <a:ea typeface="Cooper Hewitt Bold"/>
                <a:cs typeface="Cooper Hewitt Bold"/>
                <a:sym typeface="Cooper Hewitt Bold"/>
              </a:rPr>
              <a:t>DISKUSI</a:t>
            </a:r>
          </a:p>
        </p:txBody>
      </p:sp>
      <p:sp>
        <p:nvSpPr>
          <p:cNvPr name="Freeform 8" id="8"/>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6869744" y="3115218"/>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652961" y="3115218"/>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10"/>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31098">
                <a:alpha val="100000"/>
              </a:srgbClr>
            </a:gs>
            <a:gs pos="50000">
              <a:srgbClr val="331098">
                <a:alpha val="100000"/>
              </a:srgbClr>
            </a:gs>
            <a:gs pos="100000">
              <a:srgbClr val="8111B1">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true" flipV="false" rot="0">
            <a:off x="10861743" y="6449573"/>
            <a:ext cx="18393141" cy="7892330"/>
          </a:xfrm>
          <a:custGeom>
            <a:avLst/>
            <a:gdLst/>
            <a:ahLst/>
            <a:cxnLst/>
            <a:rect r="r" b="b" t="t" l="l"/>
            <a:pathLst>
              <a:path h="7892330" w="18393141">
                <a:moveTo>
                  <a:pt x="18393141" y="0"/>
                </a:moveTo>
                <a:lnTo>
                  <a:pt x="0" y="0"/>
                </a:lnTo>
                <a:lnTo>
                  <a:pt x="0" y="7892330"/>
                </a:lnTo>
                <a:lnTo>
                  <a:pt x="18393141" y="7892330"/>
                </a:lnTo>
                <a:lnTo>
                  <a:pt x="1839314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03098" y="6449573"/>
            <a:ext cx="18393141" cy="7892330"/>
          </a:xfrm>
          <a:custGeom>
            <a:avLst/>
            <a:gdLst/>
            <a:ahLst/>
            <a:cxnLst/>
            <a:rect r="r" b="b" t="t" l="l"/>
            <a:pathLst>
              <a:path h="7892330" w="18393141">
                <a:moveTo>
                  <a:pt x="0" y="0"/>
                </a:moveTo>
                <a:lnTo>
                  <a:pt x="18393141" y="0"/>
                </a:lnTo>
                <a:lnTo>
                  <a:pt x="18393141" y="7892330"/>
                </a:lnTo>
                <a:lnTo>
                  <a:pt x="0" y="7892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47354" y="7984546"/>
            <a:ext cx="16095614" cy="6906482"/>
          </a:xfrm>
          <a:custGeom>
            <a:avLst/>
            <a:gdLst/>
            <a:ahLst/>
            <a:cxnLst/>
            <a:rect r="r" b="b" t="t" l="l"/>
            <a:pathLst>
              <a:path h="6906482" w="16095614">
                <a:moveTo>
                  <a:pt x="0" y="0"/>
                </a:moveTo>
                <a:lnTo>
                  <a:pt x="16095614" y="0"/>
                </a:lnTo>
                <a:lnTo>
                  <a:pt x="16095614" y="6906482"/>
                </a:lnTo>
                <a:lnTo>
                  <a:pt x="0" y="6906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48499" y="8791200"/>
            <a:ext cx="2793531" cy="909168"/>
          </a:xfrm>
          <a:custGeom>
            <a:avLst/>
            <a:gdLst/>
            <a:ahLst/>
            <a:cxnLst/>
            <a:rect r="r" b="b" t="t" l="l"/>
            <a:pathLst>
              <a:path h="909168" w="2793531">
                <a:moveTo>
                  <a:pt x="0" y="0"/>
                </a:moveTo>
                <a:lnTo>
                  <a:pt x="2793531" y="0"/>
                </a:lnTo>
                <a:lnTo>
                  <a:pt x="2793531" y="909167"/>
                </a:lnTo>
                <a:lnTo>
                  <a:pt x="0" y="9091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742968" y="8791200"/>
            <a:ext cx="2793531" cy="909168"/>
          </a:xfrm>
          <a:custGeom>
            <a:avLst/>
            <a:gdLst/>
            <a:ahLst/>
            <a:cxnLst/>
            <a:rect r="r" b="b" t="t" l="l"/>
            <a:pathLst>
              <a:path h="909168" w="2793531">
                <a:moveTo>
                  <a:pt x="0" y="0"/>
                </a:moveTo>
                <a:lnTo>
                  <a:pt x="2793531" y="0"/>
                </a:lnTo>
                <a:lnTo>
                  <a:pt x="2793531" y="909167"/>
                </a:lnTo>
                <a:lnTo>
                  <a:pt x="0" y="9091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1396766" y="3000918"/>
            <a:ext cx="15494469" cy="2829530"/>
          </a:xfrm>
          <a:prstGeom prst="rect">
            <a:avLst/>
          </a:prstGeom>
        </p:spPr>
        <p:txBody>
          <a:bodyPr anchor="t" rtlCol="false" tIns="0" lIns="0" bIns="0" rIns="0">
            <a:spAutoFit/>
          </a:bodyPr>
          <a:lstStyle/>
          <a:p>
            <a:pPr algn="ctr">
              <a:lnSpc>
                <a:spcPts val="18202"/>
              </a:lnSpc>
            </a:pPr>
            <a:r>
              <a:rPr lang="en-US" b="true" sz="16547">
                <a:solidFill>
                  <a:srgbClr val="FFFFFF"/>
                </a:solidFill>
                <a:latin typeface="Cooper Hewitt Bold"/>
                <a:ea typeface="Cooper Hewitt Bold"/>
                <a:cs typeface="Cooper Hewitt Bold"/>
                <a:sym typeface="Cooper Hewitt Bold"/>
              </a:rPr>
              <a:t>TERIMA KASIH</a:t>
            </a:r>
          </a:p>
        </p:txBody>
      </p:sp>
      <p:grpSp>
        <p:nvGrpSpPr>
          <p:cNvPr name="Group 8" id="8"/>
          <p:cNvGrpSpPr/>
          <p:nvPr/>
        </p:nvGrpSpPr>
        <p:grpSpPr>
          <a:xfrm rot="0">
            <a:off x="3872909" y="5848684"/>
            <a:ext cx="10542183" cy="840463"/>
            <a:chOff x="0" y="0"/>
            <a:chExt cx="2897031" cy="230962"/>
          </a:xfrm>
        </p:grpSpPr>
        <p:sp>
          <p:nvSpPr>
            <p:cNvPr name="Freeform 9" id="9"/>
            <p:cNvSpPr/>
            <p:nvPr/>
          </p:nvSpPr>
          <p:spPr>
            <a:xfrm flipH="false" flipV="false" rot="0">
              <a:off x="0" y="0"/>
              <a:ext cx="2897031" cy="230962"/>
            </a:xfrm>
            <a:custGeom>
              <a:avLst/>
              <a:gdLst/>
              <a:ahLst/>
              <a:cxnLst/>
              <a:rect r="r" b="b" t="t" l="l"/>
              <a:pathLst>
                <a:path h="230962" w="2897031">
                  <a:moveTo>
                    <a:pt x="36719" y="0"/>
                  </a:moveTo>
                  <a:lnTo>
                    <a:pt x="2860312" y="0"/>
                  </a:lnTo>
                  <a:cubicBezTo>
                    <a:pt x="2870051" y="0"/>
                    <a:pt x="2879390" y="3869"/>
                    <a:pt x="2886277" y="10755"/>
                  </a:cubicBezTo>
                  <a:cubicBezTo>
                    <a:pt x="2893163" y="17641"/>
                    <a:pt x="2897031" y="26980"/>
                    <a:pt x="2897031" y="36719"/>
                  </a:cubicBezTo>
                  <a:lnTo>
                    <a:pt x="2897031" y="194244"/>
                  </a:lnTo>
                  <a:cubicBezTo>
                    <a:pt x="2897031" y="214523"/>
                    <a:pt x="2880592" y="230962"/>
                    <a:pt x="2860312" y="230962"/>
                  </a:cubicBezTo>
                  <a:lnTo>
                    <a:pt x="36719" y="230962"/>
                  </a:lnTo>
                  <a:cubicBezTo>
                    <a:pt x="16440" y="230962"/>
                    <a:pt x="0" y="214523"/>
                    <a:pt x="0" y="194244"/>
                  </a:cubicBezTo>
                  <a:lnTo>
                    <a:pt x="0" y="36719"/>
                  </a:lnTo>
                  <a:cubicBezTo>
                    <a:pt x="0" y="16440"/>
                    <a:pt x="16440" y="0"/>
                    <a:pt x="36719" y="0"/>
                  </a:cubicBezTo>
                  <a:close/>
                </a:path>
              </a:pathLst>
            </a:custGeom>
            <a:solidFill>
              <a:srgbClr val="E7BAFA"/>
            </a:solidFill>
          </p:spPr>
        </p:sp>
        <p:sp>
          <p:nvSpPr>
            <p:cNvPr name="TextBox 10" id="10"/>
            <p:cNvSpPr txBox="true"/>
            <p:nvPr/>
          </p:nvSpPr>
          <p:spPr>
            <a:xfrm>
              <a:off x="0" y="-28575"/>
              <a:ext cx="2897031" cy="259537"/>
            </a:xfrm>
            <a:prstGeom prst="rect">
              <a:avLst/>
            </a:prstGeom>
          </p:spPr>
          <p:txBody>
            <a:bodyPr anchor="ctr" rtlCol="false" tIns="50800" lIns="50800" bIns="50800" rIns="50800"/>
            <a:lstStyle/>
            <a:p>
              <a:pPr algn="ctr">
                <a:lnSpc>
                  <a:spcPts val="2240"/>
                </a:lnSpc>
              </a:pPr>
            </a:p>
          </p:txBody>
        </p:sp>
      </p:grpSp>
      <p:sp>
        <p:nvSpPr>
          <p:cNvPr name="TextBox 11" id="11"/>
          <p:cNvSpPr txBox="true"/>
          <p:nvPr/>
        </p:nvSpPr>
        <p:spPr>
          <a:xfrm rot="0">
            <a:off x="3688595" y="5913160"/>
            <a:ext cx="10910810" cy="644836"/>
          </a:xfrm>
          <a:prstGeom prst="rect">
            <a:avLst/>
          </a:prstGeom>
        </p:spPr>
        <p:txBody>
          <a:bodyPr anchor="t" rtlCol="false" tIns="0" lIns="0" bIns="0" rIns="0">
            <a:spAutoFit/>
          </a:bodyPr>
          <a:lstStyle/>
          <a:p>
            <a:pPr algn="ctr">
              <a:lnSpc>
                <a:spcPts val="5367"/>
              </a:lnSpc>
              <a:spcBef>
                <a:spcPct val="0"/>
              </a:spcBef>
            </a:pPr>
            <a:r>
              <a:rPr lang="en-US" sz="3833">
                <a:solidFill>
                  <a:srgbClr val="2F153B"/>
                </a:solidFill>
                <a:latin typeface="DM Sans"/>
                <a:ea typeface="DM Sans"/>
                <a:cs typeface="DM Sans"/>
                <a:sym typeface="DM Sans"/>
              </a:rPr>
              <a:t>Kepada semuanya yang telah menyimak :)</a:t>
            </a:r>
          </a:p>
        </p:txBody>
      </p:sp>
      <p:sp>
        <p:nvSpPr>
          <p:cNvPr name="Freeform 12" id="12"/>
          <p:cNvSpPr/>
          <p:nvPr/>
        </p:nvSpPr>
        <p:spPr>
          <a:xfrm flipH="true" flipV="true" rot="0">
            <a:off x="15331333" y="-937781"/>
            <a:ext cx="9165801" cy="3932962"/>
          </a:xfrm>
          <a:custGeom>
            <a:avLst/>
            <a:gdLst/>
            <a:ahLst/>
            <a:cxnLst/>
            <a:rect r="r" b="b" t="t" l="l"/>
            <a:pathLst>
              <a:path h="3932962" w="9165801">
                <a:moveTo>
                  <a:pt x="9165802" y="3932962"/>
                </a:moveTo>
                <a:lnTo>
                  <a:pt x="0" y="3932962"/>
                </a:lnTo>
                <a:lnTo>
                  <a:pt x="0" y="0"/>
                </a:lnTo>
                <a:lnTo>
                  <a:pt x="9165802" y="0"/>
                </a:lnTo>
                <a:lnTo>
                  <a:pt x="9165802" y="39329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true" rot="0">
            <a:off x="-6209135" y="-937781"/>
            <a:ext cx="9165801" cy="3932962"/>
          </a:xfrm>
          <a:custGeom>
            <a:avLst/>
            <a:gdLst/>
            <a:ahLst/>
            <a:cxnLst/>
            <a:rect r="r" b="b" t="t" l="l"/>
            <a:pathLst>
              <a:path h="3932962" w="9165801">
                <a:moveTo>
                  <a:pt x="0" y="3932962"/>
                </a:moveTo>
                <a:lnTo>
                  <a:pt x="9165802" y="3932962"/>
                </a:lnTo>
                <a:lnTo>
                  <a:pt x="9165802" y="0"/>
                </a:lnTo>
                <a:lnTo>
                  <a:pt x="0" y="0"/>
                </a:lnTo>
                <a:lnTo>
                  <a:pt x="0" y="393296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869744" y="3115218"/>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652961" y="3115218"/>
            <a:ext cx="3071217" cy="1680793"/>
          </a:xfrm>
          <a:custGeom>
            <a:avLst/>
            <a:gdLst/>
            <a:ahLst/>
            <a:cxnLst/>
            <a:rect r="r" b="b" t="t" l="l"/>
            <a:pathLst>
              <a:path h="1680793" w="3071217">
                <a:moveTo>
                  <a:pt x="0" y="0"/>
                </a:moveTo>
                <a:lnTo>
                  <a:pt x="3071217" y="0"/>
                </a:lnTo>
                <a:lnTo>
                  <a:pt x="3071217" y="1680793"/>
                </a:lnTo>
                <a:lnTo>
                  <a:pt x="0" y="16807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66444" y="150316"/>
            <a:ext cx="668336" cy="878384"/>
          </a:xfrm>
          <a:custGeom>
            <a:avLst/>
            <a:gdLst/>
            <a:ahLst/>
            <a:cxnLst/>
            <a:rect r="r" b="b" t="t" l="l"/>
            <a:pathLst>
              <a:path h="878384" w="668336">
                <a:moveTo>
                  <a:pt x="0" y="0"/>
                </a:moveTo>
                <a:lnTo>
                  <a:pt x="668336" y="0"/>
                </a:lnTo>
                <a:lnTo>
                  <a:pt x="668336" y="878384"/>
                </a:lnTo>
                <a:lnTo>
                  <a:pt x="0" y="878384"/>
                </a:lnTo>
                <a:lnTo>
                  <a:pt x="0" y="0"/>
                </a:lnTo>
                <a:close/>
              </a:path>
            </a:pathLst>
          </a:custGeom>
          <a:blipFill>
            <a:blip r:embed="rId10"/>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DAG8KI9dQJg</dc:identifier>
  <dcterms:modified xsi:type="dcterms:W3CDTF">2011-08-01T06:04:30Z</dcterms:modified>
  <cp:revision>1</cp:revision>
  <dc:title>ppt-simulasi-pergerakan-harga-saham-jsmr-dengan-model-binomial-dalam-bidang-infrastruktur-dan-teknologi</dc:title>
</cp:coreProperties>
</file>